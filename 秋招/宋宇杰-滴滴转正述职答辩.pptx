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8" r:id="rId5"/>
    <p:sldId id="269" r:id="rId6"/>
    <p:sldId id="270" r:id="rId7"/>
    <p:sldId id="272" r:id="rId8"/>
    <p:sldId id="274" r:id="rId9"/>
    <p:sldId id="275" r:id="rId10"/>
    <p:sldId id="276" r:id="rId11"/>
    <p:sldId id="278" r:id="rId12"/>
    <p:sldId id="277" r:id="rId13"/>
    <p:sldId id="279" r:id="rId14"/>
    <p:sldId id="280" r:id="rId15"/>
    <p:sldId id="28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9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F42"/>
    <a:srgbClr val="FFF0E8"/>
    <a:srgbClr val="F5AE3F"/>
    <a:srgbClr val="F6A5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56"/>
    <p:restoredTop sz="94656"/>
  </p:normalViewPr>
  <p:slideViewPr>
    <p:cSldViewPr snapToGrid="0">
      <p:cViewPr>
        <p:scale>
          <a:sx n="113" d="100"/>
          <a:sy n="113" d="100"/>
        </p:scale>
        <p:origin x="704" y="104"/>
      </p:cViewPr>
      <p:guideLst>
        <p:guide pos="3840"/>
        <p:guide pos="39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215BF2-D6E9-5A44-A4ED-260CD983C157}" type="datetimeFigureOut">
              <a:rPr kumimoji="1" lang="zh-CN" altLang="en-US" smtClean="0"/>
              <a:t>2026/8/28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BCE6ED-58E6-6940-9035-8C73A2F8B49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327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CE6ED-58E6-6940-9035-8C73A2F8B49E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0051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CE6ED-58E6-6940-9035-8C73A2F8B49E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7970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AC04D-585B-9FE1-DF63-A836D6FEA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209E4C-A3DB-CAA5-9250-1EF47684F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747437-E650-6252-C62F-091E3BB51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581725-38D0-9FC2-29C0-F646179673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CE6ED-58E6-6940-9035-8C73A2F8B49E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3928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228E9-484C-753A-2901-E1DFD8318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643906-30B3-75C1-4C2F-CB019245A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059B28-6F97-7EAB-5BB6-954AACDCE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22C303-7107-B344-8EE7-E24918BB5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CE6ED-58E6-6940-9035-8C73A2F8B49E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7057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F980F-CAF9-9DAC-B455-E28259A1B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F25E7D-8459-66F2-7E5C-9F8A3AB92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9DABCC-2188-497E-9B36-A78470B98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2F50C7-808F-F37F-D239-7C205F890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CE6ED-58E6-6940-9035-8C73A2F8B49E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4495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B6883-F617-3353-5AF9-23726CE1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718E75-D288-E88E-43E9-2A820F973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76EB59-F255-80D2-BEE0-2A7559C56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61B8D1-9C8C-6D57-B44C-67CA45560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CE6ED-58E6-6940-9035-8C73A2F8B49E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5148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3E3D9-160F-B91A-CDDC-FC870E61D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24B5F1-EF9A-50E2-800F-8CCA9B5F0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5A197B-E845-9023-8817-1F129C0C3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232101-6571-0646-6842-745A3F475C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CE6ED-58E6-6940-9035-8C73A2F8B49E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2602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507F3-71FC-8509-88E6-90C02B34F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1673F3-0186-8688-118B-CD519115C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2488A9-B507-48DD-4DE2-76A4B9B8E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D276B1-F3EA-8C2F-4795-1F4F239F9C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CE6ED-58E6-6940-9035-8C73A2F8B49E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7777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90344-3C5D-2DF4-C46C-709698A2B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83144C-EC29-746A-2AB1-9A9F16D8D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204537-D645-0E64-6A7B-C1FA8E74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BD117-9FBE-CA4A-A1D1-B17516ED0D65}" type="datetime1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E360DC-36F0-2D7F-BAD2-D09098308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DD309D-EFCB-4A64-8D04-93DE4719B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19061" y="6504181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A4D6745-9EBB-A044-B42C-0E6AD00F43E4}" type="slidenum">
              <a:rPr kumimoji="1" lang="zh-CN" altLang="en-US" sz="1600" b="1" smtClean="0"/>
              <a:pPr/>
              <a:t>‹#›</a:t>
            </a:fld>
            <a:r>
              <a:rPr kumimoji="1" lang="zh-CN" altLang="en-US" sz="1400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15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6887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674FE2-A429-51DD-B6D1-36DBD47B3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DB1701-9157-4FB2-ABEC-232876B53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240323-89DA-A3A3-1A71-F0C55E753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83E2-0F72-304E-B552-D96776842D3F}" type="datetime1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CD0BE1-AE25-4950-2C71-5B6882AE1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A86400-9F2E-A788-ECBC-F7F196B4F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D6745-9EBB-A044-B42C-0E6AD00F43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3509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2B1A2A-D3D9-B5F4-AD7D-127A7B7C1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C5272C-0A15-D7CF-7156-636070287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0F06F2-F27B-DE0E-45E6-7D27C709F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05C74-1477-0447-87C2-08869EFF3DB9}" type="datetime1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92647F-7A3F-6AF1-A4A9-93EE93F01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F2F591-A4C5-02A9-898F-FEB391CB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D6745-9EBB-A044-B42C-0E6AD00F43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5030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78990E-3AE9-7AC4-9987-6FBB15460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6E3CEB-2FFA-649C-3A82-7D83584753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231B14-152D-EDFB-2811-D4B5A1537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13A0E3-7C64-FCB3-741E-9039127DC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54A97-D69F-3C4E-8D5F-8A1AAFA4A0C8}" type="datetime1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18D260-8B4E-9C8C-C1D8-0F632E040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C43D0A-2CB8-00F1-4E00-6502F8A7E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D6745-9EBB-A044-B42C-0E6AD00F43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5784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3BADEC-BADB-F051-6744-8992BEA14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B068F7-7AFF-685C-FE19-D54A1ACD5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BD9FD5-2C9F-D790-9598-2F86528E6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A0B9B09-9DE0-F6CE-E01F-EBB8557336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43DACAE-45CC-3915-DC5B-0C1A05567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8B5ABB-0B3F-99ED-D1DA-7B02B99BB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5BF79-4545-834D-A1EE-B8892C72722C}" type="datetime1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EC71A2F-AC21-1E71-31DD-31597CC29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4295ED4-619E-B8BD-6778-94AEAFD1C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D6745-9EBB-A044-B42C-0E6AD00F43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270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26455-7F28-0A3F-2464-1F97F444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6D012CA-05CF-DE67-1352-E46FC0818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EDB1-9256-2247-9363-BD86ECB7A35D}" type="datetime1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DA73C2-2B47-BA19-C3AE-CF0812E02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72C849-9735-D8CD-BFA6-D8F295B94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D6745-9EBB-A044-B42C-0E6AD00F43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0680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24BC31-6A76-0CF5-05B7-0E89FC879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59E08-7AF4-364C-A297-3CD0B9BC8BD4}" type="datetime1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EB4914A-2009-7578-780A-AE3714AD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C7535B-5E1E-E2BA-6EE9-452B43DA8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D6745-9EBB-A044-B42C-0E6AD00F43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6875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CCF0B4-0FA6-905E-169F-D4600F2D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361E83-67AE-0282-B7E8-709045AE8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5FCECD-0CC8-9805-034E-B97849AFB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4B55E0-1947-FB8E-1555-0C5465860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5A027-2A1F-CF46-B635-70F122B2A028}" type="datetime1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C2E85E-0606-6A34-3748-FC9302C91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AF1B76-F9FC-00FB-EE06-D0696BEE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D6745-9EBB-A044-B42C-0E6AD00F43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804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9E7E5-F756-A6DE-6B0F-F360C0583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C619710-5277-D452-29AD-D7037E0E0A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604A67-B82F-4771-5747-D86DD2CAB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E5FC79-8F90-9CE8-A510-582ED8474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B1B8-E878-B845-B178-ADA901E4E5FD}" type="datetime1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99F642-872B-2465-8884-8BBA892C2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241B0C-3A3A-03A6-CA59-EE687F78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D6745-9EBB-A044-B42C-0E6AD00F43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6236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0DF2A-590E-169D-F5A5-3FFFD96C4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259EEC-AE6F-CD0A-3F0E-F1A7E3F15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21E2FB-C25B-3497-5F78-6B23D28CC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A626-8C55-6843-B484-EBB3FC58BCA1}" type="datetime1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954102-237C-13D5-0899-574C30097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1419E4-9609-9DFE-0AA8-F887B4A7A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D6745-9EBB-A044-B42C-0E6AD00F43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04266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FF16B37-EBF5-979D-42D6-9625DB8579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C5416A-C75E-9104-1562-04457BA87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C95B58-B62F-7D52-2AEF-1E73FADC4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718C9-2BBE-6E4E-9D3F-68ED1F328B00}" type="datetime1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334D01-5837-E640-D1F2-8C0792F21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6E1B59-BEE6-3595-E8CE-7F0DDD674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D6745-9EBB-A044-B42C-0E6AD00F43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3141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AC55109-0543-4DBE-539C-833A2F71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563DDD-D8BA-C423-3574-F5A57D884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00EBC6-E103-70F9-67F0-AF7CAC4D2D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C4872-F046-AA4B-BD10-DA738C4C7FA5}" type="datetime1">
              <a:rPr kumimoji="1" lang="zh-CN" altLang="en-US" smtClean="0"/>
              <a:t>2026/8/31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3C29D-BC22-FB6A-99FD-D72E6B079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C28000-61D5-8152-34CC-6C6F5A8AD9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D6745-9EBB-A044-B42C-0E6AD00F43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669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video" Target="../media/media1.mp4"/><Relationship Id="rId7" Type="http://schemas.openxmlformats.org/officeDocument/2006/relationships/image" Target="../media/image5.png"/><Relationship Id="rId2" Type="http://schemas.microsoft.com/office/2007/relationships/media" Target="../media/media1.mp4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4753F69-E940-4CF5-B69D-C2275C40BA01}"/>
              </a:ext>
            </a:extLst>
          </p:cNvPr>
          <p:cNvPicPr>
            <a:picLocks/>
          </p:cNvPicPr>
          <p:nvPr/>
        </p:nvPicPr>
        <p:blipFill>
          <a:blip r:embed="rId2"/>
          <a:srcRect t="46445" r="13259" b="16890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73651F5-A3AE-7E21-03EF-FFA1D491B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463462"/>
              </p:ext>
            </p:extLst>
          </p:nvPr>
        </p:nvGraphicFramePr>
        <p:xfrm>
          <a:off x="0" y="0"/>
          <a:ext cx="79248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320">
                  <a:extLst>
                    <a:ext uri="{9D8B030D-6E8A-4147-A177-3AD203B41FA5}">
                      <a16:colId xmlns:a16="http://schemas.microsoft.com/office/drawing/2014/main" val="2134695468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4268985309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964724770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3266032810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291577382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1523304723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2902023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685649018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1559324180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2215466828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384165439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799213464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88764510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1041261165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671009653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7F42">
                            <a:alpha val="94991"/>
                          </a:srgbClr>
                        </a:gs>
                        <a:gs pos="100000">
                          <a:srgbClr val="FF7F42"/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89000"/>
                          </a:srgbClr>
                        </a:gs>
                        <a:gs pos="100000">
                          <a:srgbClr val="FF7F42">
                            <a:alpha val="95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82000"/>
                          </a:srgbClr>
                        </a:gs>
                        <a:gs pos="99000">
                          <a:srgbClr val="FF7F42">
                            <a:alpha val="89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76000"/>
                          </a:srgbClr>
                        </a:gs>
                        <a:gs pos="99000">
                          <a:srgbClr val="FF7F42">
                            <a:alpha val="82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69000"/>
                          </a:srgbClr>
                        </a:gs>
                        <a:gs pos="99000">
                          <a:srgbClr val="FF7F42">
                            <a:alpha val="76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63000"/>
                          </a:srgbClr>
                        </a:gs>
                        <a:gs pos="99000">
                          <a:srgbClr val="FF7F42">
                            <a:alpha val="69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56000"/>
                          </a:srgbClr>
                        </a:gs>
                        <a:gs pos="99000">
                          <a:srgbClr val="FF7F42">
                            <a:alpha val="63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50000"/>
                          </a:srgbClr>
                        </a:gs>
                        <a:gs pos="99000">
                          <a:srgbClr val="FF7F42">
                            <a:alpha val="56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43000"/>
                          </a:srgbClr>
                        </a:gs>
                        <a:gs pos="99000">
                          <a:srgbClr val="FF7F42">
                            <a:alpha val="50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37000"/>
                          </a:srgbClr>
                        </a:gs>
                        <a:gs pos="99000">
                          <a:srgbClr val="FF7F42">
                            <a:alpha val="43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30000"/>
                          </a:srgbClr>
                        </a:gs>
                        <a:gs pos="99000">
                          <a:srgbClr val="FF7F42">
                            <a:alpha val="37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23000"/>
                          </a:srgbClr>
                        </a:gs>
                        <a:gs pos="99000">
                          <a:srgbClr val="FF7F42">
                            <a:alpha val="30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16000"/>
                          </a:srgbClr>
                        </a:gs>
                        <a:gs pos="99000">
                          <a:srgbClr val="FF7F42">
                            <a:alpha val="23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9000"/>
                          </a:srgbClr>
                        </a:gs>
                        <a:gs pos="99000">
                          <a:srgbClr val="FF7F42">
                            <a:alpha val="16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4000"/>
                          </a:srgbClr>
                        </a:gs>
                        <a:gs pos="99000">
                          <a:srgbClr val="FF7F42">
                            <a:alpha val="9000"/>
                          </a:srgbClr>
                        </a:gs>
                      </a:gsLst>
                      <a:lin ang="108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99259836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A3BF7F99-BA5B-7156-34E0-2920EA04BFDB}"/>
              </a:ext>
            </a:extLst>
          </p:cNvPr>
          <p:cNvSpPr txBox="1"/>
          <p:nvPr/>
        </p:nvSpPr>
        <p:spPr>
          <a:xfrm>
            <a:off x="91440" y="1417320"/>
            <a:ext cx="716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秋储实习生转正述职答辩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416133-1642-38A9-DE95-343DCD66C982}"/>
              </a:ext>
            </a:extLst>
          </p:cNvPr>
          <p:cNvSpPr txBox="1"/>
          <p:nvPr/>
        </p:nvSpPr>
        <p:spPr>
          <a:xfrm>
            <a:off x="213360" y="2880807"/>
            <a:ext cx="7040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汇报人：宋宇杰</a:t>
            </a:r>
            <a:endParaRPr kumimoji="1" lang="en-US" altLang="zh-CN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部门：</a:t>
            </a:r>
            <a:r>
              <a:rPr kumimoji="1" lang="zh-CN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Robotaxi &amp; Map / Routing &amp; Pull-over</a:t>
            </a:r>
            <a:endParaRPr kumimoji="1" lang="en-US" altLang="zh-CN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上级：詹书仕</a:t>
            </a:r>
            <a:endParaRPr kumimoji="1" lang="en-US" altLang="zh-CN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导师：王雯玥</a:t>
            </a:r>
            <a:endParaRPr kumimoji="1" lang="en-US" altLang="zh-CN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3959B41-1BDC-77F3-CA2C-146523E566B3}"/>
              </a:ext>
            </a:extLst>
          </p:cNvPr>
          <p:cNvSpPr txBox="1"/>
          <p:nvPr/>
        </p:nvSpPr>
        <p:spPr>
          <a:xfrm>
            <a:off x="213360" y="5082957"/>
            <a:ext cx="3032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</a:t>
            </a:r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kumimoji="1"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kumimoji="1"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endParaRPr kumimoji="1" lang="en-US" altLang="zh-CN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6335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69"/>
    </mc:Choice>
    <mc:Fallback>
      <p:transition spd="slow" advTm="806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7752C-8DB9-4EB7-0485-905F2BD20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1F8E226-9EB0-0289-C91F-E895F27393C5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4FAC9C-A268-7612-1261-85B6CDD97ADF}"/>
              </a:ext>
            </a:extLst>
          </p:cNvPr>
          <p:cNvSpPr/>
          <p:nvPr/>
        </p:nvSpPr>
        <p:spPr>
          <a:xfrm>
            <a:off x="0" y="6027002"/>
            <a:ext cx="12192000" cy="830998"/>
          </a:xfrm>
          <a:prstGeom prst="rect">
            <a:avLst/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50B667-DE38-9F16-8349-254D298A9401}"/>
              </a:ext>
            </a:extLst>
          </p:cNvPr>
          <p:cNvSpPr txBox="1"/>
          <p:nvPr/>
        </p:nvSpPr>
        <p:spPr>
          <a:xfrm>
            <a:off x="4168696" y="1338588"/>
            <a:ext cx="38546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60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1C6A6C-9446-F951-6D8F-5FD5CB785D07}"/>
              </a:ext>
            </a:extLst>
          </p:cNvPr>
          <p:cNvSpPr txBox="1"/>
          <p:nvPr/>
        </p:nvSpPr>
        <p:spPr>
          <a:xfrm>
            <a:off x="1981750" y="2708522"/>
            <a:ext cx="1483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8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kumimoji="1" lang="zh-CN" altLang="en-US" sz="4800" b="1" dirty="0">
              <a:solidFill>
                <a:srgbClr val="FF7F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768ADE5-462B-0543-7EFB-CAAD5B6E61A6}"/>
              </a:ext>
            </a:extLst>
          </p:cNvPr>
          <p:cNvSpPr txBox="1"/>
          <p:nvPr/>
        </p:nvSpPr>
        <p:spPr>
          <a:xfrm>
            <a:off x="3121926" y="2708522"/>
            <a:ext cx="2578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个人简介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97A17A4-85DF-43C8-D955-E36EC72A3245}"/>
              </a:ext>
            </a:extLst>
          </p:cNvPr>
          <p:cNvSpPr txBox="1"/>
          <p:nvPr/>
        </p:nvSpPr>
        <p:spPr>
          <a:xfrm>
            <a:off x="2975171" y="3268778"/>
            <a:ext cx="2578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Personal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Profile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57AD961-3E56-2091-7AD3-3F56605829BB}"/>
              </a:ext>
            </a:extLst>
          </p:cNvPr>
          <p:cNvCxnSpPr>
            <a:cxnSpLocks/>
          </p:cNvCxnSpPr>
          <p:nvPr/>
        </p:nvCxnSpPr>
        <p:spPr>
          <a:xfrm>
            <a:off x="3265260" y="2834575"/>
            <a:ext cx="0" cy="520278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8A2A2227-1302-BC21-BE00-3CD5FC140526}"/>
              </a:ext>
            </a:extLst>
          </p:cNvPr>
          <p:cNvSpPr txBox="1"/>
          <p:nvPr/>
        </p:nvSpPr>
        <p:spPr>
          <a:xfrm>
            <a:off x="6576327" y="2708522"/>
            <a:ext cx="1483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8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kumimoji="1" lang="zh-CN" altLang="en-US" sz="4800" b="1" dirty="0">
              <a:solidFill>
                <a:srgbClr val="FF7F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7B912-9BCE-8AAB-A486-0D9BEEEFF2A2}"/>
              </a:ext>
            </a:extLst>
          </p:cNvPr>
          <p:cNvSpPr txBox="1"/>
          <p:nvPr/>
        </p:nvSpPr>
        <p:spPr>
          <a:xfrm>
            <a:off x="7716503" y="2708522"/>
            <a:ext cx="2578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工作汇报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9D1213C-B11F-0059-530C-68D97F46F384}"/>
              </a:ext>
            </a:extLst>
          </p:cNvPr>
          <p:cNvSpPr txBox="1"/>
          <p:nvPr/>
        </p:nvSpPr>
        <p:spPr>
          <a:xfrm>
            <a:off x="7416389" y="3268778"/>
            <a:ext cx="2578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Work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Report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1998D1A3-7C8B-A59C-A070-4D6405D07B66}"/>
              </a:ext>
            </a:extLst>
          </p:cNvPr>
          <p:cNvCxnSpPr>
            <a:cxnSpLocks/>
          </p:cNvCxnSpPr>
          <p:nvPr/>
        </p:nvCxnSpPr>
        <p:spPr>
          <a:xfrm>
            <a:off x="7859837" y="2834575"/>
            <a:ext cx="0" cy="520278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24D5C9B3-44DD-8421-036F-AEA693DA8FFB}"/>
              </a:ext>
            </a:extLst>
          </p:cNvPr>
          <p:cNvSpPr txBox="1"/>
          <p:nvPr/>
        </p:nvSpPr>
        <p:spPr>
          <a:xfrm>
            <a:off x="1981750" y="3970867"/>
            <a:ext cx="1483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8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kumimoji="1" lang="zh-CN" altLang="en-US" sz="4800" b="1" dirty="0">
              <a:solidFill>
                <a:srgbClr val="FF7F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8754695-8EFB-9F41-76A2-C27EF99D7076}"/>
              </a:ext>
            </a:extLst>
          </p:cNvPr>
          <p:cNvSpPr txBox="1"/>
          <p:nvPr/>
        </p:nvSpPr>
        <p:spPr>
          <a:xfrm>
            <a:off x="3293808" y="3970867"/>
            <a:ext cx="2578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总结与成长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5C04C1F-F72B-BE67-22BF-7ADF7B173F3F}"/>
              </a:ext>
            </a:extLst>
          </p:cNvPr>
          <p:cNvSpPr txBox="1"/>
          <p:nvPr/>
        </p:nvSpPr>
        <p:spPr>
          <a:xfrm>
            <a:off x="3184237" y="4531123"/>
            <a:ext cx="33110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Key Learnings and Reflection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1CEC645C-6E81-1BBB-ED03-BD6C624E93F0}"/>
              </a:ext>
            </a:extLst>
          </p:cNvPr>
          <p:cNvCxnSpPr>
            <a:cxnSpLocks/>
          </p:cNvCxnSpPr>
          <p:nvPr/>
        </p:nvCxnSpPr>
        <p:spPr>
          <a:xfrm>
            <a:off x="3265260" y="4096920"/>
            <a:ext cx="0" cy="520278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2F815085-A373-B0EB-2DB8-45AFFFA708FB}"/>
              </a:ext>
            </a:extLst>
          </p:cNvPr>
          <p:cNvSpPr txBox="1"/>
          <p:nvPr/>
        </p:nvSpPr>
        <p:spPr>
          <a:xfrm>
            <a:off x="6576327" y="3970867"/>
            <a:ext cx="1483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8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kumimoji="1" lang="zh-CN" altLang="en-US" sz="4800" b="1" dirty="0">
              <a:solidFill>
                <a:srgbClr val="FF7F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17D8DAC-03BD-CE9E-AF9F-A7DA3D32C05E}"/>
              </a:ext>
            </a:extLst>
          </p:cNvPr>
          <p:cNvSpPr txBox="1"/>
          <p:nvPr/>
        </p:nvSpPr>
        <p:spPr>
          <a:xfrm>
            <a:off x="7716503" y="3970867"/>
            <a:ext cx="2578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未来规划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DFCFEDD-16D9-AA13-0B8B-2A00C84BECDA}"/>
              </a:ext>
            </a:extLst>
          </p:cNvPr>
          <p:cNvSpPr txBox="1"/>
          <p:nvPr/>
        </p:nvSpPr>
        <p:spPr>
          <a:xfrm>
            <a:off x="7384552" y="4531123"/>
            <a:ext cx="2578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Future Plan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65BEC437-854A-E8B9-95C0-8F7094363F9E}"/>
              </a:ext>
            </a:extLst>
          </p:cNvPr>
          <p:cNvCxnSpPr>
            <a:cxnSpLocks/>
          </p:cNvCxnSpPr>
          <p:nvPr/>
        </p:nvCxnSpPr>
        <p:spPr>
          <a:xfrm>
            <a:off x="7859837" y="4096920"/>
            <a:ext cx="0" cy="520278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82BD50F9-F53D-46F8-4363-76F7A4479F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44"/>
          <a:stretch>
            <a:fillRect/>
          </a:stretch>
        </p:blipFill>
        <p:spPr>
          <a:xfrm>
            <a:off x="160315" y="93820"/>
            <a:ext cx="2180279" cy="692375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53C70325-9158-BE4E-C10F-63B06CD45260}"/>
              </a:ext>
            </a:extLst>
          </p:cNvPr>
          <p:cNvSpPr txBox="1"/>
          <p:nvPr/>
        </p:nvSpPr>
        <p:spPr>
          <a:xfrm>
            <a:off x="3020290" y="6150113"/>
            <a:ext cx="61514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通过科技让出行更安全、更高效</a:t>
            </a:r>
            <a:endParaRPr lang="zh-CN" altLang="en-US" sz="32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2156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754"/>
    </mc:Choice>
    <mc:Fallback>
      <p:transition spd="slow" advTm="775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56F57-4CF4-F2EB-9CA2-B97D702D7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>
            <a:extLst>
              <a:ext uri="{FF2B5EF4-FFF2-40B4-BE49-F238E27FC236}">
                <a16:creationId xmlns:a16="http://schemas.microsoft.com/office/drawing/2014/main" id="{3C6FF091-9490-94E2-8BDE-EC8190F8941C}"/>
              </a:ext>
            </a:extLst>
          </p:cNvPr>
          <p:cNvSpPr/>
          <p:nvPr/>
        </p:nvSpPr>
        <p:spPr>
          <a:xfrm>
            <a:off x="4439408" y="1170727"/>
            <a:ext cx="1873956" cy="39786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39000">
                <a:srgbClr val="FF7F42">
                  <a:alpha val="80000"/>
                </a:srgbClr>
              </a:gs>
              <a:gs pos="73000">
                <a:srgbClr val="FF7F42">
                  <a:alpha val="82979"/>
                </a:srgbClr>
              </a:gs>
              <a:gs pos="100000">
                <a:srgbClr val="FF7F4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0A2E8B-F339-8D08-3D1D-5BFA3AF0A941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003EE2-117C-3B2E-F523-821AE48C93E9}"/>
              </a:ext>
            </a:extLst>
          </p:cNvPr>
          <p:cNvSpPr txBox="1"/>
          <p:nvPr/>
        </p:nvSpPr>
        <p:spPr>
          <a:xfrm>
            <a:off x="335178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个人简介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782664D3-331A-34D7-6DB3-8EFA80005216}"/>
              </a:ext>
            </a:extLst>
          </p:cNvPr>
          <p:cNvCxnSpPr>
            <a:cxnSpLocks/>
          </p:cNvCxnSpPr>
          <p:nvPr/>
        </p:nvCxnSpPr>
        <p:spPr>
          <a:xfrm>
            <a:off x="5285970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A0B03DAB-6450-DD0F-5CE2-932E6472AA6B}"/>
              </a:ext>
            </a:extLst>
          </p:cNvPr>
          <p:cNvSpPr txBox="1"/>
          <p:nvPr/>
        </p:nvSpPr>
        <p:spPr>
          <a:xfrm>
            <a:off x="5462810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工作汇报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7A0A3E94-D543-000C-C537-65E1BA9ED488}"/>
              </a:ext>
            </a:extLst>
          </p:cNvPr>
          <p:cNvCxnSpPr>
            <a:cxnSpLocks/>
          </p:cNvCxnSpPr>
          <p:nvPr/>
        </p:nvCxnSpPr>
        <p:spPr>
          <a:xfrm>
            <a:off x="739699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AC860F96-79BC-3CAE-B297-D82617125A5B}"/>
              </a:ext>
            </a:extLst>
          </p:cNvPr>
          <p:cNvSpPr txBox="1"/>
          <p:nvPr/>
        </p:nvSpPr>
        <p:spPr>
          <a:xfrm>
            <a:off x="7621608" y="178398"/>
            <a:ext cx="202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成长与总结</a:t>
            </a: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3B28520F-47BA-3303-88AA-520DD2AEA234}"/>
              </a:ext>
            </a:extLst>
          </p:cNvPr>
          <p:cNvCxnSpPr>
            <a:cxnSpLocks/>
          </p:cNvCxnSpPr>
          <p:nvPr/>
        </p:nvCxnSpPr>
        <p:spPr>
          <a:xfrm>
            <a:off x="9885219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F56B3FC1-BF00-9B20-E908-E6474C06D34B}"/>
              </a:ext>
            </a:extLst>
          </p:cNvPr>
          <p:cNvSpPr txBox="1"/>
          <p:nvPr/>
        </p:nvSpPr>
        <p:spPr>
          <a:xfrm>
            <a:off x="1008181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未来规划</a:t>
            </a: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7D742E54-B8A5-44CF-B058-CED2AC6CB46D}"/>
              </a:ext>
            </a:extLst>
          </p:cNvPr>
          <p:cNvCxnSpPr>
            <a:cxnSpLocks/>
          </p:cNvCxnSpPr>
          <p:nvPr/>
        </p:nvCxnSpPr>
        <p:spPr>
          <a:xfrm>
            <a:off x="3486450" y="781088"/>
            <a:ext cx="1519415" cy="0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99D00D1F-75BE-8E26-B509-DF3BFFD90DD0}"/>
              </a:ext>
            </a:extLst>
          </p:cNvPr>
          <p:cNvSpPr txBox="1"/>
          <p:nvPr/>
        </p:nvSpPr>
        <p:spPr>
          <a:xfrm>
            <a:off x="4484018" y="1169071"/>
            <a:ext cx="1556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基本情况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442F88C-AC84-F1F7-E5ED-8E9010AB49FB}"/>
              </a:ext>
            </a:extLst>
          </p:cNvPr>
          <p:cNvSpPr txBox="1"/>
          <p:nvPr/>
        </p:nvSpPr>
        <p:spPr>
          <a:xfrm>
            <a:off x="4376136" y="1701491"/>
            <a:ext cx="332829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年龄：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24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岁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部门：</a:t>
            </a:r>
            <a:r>
              <a:rPr kumimoji="1"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Routing &amp; Pull-over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岗位：技术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算法 秋储实习生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实习时间：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2026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-2026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毕业时间：</a:t>
            </a:r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2027</a:t>
            </a: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</a:p>
        </p:txBody>
      </p: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46DA1EF2-47EE-AA40-CC2D-50B0066EF7E6}"/>
              </a:ext>
            </a:extLst>
          </p:cNvPr>
          <p:cNvCxnSpPr>
            <a:cxnSpLocks/>
          </p:cNvCxnSpPr>
          <p:nvPr/>
        </p:nvCxnSpPr>
        <p:spPr>
          <a:xfrm>
            <a:off x="7878659" y="1375632"/>
            <a:ext cx="0" cy="2372279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0266C678-05A6-86FA-5479-2055F3F5A4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44"/>
          <a:stretch>
            <a:fillRect/>
          </a:stretch>
        </p:blipFill>
        <p:spPr>
          <a:xfrm>
            <a:off x="160315" y="93820"/>
            <a:ext cx="2180279" cy="6923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0B31EAF-6B76-C02E-5672-3BE077F1F73E}"/>
              </a:ext>
            </a:extLst>
          </p:cNvPr>
          <p:cNvSpPr txBox="1"/>
          <p:nvPr/>
        </p:nvSpPr>
        <p:spPr>
          <a:xfrm>
            <a:off x="6192231" y="1112290"/>
            <a:ext cx="155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宋宇杰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D53ADD8-ACD8-078B-FF80-D6A172D67E76}"/>
              </a:ext>
            </a:extLst>
          </p:cNvPr>
          <p:cNvSpPr/>
          <p:nvPr/>
        </p:nvSpPr>
        <p:spPr>
          <a:xfrm>
            <a:off x="8230018" y="1170727"/>
            <a:ext cx="1873956" cy="39786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39000">
                <a:srgbClr val="FF7F42">
                  <a:alpha val="80000"/>
                </a:srgbClr>
              </a:gs>
              <a:gs pos="73000">
                <a:srgbClr val="FF7F42">
                  <a:alpha val="82979"/>
                </a:srgbClr>
              </a:gs>
              <a:gs pos="100000">
                <a:srgbClr val="FF7F4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6105135-7393-3C76-2DB4-A33A2976FB67}"/>
              </a:ext>
            </a:extLst>
          </p:cNvPr>
          <p:cNvSpPr txBox="1"/>
          <p:nvPr/>
        </p:nvSpPr>
        <p:spPr>
          <a:xfrm>
            <a:off x="8274628" y="1169071"/>
            <a:ext cx="1556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教育经历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05A4CDA-1F14-AA40-54B8-7431965824D4}"/>
              </a:ext>
            </a:extLst>
          </p:cNvPr>
          <p:cNvSpPr txBox="1"/>
          <p:nvPr/>
        </p:nvSpPr>
        <p:spPr>
          <a:xfrm>
            <a:off x="8155789" y="1701491"/>
            <a:ext cx="2199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2024.09-2027.06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245E886-98E6-3497-4555-5E08CF797B9E}"/>
              </a:ext>
            </a:extLst>
          </p:cNvPr>
          <p:cNvSpPr txBox="1"/>
          <p:nvPr/>
        </p:nvSpPr>
        <p:spPr>
          <a:xfrm>
            <a:off x="7977509" y="2193857"/>
            <a:ext cx="1873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中山大学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2A4E7A-E2B7-9879-D968-8091905B1828}"/>
              </a:ext>
            </a:extLst>
          </p:cNvPr>
          <p:cNvSpPr txBox="1"/>
          <p:nvPr/>
        </p:nvSpPr>
        <p:spPr>
          <a:xfrm>
            <a:off x="9256985" y="2193857"/>
            <a:ext cx="1873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硕士（保研）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DCF0C17-BE4D-4EAA-B405-5B2128A122BB}"/>
              </a:ext>
            </a:extLst>
          </p:cNvPr>
          <p:cNvSpPr txBox="1"/>
          <p:nvPr/>
        </p:nvSpPr>
        <p:spPr>
          <a:xfrm>
            <a:off x="8155789" y="2783144"/>
            <a:ext cx="2199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2020.09-2024.06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26BAB7D-AE7A-42B7-E60F-80C20D955733}"/>
              </a:ext>
            </a:extLst>
          </p:cNvPr>
          <p:cNvSpPr txBox="1"/>
          <p:nvPr/>
        </p:nvSpPr>
        <p:spPr>
          <a:xfrm>
            <a:off x="7977509" y="3220290"/>
            <a:ext cx="1873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长安大学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A91D710-CA53-F7E9-1B50-281AF6477947}"/>
              </a:ext>
            </a:extLst>
          </p:cNvPr>
          <p:cNvSpPr txBox="1"/>
          <p:nvPr/>
        </p:nvSpPr>
        <p:spPr>
          <a:xfrm>
            <a:off x="9572866" y="3220290"/>
            <a:ext cx="1017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学士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0B4275F-53A6-85EC-5824-1DC217956D41}"/>
              </a:ext>
            </a:extLst>
          </p:cNvPr>
          <p:cNvSpPr/>
          <p:nvPr/>
        </p:nvSpPr>
        <p:spPr>
          <a:xfrm>
            <a:off x="331470" y="4211264"/>
            <a:ext cx="2812142" cy="39786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39000">
                <a:srgbClr val="FF7F42">
                  <a:alpha val="80000"/>
                </a:srgbClr>
              </a:gs>
              <a:gs pos="73000">
                <a:srgbClr val="FF7F42">
                  <a:alpha val="82979"/>
                </a:srgbClr>
              </a:gs>
              <a:gs pos="100000">
                <a:srgbClr val="FF7F4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958E7F8-AF34-169F-4680-02CF619775A0}"/>
              </a:ext>
            </a:extLst>
          </p:cNvPr>
          <p:cNvSpPr txBox="1"/>
          <p:nvPr/>
        </p:nvSpPr>
        <p:spPr>
          <a:xfrm>
            <a:off x="376080" y="4209608"/>
            <a:ext cx="2274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 </a:t>
            </a:r>
            <a:r>
              <a:rPr kumimoji="1"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kumimoji="1"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实习经历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77F0E51-F0DA-6BC5-3317-BB9245A77699}"/>
              </a:ext>
            </a:extLst>
          </p:cNvPr>
          <p:cNvSpPr txBox="1"/>
          <p:nvPr/>
        </p:nvSpPr>
        <p:spPr>
          <a:xfrm>
            <a:off x="4376136" y="3978886"/>
            <a:ext cx="7087854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长安大学、中山大学一等奖学金、国家奖学金、长安大学优秀毕业生等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C++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kumimoji="1" lang="en-US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Pytorch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CET-6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566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），专利代理师证书等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1357AF7-929D-DD2A-0F54-C6A34047D313}"/>
              </a:ext>
            </a:extLst>
          </p:cNvPr>
          <p:cNvSpPr txBox="1"/>
          <p:nvPr/>
        </p:nvSpPr>
        <p:spPr>
          <a:xfrm>
            <a:off x="10752355" y="3220290"/>
            <a:ext cx="14396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排名前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10%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5243F18-20C0-060A-C302-850B13FA0CA6}"/>
              </a:ext>
            </a:extLst>
          </p:cNvPr>
          <p:cNvSpPr txBox="1"/>
          <p:nvPr/>
        </p:nvSpPr>
        <p:spPr>
          <a:xfrm>
            <a:off x="10752355" y="2193857"/>
            <a:ext cx="14396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排名前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10%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071D882E-488F-1F23-01D0-36BB1107DAF5}"/>
              </a:ext>
            </a:extLst>
          </p:cNvPr>
          <p:cNvCxnSpPr>
            <a:cxnSpLocks/>
          </p:cNvCxnSpPr>
          <p:nvPr/>
        </p:nvCxnSpPr>
        <p:spPr>
          <a:xfrm>
            <a:off x="331470" y="4795641"/>
            <a:ext cx="11539088" cy="0"/>
          </a:xfrm>
          <a:prstGeom prst="straightConnector1">
            <a:avLst/>
          </a:prstGeom>
          <a:ln w="38100">
            <a:solidFill>
              <a:srgbClr val="FF7F4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>
            <a:extLst>
              <a:ext uri="{FF2B5EF4-FFF2-40B4-BE49-F238E27FC236}">
                <a16:creationId xmlns:a16="http://schemas.microsoft.com/office/drawing/2014/main" id="{1BA71F4A-38FB-8A84-72C8-DE79BD8CF1DC}"/>
              </a:ext>
            </a:extLst>
          </p:cNvPr>
          <p:cNvSpPr/>
          <p:nvPr/>
        </p:nvSpPr>
        <p:spPr>
          <a:xfrm>
            <a:off x="1322250" y="4717519"/>
            <a:ext cx="156243" cy="156243"/>
          </a:xfrm>
          <a:prstGeom prst="ellipse">
            <a:avLst/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EED376F4-A330-B570-D32A-BEA6513BFF82}"/>
              </a:ext>
            </a:extLst>
          </p:cNvPr>
          <p:cNvSpPr/>
          <p:nvPr/>
        </p:nvSpPr>
        <p:spPr>
          <a:xfrm>
            <a:off x="4194844" y="4717519"/>
            <a:ext cx="156243" cy="156243"/>
          </a:xfrm>
          <a:prstGeom prst="ellipse">
            <a:avLst/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7B132820-5E25-FFD3-4120-7916D87E1001}"/>
              </a:ext>
            </a:extLst>
          </p:cNvPr>
          <p:cNvSpPr/>
          <p:nvPr/>
        </p:nvSpPr>
        <p:spPr>
          <a:xfrm>
            <a:off x="7067438" y="4717519"/>
            <a:ext cx="156243" cy="156243"/>
          </a:xfrm>
          <a:prstGeom prst="ellipse">
            <a:avLst/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6694D99F-7582-DE4B-C77D-9A33CC8AD8D9}"/>
              </a:ext>
            </a:extLst>
          </p:cNvPr>
          <p:cNvSpPr/>
          <p:nvPr/>
        </p:nvSpPr>
        <p:spPr>
          <a:xfrm>
            <a:off x="10007766" y="4717519"/>
            <a:ext cx="156243" cy="156243"/>
          </a:xfrm>
          <a:prstGeom prst="ellipse">
            <a:avLst/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CD53DFBA-936D-BE15-2155-294109BB6CA7}"/>
              </a:ext>
            </a:extLst>
          </p:cNvPr>
          <p:cNvSpPr txBox="1"/>
          <p:nvPr/>
        </p:nvSpPr>
        <p:spPr>
          <a:xfrm>
            <a:off x="300868" y="4940458"/>
            <a:ext cx="2199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2025.03-2025.07</a:t>
            </a:r>
            <a:endParaRPr kumimoji="1" lang="zh-CN" altLang="en-US" sz="1600" b="1" dirty="0">
              <a:solidFill>
                <a:srgbClr val="FF7F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B7CD11E-B69E-97B9-9770-6F2402A0D96F}"/>
              </a:ext>
            </a:extLst>
          </p:cNvPr>
          <p:cNvSpPr txBox="1"/>
          <p:nvPr/>
        </p:nvSpPr>
        <p:spPr>
          <a:xfrm>
            <a:off x="3173462" y="4940458"/>
            <a:ext cx="2199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2025.06-2025.10</a:t>
            </a:r>
            <a:endParaRPr kumimoji="1" lang="zh-CN" altLang="en-US" sz="1600" b="1" dirty="0">
              <a:solidFill>
                <a:srgbClr val="FF7F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C2C3337-0A1B-C6AF-45E7-97AC15C7AA92}"/>
              </a:ext>
            </a:extLst>
          </p:cNvPr>
          <p:cNvSpPr txBox="1"/>
          <p:nvPr/>
        </p:nvSpPr>
        <p:spPr>
          <a:xfrm>
            <a:off x="8982314" y="4929582"/>
            <a:ext cx="2199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2026.06-</a:t>
            </a:r>
            <a:r>
              <a:rPr kumimoji="1" lang="zh-CN" altLang="en-US" sz="16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至今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72639542-A8E2-17E5-AABE-CD4186FBD3E5}"/>
              </a:ext>
            </a:extLst>
          </p:cNvPr>
          <p:cNvSpPr txBox="1"/>
          <p:nvPr/>
        </p:nvSpPr>
        <p:spPr>
          <a:xfrm>
            <a:off x="6040281" y="4939743"/>
            <a:ext cx="2199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2025.07-2025.10</a:t>
            </a:r>
            <a:endParaRPr kumimoji="1" lang="zh-CN" altLang="en-US" sz="1600" b="1" dirty="0">
              <a:solidFill>
                <a:srgbClr val="FF7F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153145A6-2827-2DD4-D1E2-E73711564FFA}"/>
              </a:ext>
            </a:extLst>
          </p:cNvPr>
          <p:cNvSpPr txBox="1"/>
          <p:nvPr/>
        </p:nvSpPr>
        <p:spPr>
          <a:xfrm>
            <a:off x="9077588" y="5265044"/>
            <a:ext cx="1873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滴滴出行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71A2386-866E-2FF0-CC05-EA087094B354}"/>
              </a:ext>
            </a:extLst>
          </p:cNvPr>
          <p:cNvSpPr txBox="1"/>
          <p:nvPr/>
        </p:nvSpPr>
        <p:spPr>
          <a:xfrm>
            <a:off x="8553267" y="5592722"/>
            <a:ext cx="344666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marL="285750" indent="-285750" algn="l">
              <a:spcBef>
                <a:spcPts val="600"/>
              </a:spcBef>
              <a:buFont typeface="Wingdings" pitchFamily="2" charset="2"/>
              <a:buChar char="l"/>
            </a:pPr>
            <a:r>
              <a:rPr lang="zh-CN" altLang="en-US" dirty="0"/>
              <a:t>车端路线可解释性优化、路线安全性校验</a:t>
            </a:r>
            <a:endParaRPr lang="en-US" altLang="zh-CN" dirty="0"/>
          </a:p>
          <a:p>
            <a:pPr marL="285750" indent="-285750" algn="l">
              <a:spcBef>
                <a:spcPts val="600"/>
              </a:spcBef>
              <a:buFont typeface="Wingdings" pitchFamily="2" charset="2"/>
              <a:buChar char="ü"/>
            </a:pPr>
            <a:r>
              <a:rPr lang="zh-CN" altLang="en-US" sz="1400" dirty="0">
                <a:solidFill>
                  <a:srgbClr val="FF7F42"/>
                </a:solidFill>
              </a:rPr>
              <a:t>从云端算法到车端落地的能力转变</a:t>
            </a:r>
            <a:endParaRPr lang="en-US" altLang="zh-CN" sz="1400" dirty="0">
              <a:solidFill>
                <a:srgbClr val="FF7F42"/>
              </a:solidFill>
            </a:endParaRPr>
          </a:p>
          <a:p>
            <a:pPr marL="285750" indent="-285750" algn="l">
              <a:spcBef>
                <a:spcPts val="600"/>
              </a:spcBef>
              <a:buFont typeface="Wingdings" pitchFamily="2" charset="2"/>
              <a:buChar char="ü"/>
            </a:pPr>
            <a:r>
              <a:rPr lang="zh-CN" altLang="zh-CN" sz="1400" dirty="0">
                <a:solidFill>
                  <a:srgbClr val="FF7F42"/>
                </a:solidFill>
              </a:rPr>
              <a:t>问题定位、方案设计与闭环验证能力</a:t>
            </a:r>
            <a:endParaRPr lang="zh-CN" altLang="en-US" sz="1400" dirty="0">
              <a:solidFill>
                <a:srgbClr val="FF7F42"/>
              </a:solidFill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C41A8B8F-D41E-FC10-D689-620C2FEF7EE3}"/>
              </a:ext>
            </a:extLst>
          </p:cNvPr>
          <p:cNvSpPr txBox="1"/>
          <p:nvPr/>
        </p:nvSpPr>
        <p:spPr>
          <a:xfrm>
            <a:off x="6209095" y="5265044"/>
            <a:ext cx="1873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上海济安交通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F6A91695-EED3-6E44-CFA7-98B24C8BBD7A}"/>
              </a:ext>
            </a:extLst>
          </p:cNvPr>
          <p:cNvSpPr txBox="1"/>
          <p:nvPr/>
        </p:nvSpPr>
        <p:spPr>
          <a:xfrm>
            <a:off x="5776516" y="5592722"/>
            <a:ext cx="277675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marL="285750" indent="-285750" algn="l">
              <a:spcBef>
                <a:spcPts val="600"/>
              </a:spcBef>
              <a:buFont typeface="Wingdings" pitchFamily="2" charset="2"/>
              <a:buChar char="l"/>
            </a:pPr>
            <a:r>
              <a:rPr lang="zh-CN" altLang="en-US" dirty="0"/>
              <a:t>车路协同信号</a:t>
            </a:r>
            <a:r>
              <a:rPr lang="en-US" altLang="zh-CN" dirty="0"/>
              <a:t>-</a:t>
            </a:r>
            <a:r>
              <a:rPr lang="zh-CN" altLang="en-US" dirty="0"/>
              <a:t>轨迹优化</a:t>
            </a:r>
            <a:endParaRPr lang="en-US" altLang="zh-CN" dirty="0"/>
          </a:p>
          <a:p>
            <a:pPr marL="285750" indent="-285750" algn="l">
              <a:spcBef>
                <a:spcPts val="600"/>
              </a:spcBef>
              <a:buFont typeface="Wingdings" pitchFamily="2" charset="2"/>
              <a:buChar char="ü"/>
            </a:pPr>
            <a:r>
              <a:rPr lang="zh-CN" altLang="zh-CN" sz="1400" dirty="0">
                <a:solidFill>
                  <a:srgbClr val="FF7F42"/>
                </a:solidFill>
              </a:rPr>
              <a:t>提升微观交通建模、仿真验证</a:t>
            </a:r>
            <a:r>
              <a:rPr lang="zh-CN" altLang="en-US" sz="1400" dirty="0">
                <a:solidFill>
                  <a:srgbClr val="FF7F42"/>
                </a:solidFill>
              </a:rPr>
              <a:t>能力</a:t>
            </a:r>
            <a:endParaRPr lang="en-US" altLang="zh-CN" sz="1400" dirty="0">
              <a:solidFill>
                <a:srgbClr val="FF7F42"/>
              </a:solidFill>
            </a:endParaRPr>
          </a:p>
          <a:p>
            <a:pPr marL="285750" indent="-285750" algn="l">
              <a:spcBef>
                <a:spcPts val="600"/>
              </a:spcBef>
              <a:buFont typeface="Wingdings" pitchFamily="2" charset="2"/>
              <a:buChar char="ü"/>
            </a:pPr>
            <a:r>
              <a:rPr lang="zh-CN" altLang="en-US" sz="1400" dirty="0">
                <a:solidFill>
                  <a:srgbClr val="FF7F42"/>
                </a:solidFill>
              </a:rPr>
              <a:t>加强了团队协作能力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34B95F5-1A5D-C4E1-0915-0ADBFF66B49C}"/>
              </a:ext>
            </a:extLst>
          </p:cNvPr>
          <p:cNvSpPr txBox="1"/>
          <p:nvPr/>
        </p:nvSpPr>
        <p:spPr>
          <a:xfrm>
            <a:off x="2719266" y="5265044"/>
            <a:ext cx="3263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基于个性化的自动驾驶决策规划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8857215E-AE32-FCEB-D350-E4BD577BC16A}"/>
              </a:ext>
            </a:extLst>
          </p:cNvPr>
          <p:cNvSpPr txBox="1"/>
          <p:nvPr/>
        </p:nvSpPr>
        <p:spPr>
          <a:xfrm>
            <a:off x="2769412" y="5615804"/>
            <a:ext cx="291687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marL="285750" indent="-285750" algn="l">
              <a:spcBef>
                <a:spcPts val="600"/>
              </a:spcBef>
              <a:buFont typeface="Wingdings" pitchFamily="2" charset="2"/>
              <a:buChar char="l"/>
            </a:pPr>
            <a:r>
              <a:rPr lang="zh-CN" altLang="en-US" dirty="0"/>
              <a:t>面对多车交互真实驾驶情形，构建决策</a:t>
            </a:r>
            <a:r>
              <a:rPr lang="en-US" altLang="zh-CN" dirty="0"/>
              <a:t>-</a:t>
            </a:r>
            <a:r>
              <a:rPr lang="zh-CN" altLang="en-US" dirty="0"/>
              <a:t>规划一体框架</a:t>
            </a:r>
            <a:endParaRPr lang="en-US" altLang="zh-CN" dirty="0"/>
          </a:p>
          <a:p>
            <a:pPr marL="285750" indent="-285750" algn="l">
              <a:spcBef>
                <a:spcPts val="600"/>
              </a:spcBef>
              <a:buFont typeface="Wingdings" pitchFamily="2" charset="2"/>
              <a:buChar char="ü"/>
            </a:pPr>
            <a:r>
              <a:rPr lang="zh-CN" altLang="zh-CN" sz="1400" dirty="0">
                <a:solidFill>
                  <a:srgbClr val="FF7F42"/>
                </a:solidFill>
              </a:rPr>
              <a:t>关注真实驾驶中的可行性与鲁棒性，提升问题建模能力</a:t>
            </a:r>
            <a:endParaRPr lang="zh-CN" altLang="en-US" sz="1400" dirty="0">
              <a:solidFill>
                <a:srgbClr val="FF7F42"/>
              </a:solidFill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9D967554-2C3A-5EA0-58CF-32170597EAA8}"/>
              </a:ext>
            </a:extLst>
          </p:cNvPr>
          <p:cNvSpPr txBox="1"/>
          <p:nvPr/>
        </p:nvSpPr>
        <p:spPr>
          <a:xfrm>
            <a:off x="210746" y="5265044"/>
            <a:ext cx="2375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跨时域交互轨迹预测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AF48DF76-37AB-1E26-6694-84E7016DE9D6}"/>
              </a:ext>
            </a:extLst>
          </p:cNvPr>
          <p:cNvSpPr txBox="1"/>
          <p:nvPr/>
        </p:nvSpPr>
        <p:spPr>
          <a:xfrm>
            <a:off x="-40023" y="5592722"/>
            <a:ext cx="287701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marL="285750" indent="-285750" algn="l">
              <a:spcBef>
                <a:spcPts val="600"/>
              </a:spcBef>
              <a:buFont typeface="Wingdings" pitchFamily="2" charset="2"/>
              <a:buChar char="l"/>
            </a:pPr>
            <a:r>
              <a:rPr lang="zh-CN" altLang="zh-CN" dirty="0"/>
              <a:t>将自车意图引入周车轨迹预测</a:t>
            </a:r>
            <a:endParaRPr lang="en-US" altLang="zh-CN" dirty="0"/>
          </a:p>
          <a:p>
            <a:pPr marL="285750" indent="-285750" algn="l">
              <a:spcBef>
                <a:spcPts val="600"/>
              </a:spcBef>
              <a:buFont typeface="Wingdings" pitchFamily="2" charset="2"/>
              <a:buChar char="ü"/>
            </a:pPr>
            <a:r>
              <a:rPr lang="zh-CN" altLang="zh-CN" sz="1400" dirty="0">
                <a:solidFill>
                  <a:srgbClr val="FF7F42"/>
                </a:solidFill>
              </a:rPr>
              <a:t>深化对上下游模块输入、输出与协同边界的理解</a:t>
            </a:r>
            <a:endParaRPr lang="zh-CN" altLang="en-US" sz="1400" dirty="0">
              <a:solidFill>
                <a:srgbClr val="FF7F42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5CBE9DCF-4DC5-6314-5294-7D4115EF9ACF}"/>
              </a:ext>
            </a:extLst>
          </p:cNvPr>
          <p:cNvSpPr/>
          <p:nvPr/>
        </p:nvSpPr>
        <p:spPr>
          <a:xfrm>
            <a:off x="4439408" y="3502312"/>
            <a:ext cx="2812142" cy="39786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39000">
                <a:srgbClr val="FF7F42">
                  <a:alpha val="80000"/>
                </a:srgbClr>
              </a:gs>
              <a:gs pos="73000">
                <a:srgbClr val="FF7F42">
                  <a:alpha val="82979"/>
                </a:srgbClr>
              </a:gs>
              <a:gs pos="100000">
                <a:srgbClr val="FF7F4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F6913A42-E3E4-A3D5-6631-04734A5A6BB8}"/>
              </a:ext>
            </a:extLst>
          </p:cNvPr>
          <p:cNvSpPr txBox="1"/>
          <p:nvPr/>
        </p:nvSpPr>
        <p:spPr>
          <a:xfrm>
            <a:off x="4484018" y="3500656"/>
            <a:ext cx="2274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获奖情况 </a:t>
            </a:r>
            <a:r>
              <a:rPr kumimoji="1"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kumimoji="1"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技能</a:t>
            </a:r>
          </a:p>
        </p:txBody>
      </p:sp>
      <p:pic>
        <p:nvPicPr>
          <p:cNvPr id="84" name="图片 83">
            <a:extLst>
              <a:ext uri="{FF2B5EF4-FFF2-40B4-BE49-F238E27FC236}">
                <a16:creationId xmlns:a16="http://schemas.microsoft.com/office/drawing/2014/main" id="{41FBD587-C56D-268B-5D4D-320A1B017C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328" y="1110921"/>
            <a:ext cx="2015755" cy="28236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6" name="灯片编号占位符 85">
            <a:extLst>
              <a:ext uri="{FF2B5EF4-FFF2-40B4-BE49-F238E27FC236}">
                <a16:creationId xmlns:a16="http://schemas.microsoft.com/office/drawing/2014/main" id="{DC8BADAC-44CE-E9C8-65F9-E39FF06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11619" y="6579710"/>
            <a:ext cx="2743200" cy="365125"/>
          </a:xfrm>
        </p:spPr>
        <p:txBody>
          <a:bodyPr/>
          <a:lstStyle/>
          <a:p>
            <a:fld id="{BA4D6745-9EBB-A044-B42C-0E6AD00F43E4}" type="slidenum">
              <a:rPr kumimoji="1" lang="zh-CN" altLang="en-US" sz="1600" b="1" smtClean="0"/>
              <a:pPr/>
              <a:t>3</a:t>
            </a:fld>
            <a:r>
              <a:rPr kumimoji="1" lang="zh-CN" altLang="en-US" sz="1400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15</a:t>
            </a:r>
            <a:endParaRPr kumimoji="1"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4221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972"/>
    </mc:Choice>
    <mc:Fallback>
      <p:transition spd="slow" advTm="599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34" grpId="0" animBg="1"/>
      <p:bldP spid="56" grpId="0" animBg="1"/>
      <p:bldP spid="57" grpId="0" animBg="1"/>
      <p:bldP spid="58" grpId="0" animBg="1"/>
      <p:bldP spid="64" grpId="0"/>
      <p:bldP spid="65" grpId="0"/>
      <p:bldP spid="68" grpId="0"/>
      <p:bldP spid="69" grpId="0"/>
      <p:bldP spid="70" grpId="0"/>
      <p:bldP spid="71" grpId="0"/>
      <p:bldP spid="73" grpId="0"/>
      <p:bldP spid="74" grpId="0"/>
      <p:bldP spid="75" grpId="0"/>
      <p:bldP spid="76" grpId="0"/>
      <p:bldP spid="77" grpId="0"/>
      <p:bldP spid="7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E3311-4B13-B43C-87B5-6A7205C64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DA06327D-0C74-70FB-8BA1-179785F02F9B}"/>
              </a:ext>
            </a:extLst>
          </p:cNvPr>
          <p:cNvSpPr txBox="1"/>
          <p:nvPr/>
        </p:nvSpPr>
        <p:spPr>
          <a:xfrm>
            <a:off x="-672929" y="2529904"/>
            <a:ext cx="3821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6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kumimoji="1" lang="zh-CN" altLang="en-US" sz="9600" b="1" dirty="0">
              <a:solidFill>
                <a:srgbClr val="FF7F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9B17AF-B925-ADAC-546B-48307630B580}"/>
              </a:ext>
            </a:extLst>
          </p:cNvPr>
          <p:cNvSpPr txBox="1"/>
          <p:nvPr/>
        </p:nvSpPr>
        <p:spPr>
          <a:xfrm>
            <a:off x="1237993" y="2529904"/>
            <a:ext cx="6642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7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工作汇报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C47E43A-C45A-EB33-001F-1DD4A316C1BB}"/>
              </a:ext>
            </a:extLst>
          </p:cNvPr>
          <p:cNvSpPr txBox="1"/>
          <p:nvPr/>
        </p:nvSpPr>
        <p:spPr>
          <a:xfrm>
            <a:off x="991681" y="3683011"/>
            <a:ext cx="6642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Work</a:t>
            </a:r>
            <a:r>
              <a:rPr kumimoji="1" lang="zh-CN" altLang="en-US" sz="4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4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Report</a:t>
            </a:r>
            <a:endParaRPr kumimoji="1" lang="zh-CN" altLang="en-US" sz="4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7E70FD49-500E-9E5F-1F26-363083044755}"/>
              </a:ext>
            </a:extLst>
          </p:cNvPr>
          <p:cNvCxnSpPr>
            <a:cxnSpLocks/>
          </p:cNvCxnSpPr>
          <p:nvPr/>
        </p:nvCxnSpPr>
        <p:spPr>
          <a:xfrm>
            <a:off x="2188086" y="2836625"/>
            <a:ext cx="0" cy="871151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D00DC8FD-7F97-D181-2EA2-ABB9A7BF8EFC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593FB47-3516-57A0-CFF7-7252DD5A3F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44"/>
          <a:stretch>
            <a:fillRect/>
          </a:stretch>
        </p:blipFill>
        <p:spPr>
          <a:xfrm>
            <a:off x="160315" y="93820"/>
            <a:ext cx="2180279" cy="6923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0911E7A-55F5-C789-B72B-29B6B11D7CE3}"/>
              </a:ext>
            </a:extLst>
          </p:cNvPr>
          <p:cNvSpPr/>
          <p:nvPr/>
        </p:nvSpPr>
        <p:spPr>
          <a:xfrm>
            <a:off x="0" y="6233532"/>
            <a:ext cx="12192000" cy="624467"/>
          </a:xfrm>
          <a:prstGeom prst="rect">
            <a:avLst/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728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8"/>
    </mc:Choice>
    <mc:Fallback>
      <p:transition spd="slow" advTm="300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8C883-2459-5CBB-97AD-031F793EC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F5F9EB1-514E-1ADB-FF23-7BF46E20E36B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1F7D6F-370C-61DB-A2AC-E6F80FDAA976}"/>
              </a:ext>
            </a:extLst>
          </p:cNvPr>
          <p:cNvSpPr txBox="1"/>
          <p:nvPr/>
        </p:nvSpPr>
        <p:spPr>
          <a:xfrm>
            <a:off x="335178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个人简介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E162A135-84B1-FD8E-19BD-C5927F40F858}"/>
              </a:ext>
            </a:extLst>
          </p:cNvPr>
          <p:cNvCxnSpPr>
            <a:cxnSpLocks/>
          </p:cNvCxnSpPr>
          <p:nvPr/>
        </p:nvCxnSpPr>
        <p:spPr>
          <a:xfrm>
            <a:off x="5285970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AA24424-4030-2DF5-D0CF-79F502FF8BD1}"/>
              </a:ext>
            </a:extLst>
          </p:cNvPr>
          <p:cNvSpPr txBox="1"/>
          <p:nvPr/>
        </p:nvSpPr>
        <p:spPr>
          <a:xfrm>
            <a:off x="5462810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工作汇报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852A8FC5-26D7-36B2-ECC1-7D9D1109CF86}"/>
              </a:ext>
            </a:extLst>
          </p:cNvPr>
          <p:cNvCxnSpPr>
            <a:cxnSpLocks/>
          </p:cNvCxnSpPr>
          <p:nvPr/>
        </p:nvCxnSpPr>
        <p:spPr>
          <a:xfrm>
            <a:off x="739699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BD8BE6B-9221-0DBE-20CC-77B2992297F9}"/>
              </a:ext>
            </a:extLst>
          </p:cNvPr>
          <p:cNvSpPr txBox="1"/>
          <p:nvPr/>
        </p:nvSpPr>
        <p:spPr>
          <a:xfrm>
            <a:off x="7621608" y="178398"/>
            <a:ext cx="202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成长与总结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4A975FB7-D505-4397-B925-284F2B35503F}"/>
              </a:ext>
            </a:extLst>
          </p:cNvPr>
          <p:cNvCxnSpPr>
            <a:cxnSpLocks/>
          </p:cNvCxnSpPr>
          <p:nvPr/>
        </p:nvCxnSpPr>
        <p:spPr>
          <a:xfrm>
            <a:off x="9885219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AD7EFA3-D559-0F79-C8C7-9E53EEDBC062}"/>
              </a:ext>
            </a:extLst>
          </p:cNvPr>
          <p:cNvSpPr txBox="1"/>
          <p:nvPr/>
        </p:nvSpPr>
        <p:spPr>
          <a:xfrm>
            <a:off x="1008181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未来规划</a:t>
            </a: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E1E2E379-2BD8-0199-6230-3A21D7903FB4}"/>
              </a:ext>
            </a:extLst>
          </p:cNvPr>
          <p:cNvCxnSpPr>
            <a:cxnSpLocks/>
          </p:cNvCxnSpPr>
          <p:nvPr/>
        </p:nvCxnSpPr>
        <p:spPr>
          <a:xfrm>
            <a:off x="5594030" y="781088"/>
            <a:ext cx="1519415" cy="0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7055485A-0C68-8D09-F498-C7888EE5DD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44"/>
          <a:stretch>
            <a:fillRect/>
          </a:stretch>
        </p:blipFill>
        <p:spPr>
          <a:xfrm>
            <a:off x="160315" y="93820"/>
            <a:ext cx="2180279" cy="69237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2CC1E90-4CD1-E51F-8FB2-F02BEE0793BE}"/>
              </a:ext>
            </a:extLst>
          </p:cNvPr>
          <p:cNvSpPr txBox="1"/>
          <p:nvPr/>
        </p:nvSpPr>
        <p:spPr>
          <a:xfrm>
            <a:off x="259781" y="1145745"/>
            <a:ext cx="1858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工作总结</a:t>
            </a:r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DFE4B2F4-166D-0C00-F80E-374F148D31CA}"/>
              </a:ext>
            </a:extLst>
          </p:cNvPr>
          <p:cNvCxnSpPr>
            <a:cxnSpLocks/>
          </p:cNvCxnSpPr>
          <p:nvPr/>
        </p:nvCxnSpPr>
        <p:spPr>
          <a:xfrm>
            <a:off x="468351" y="1716503"/>
            <a:ext cx="747132" cy="0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C9CFE42B-6F5F-9F6A-3FCB-B70E51365A85}"/>
              </a:ext>
            </a:extLst>
          </p:cNvPr>
          <p:cNvSpPr txBox="1"/>
          <p:nvPr/>
        </p:nvSpPr>
        <p:spPr>
          <a:xfrm>
            <a:off x="468351" y="1872896"/>
            <a:ext cx="10966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在滴滴实习期间，一共参与两项工作，分别是</a:t>
            </a:r>
            <a:r>
              <a:rPr kumimoji="1"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全局路线可解释性优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化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以及</a:t>
            </a:r>
            <a:r>
              <a:rPr kumimoji="1"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路线安全性校验方式调研 &amp; 优化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1B0C5DE8-C398-8D93-ED17-25BF419FA1B8}"/>
              </a:ext>
            </a:extLst>
          </p:cNvPr>
          <p:cNvSpPr/>
          <p:nvPr/>
        </p:nvSpPr>
        <p:spPr>
          <a:xfrm>
            <a:off x="966733" y="2725644"/>
            <a:ext cx="4319238" cy="4116093"/>
          </a:xfrm>
          <a:prstGeom prst="roundRect">
            <a:avLst>
              <a:gd name="adj" fmla="val 6871"/>
            </a:avLst>
          </a:prstGeom>
          <a:noFill/>
          <a:ln w="28575">
            <a:gradFill flip="none" rotWithShape="1">
              <a:gsLst>
                <a:gs pos="56000">
                  <a:srgbClr val="FF7F42"/>
                </a:gs>
                <a:gs pos="0">
                  <a:srgbClr val="FF7F42">
                    <a:alpha val="0"/>
                  </a:srgbClr>
                </a:gs>
                <a:gs pos="100000">
                  <a:srgbClr val="FF7F42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9D4AB588-EEF8-41A6-08B4-AE53A1887119}"/>
              </a:ext>
            </a:extLst>
          </p:cNvPr>
          <p:cNvSpPr/>
          <p:nvPr/>
        </p:nvSpPr>
        <p:spPr>
          <a:xfrm>
            <a:off x="6542049" y="2725644"/>
            <a:ext cx="4319239" cy="4116093"/>
          </a:xfrm>
          <a:prstGeom prst="roundRect">
            <a:avLst>
              <a:gd name="adj" fmla="val 6871"/>
            </a:avLst>
          </a:prstGeom>
          <a:noFill/>
          <a:ln w="28575">
            <a:gradFill flip="none" rotWithShape="1">
              <a:gsLst>
                <a:gs pos="56000">
                  <a:srgbClr val="FF7F42"/>
                </a:gs>
                <a:gs pos="0">
                  <a:srgbClr val="FF7F42">
                    <a:alpha val="0"/>
                  </a:srgbClr>
                </a:gs>
                <a:gs pos="100000">
                  <a:srgbClr val="FF7F42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FC9C9A9-0347-1C1C-FA56-87249EBD2A3C}"/>
              </a:ext>
            </a:extLst>
          </p:cNvPr>
          <p:cNvSpPr txBox="1"/>
          <p:nvPr/>
        </p:nvSpPr>
        <p:spPr>
          <a:xfrm>
            <a:off x="1714831" y="2536850"/>
            <a:ext cx="27633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全局路线可解释性优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化</a:t>
            </a:r>
            <a:endParaRPr kumimoji="1" lang="zh-CN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460A128-02AC-AE27-CF48-8783569CCD05}"/>
              </a:ext>
            </a:extLst>
          </p:cNvPr>
          <p:cNvSpPr txBox="1"/>
          <p:nvPr/>
        </p:nvSpPr>
        <p:spPr>
          <a:xfrm>
            <a:off x="6839662" y="2536850"/>
            <a:ext cx="37722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b="1" dirty="0"/>
              <a:t>路线安全性校验方式调研 &amp; 优化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B7277C5-5FDC-697C-91AB-0D100F899F87}"/>
              </a:ext>
            </a:extLst>
          </p:cNvPr>
          <p:cNvSpPr txBox="1"/>
          <p:nvPr/>
        </p:nvSpPr>
        <p:spPr>
          <a:xfrm>
            <a:off x="965492" y="3016138"/>
            <a:ext cx="149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我的职责</a:t>
            </a:r>
            <a:endParaRPr kumimoji="1" lang="zh-CN" altLang="zh-CN" b="1" dirty="0">
              <a:solidFill>
                <a:srgbClr val="FF7F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1510A246-7C86-0CA4-1791-5E86813AF1DB}"/>
              </a:ext>
            </a:extLst>
          </p:cNvPr>
          <p:cNvSpPr/>
          <p:nvPr/>
        </p:nvSpPr>
        <p:spPr>
          <a:xfrm>
            <a:off x="1341894" y="3545255"/>
            <a:ext cx="304026" cy="30402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FC825E09-898D-13B1-C846-D4EACF3DE5B4}"/>
              </a:ext>
            </a:extLst>
          </p:cNvPr>
          <p:cNvSpPr/>
          <p:nvPr/>
        </p:nvSpPr>
        <p:spPr>
          <a:xfrm>
            <a:off x="2970359" y="3545255"/>
            <a:ext cx="304026" cy="30402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5F2B49A-C2B5-317F-C032-59555AD117B2}"/>
              </a:ext>
            </a:extLst>
          </p:cNvPr>
          <p:cNvSpPr/>
          <p:nvPr/>
        </p:nvSpPr>
        <p:spPr>
          <a:xfrm>
            <a:off x="4598824" y="3545255"/>
            <a:ext cx="304026" cy="304026"/>
          </a:xfrm>
          <a:prstGeom prst="ellipse">
            <a:avLst/>
          </a:prstGeom>
          <a:solidFill>
            <a:srgbClr val="FF7F4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381DF2B1-99FF-E451-F416-C70E24F5C93D}"/>
              </a:ext>
            </a:extLst>
          </p:cNvPr>
          <p:cNvSpPr/>
          <p:nvPr/>
        </p:nvSpPr>
        <p:spPr>
          <a:xfrm>
            <a:off x="2121946" y="3545255"/>
            <a:ext cx="304026" cy="30402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9A6FE98E-C15D-E011-40AB-0C90B056AC38}"/>
              </a:ext>
            </a:extLst>
          </p:cNvPr>
          <p:cNvSpPr/>
          <p:nvPr/>
        </p:nvSpPr>
        <p:spPr>
          <a:xfrm>
            <a:off x="3784591" y="3545255"/>
            <a:ext cx="304026" cy="30402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B25CF7CD-F7C4-0D67-8B32-FDC3203D34E9}"/>
              </a:ext>
            </a:extLst>
          </p:cNvPr>
          <p:cNvCxnSpPr>
            <a:cxnSpLocks/>
            <a:stCxn id="31" idx="6"/>
            <a:endCxn id="36" idx="2"/>
          </p:cNvCxnSpPr>
          <p:nvPr/>
        </p:nvCxnSpPr>
        <p:spPr>
          <a:xfrm>
            <a:off x="1645920" y="3697268"/>
            <a:ext cx="476026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80705AE7-F185-77F1-7D16-874AC943F874}"/>
              </a:ext>
            </a:extLst>
          </p:cNvPr>
          <p:cNvCxnSpPr>
            <a:cxnSpLocks/>
            <a:stCxn id="36" idx="6"/>
            <a:endCxn id="33" idx="2"/>
          </p:cNvCxnSpPr>
          <p:nvPr/>
        </p:nvCxnSpPr>
        <p:spPr>
          <a:xfrm>
            <a:off x="2425972" y="3697268"/>
            <a:ext cx="544387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4C4F64EB-3463-0511-F4EA-2DADFBE83447}"/>
              </a:ext>
            </a:extLst>
          </p:cNvPr>
          <p:cNvCxnSpPr>
            <a:cxnSpLocks/>
            <a:stCxn id="33" idx="6"/>
            <a:endCxn id="37" idx="2"/>
          </p:cNvCxnSpPr>
          <p:nvPr/>
        </p:nvCxnSpPr>
        <p:spPr>
          <a:xfrm>
            <a:off x="3274385" y="3697268"/>
            <a:ext cx="510206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E58FAB6D-0759-CDF4-F4C5-6F4CB6440AA7}"/>
              </a:ext>
            </a:extLst>
          </p:cNvPr>
          <p:cNvCxnSpPr>
            <a:cxnSpLocks/>
          </p:cNvCxnSpPr>
          <p:nvPr/>
        </p:nvCxnSpPr>
        <p:spPr>
          <a:xfrm>
            <a:off x="4088618" y="3697268"/>
            <a:ext cx="510206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88D84DBD-43A4-B1E4-E3A1-A18C3C9F5DA1}"/>
              </a:ext>
            </a:extLst>
          </p:cNvPr>
          <p:cNvSpPr txBox="1"/>
          <p:nvPr/>
        </p:nvSpPr>
        <p:spPr>
          <a:xfrm>
            <a:off x="1027910" y="3903686"/>
            <a:ext cx="93199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代码梳理</a:t>
            </a:r>
            <a:endParaRPr kumimoji="1" lang="zh-CN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477B10A-2827-CB10-B0FB-33113D0D2FA4}"/>
              </a:ext>
            </a:extLst>
          </p:cNvPr>
          <p:cNvSpPr txBox="1"/>
          <p:nvPr/>
        </p:nvSpPr>
        <p:spPr>
          <a:xfrm>
            <a:off x="1805065" y="3903686"/>
            <a:ext cx="93199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根因定位</a:t>
            </a:r>
            <a:endParaRPr kumimoji="1" lang="zh-CN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EEE9AD3-87D6-4361-2C65-3F91FA37594E}"/>
              </a:ext>
            </a:extLst>
          </p:cNvPr>
          <p:cNvSpPr txBox="1"/>
          <p:nvPr/>
        </p:nvSpPr>
        <p:spPr>
          <a:xfrm>
            <a:off x="2660045" y="3903686"/>
            <a:ext cx="93199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方案优化</a:t>
            </a:r>
            <a:endParaRPr kumimoji="1" lang="zh-CN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3FFA11C-4B15-E280-BE33-9A4D5BA1C755}"/>
              </a:ext>
            </a:extLst>
          </p:cNvPr>
          <p:cNvSpPr txBox="1"/>
          <p:nvPr/>
        </p:nvSpPr>
        <p:spPr>
          <a:xfrm>
            <a:off x="3470607" y="3903686"/>
            <a:ext cx="93199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仿真验证</a:t>
            </a:r>
            <a:endParaRPr kumimoji="1" lang="zh-CN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F9AE0C9-0081-3532-5438-39D1680E2CB1}"/>
              </a:ext>
            </a:extLst>
          </p:cNvPr>
          <p:cNvSpPr txBox="1"/>
          <p:nvPr/>
        </p:nvSpPr>
        <p:spPr>
          <a:xfrm>
            <a:off x="4284840" y="3903686"/>
            <a:ext cx="93199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总结复盘</a:t>
            </a:r>
            <a:endParaRPr kumimoji="1" lang="zh-CN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DA0AA02-9240-A5F4-0518-BB5072374A53}"/>
              </a:ext>
            </a:extLst>
          </p:cNvPr>
          <p:cNvSpPr txBox="1"/>
          <p:nvPr/>
        </p:nvSpPr>
        <p:spPr>
          <a:xfrm>
            <a:off x="965492" y="4292132"/>
            <a:ext cx="149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优化角度</a:t>
            </a:r>
            <a:endParaRPr kumimoji="1" lang="zh-CN" altLang="zh-CN" b="1" dirty="0">
              <a:solidFill>
                <a:srgbClr val="FF7F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B5FE48C3-39A5-EBD0-6A42-C8DA22EF8117}"/>
              </a:ext>
            </a:extLst>
          </p:cNvPr>
          <p:cNvSpPr/>
          <p:nvPr/>
        </p:nvSpPr>
        <p:spPr>
          <a:xfrm>
            <a:off x="1272043" y="4732489"/>
            <a:ext cx="998700" cy="369332"/>
          </a:xfrm>
          <a:prstGeom prst="roundRect">
            <a:avLst>
              <a:gd name="adj" fmla="val 50000"/>
            </a:avLst>
          </a:prstGeom>
          <a:solidFill>
            <a:srgbClr val="FF7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64D5CCF1-F683-47D6-0373-094284672CBA}"/>
              </a:ext>
            </a:extLst>
          </p:cNvPr>
          <p:cNvSpPr/>
          <p:nvPr/>
        </p:nvSpPr>
        <p:spPr>
          <a:xfrm>
            <a:off x="2604323" y="4732489"/>
            <a:ext cx="998700" cy="369332"/>
          </a:xfrm>
          <a:prstGeom prst="roundRect">
            <a:avLst>
              <a:gd name="adj" fmla="val 50000"/>
            </a:avLst>
          </a:prstGeom>
          <a:solidFill>
            <a:srgbClr val="FF7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74AAF455-2960-31D8-8651-A93CDE213198}"/>
              </a:ext>
            </a:extLst>
          </p:cNvPr>
          <p:cNvSpPr/>
          <p:nvPr/>
        </p:nvSpPr>
        <p:spPr>
          <a:xfrm>
            <a:off x="3936603" y="4732489"/>
            <a:ext cx="998700" cy="369332"/>
          </a:xfrm>
          <a:prstGeom prst="roundRect">
            <a:avLst>
              <a:gd name="adj" fmla="val 50000"/>
            </a:avLst>
          </a:prstGeom>
          <a:solidFill>
            <a:srgbClr val="FF7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115848A-83B5-6DA2-483D-206E6A53DE52}"/>
              </a:ext>
            </a:extLst>
          </p:cNvPr>
          <p:cNvSpPr txBox="1"/>
          <p:nvPr/>
        </p:nvSpPr>
        <p:spPr>
          <a:xfrm>
            <a:off x="1305396" y="4763266"/>
            <a:ext cx="931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换道次数</a:t>
            </a:r>
            <a:endParaRPr kumimoji="1" lang="zh-CN" altLang="zh-CN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DDD0F5A-19E6-2CB3-10BA-1F74F521BAC2}"/>
              </a:ext>
            </a:extLst>
          </p:cNvPr>
          <p:cNvSpPr txBox="1"/>
          <p:nvPr/>
        </p:nvSpPr>
        <p:spPr>
          <a:xfrm>
            <a:off x="2630425" y="4763266"/>
            <a:ext cx="931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实线距离</a:t>
            </a:r>
            <a:endParaRPr kumimoji="1" lang="zh-CN" altLang="zh-CN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5944BCF-A401-91D0-37DB-0EE457FCCB13}"/>
              </a:ext>
            </a:extLst>
          </p:cNvPr>
          <p:cNvSpPr txBox="1"/>
          <p:nvPr/>
        </p:nvSpPr>
        <p:spPr>
          <a:xfrm>
            <a:off x="3972952" y="4763266"/>
            <a:ext cx="931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路口数量</a:t>
            </a:r>
            <a:endParaRPr kumimoji="1" lang="zh-CN" altLang="zh-CN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E002A764-B636-F505-538B-90D48DE52F4D}"/>
              </a:ext>
            </a:extLst>
          </p:cNvPr>
          <p:cNvSpPr txBox="1"/>
          <p:nvPr/>
        </p:nvSpPr>
        <p:spPr>
          <a:xfrm>
            <a:off x="888779" y="5284293"/>
            <a:ext cx="149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完成度</a:t>
            </a:r>
            <a:endParaRPr kumimoji="1" lang="zh-CN" altLang="zh-CN" b="1" dirty="0">
              <a:solidFill>
                <a:srgbClr val="FF7F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C82C3A8-2EFB-26C0-B340-BDC8CC864277}"/>
              </a:ext>
            </a:extLst>
          </p:cNvPr>
          <p:cNvSpPr txBox="1"/>
          <p:nvPr/>
        </p:nvSpPr>
        <p:spPr>
          <a:xfrm>
            <a:off x="1220495" y="5773998"/>
            <a:ext cx="3996338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完成线上 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issue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修复，增强路线选择的可解释性，为下游提供可靠信息</a:t>
            </a:r>
            <a:endParaRPr kumimoji="1" lang="zh-CN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41E292F-30F6-46E9-FFC1-092E9F6D94B0}"/>
              </a:ext>
            </a:extLst>
          </p:cNvPr>
          <p:cNvSpPr txBox="1"/>
          <p:nvPr/>
        </p:nvSpPr>
        <p:spPr>
          <a:xfrm>
            <a:off x="6584659" y="3016138"/>
            <a:ext cx="149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我的职责</a:t>
            </a:r>
            <a:endParaRPr kumimoji="1" lang="zh-CN" altLang="zh-CN" b="1" dirty="0">
              <a:solidFill>
                <a:srgbClr val="FF7F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78C94D5B-CB3D-9026-9BF2-7F8845BCB9F2}"/>
              </a:ext>
            </a:extLst>
          </p:cNvPr>
          <p:cNvSpPr/>
          <p:nvPr/>
        </p:nvSpPr>
        <p:spPr>
          <a:xfrm>
            <a:off x="6961061" y="3545255"/>
            <a:ext cx="304026" cy="30402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7662B65A-0498-6D56-2FDC-374A01720718}"/>
              </a:ext>
            </a:extLst>
          </p:cNvPr>
          <p:cNvSpPr/>
          <p:nvPr/>
        </p:nvSpPr>
        <p:spPr>
          <a:xfrm>
            <a:off x="8589526" y="3545255"/>
            <a:ext cx="304026" cy="30402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6BBC5797-4648-481A-2AF4-0CE85324A029}"/>
              </a:ext>
            </a:extLst>
          </p:cNvPr>
          <p:cNvSpPr/>
          <p:nvPr/>
        </p:nvSpPr>
        <p:spPr>
          <a:xfrm>
            <a:off x="10217991" y="3545255"/>
            <a:ext cx="304026" cy="304026"/>
          </a:xfrm>
          <a:prstGeom prst="ellipse">
            <a:avLst/>
          </a:prstGeom>
          <a:solidFill>
            <a:srgbClr val="FF7F4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DD8B7900-E074-0274-B272-6BC8B320678A}"/>
              </a:ext>
            </a:extLst>
          </p:cNvPr>
          <p:cNvSpPr/>
          <p:nvPr/>
        </p:nvSpPr>
        <p:spPr>
          <a:xfrm>
            <a:off x="7741113" y="3545255"/>
            <a:ext cx="304026" cy="30402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52468C49-0F2D-65D6-75F0-6874CFF04539}"/>
              </a:ext>
            </a:extLst>
          </p:cNvPr>
          <p:cNvSpPr/>
          <p:nvPr/>
        </p:nvSpPr>
        <p:spPr>
          <a:xfrm>
            <a:off x="9403758" y="3545255"/>
            <a:ext cx="304026" cy="30402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0739C14B-7737-FCD9-3687-97BB818BB6DD}"/>
              </a:ext>
            </a:extLst>
          </p:cNvPr>
          <p:cNvCxnSpPr>
            <a:cxnSpLocks/>
            <a:stCxn id="67" idx="6"/>
            <a:endCxn id="70" idx="2"/>
          </p:cNvCxnSpPr>
          <p:nvPr/>
        </p:nvCxnSpPr>
        <p:spPr>
          <a:xfrm>
            <a:off x="7265087" y="3697268"/>
            <a:ext cx="476026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50AD0C62-B482-56E3-5008-1776BD54A358}"/>
              </a:ext>
            </a:extLst>
          </p:cNvPr>
          <p:cNvCxnSpPr>
            <a:cxnSpLocks/>
            <a:stCxn id="70" idx="6"/>
            <a:endCxn id="68" idx="2"/>
          </p:cNvCxnSpPr>
          <p:nvPr/>
        </p:nvCxnSpPr>
        <p:spPr>
          <a:xfrm>
            <a:off x="8045139" y="3697268"/>
            <a:ext cx="544387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18E1CFB6-4E1F-25C4-BD3D-F335A8CB931C}"/>
              </a:ext>
            </a:extLst>
          </p:cNvPr>
          <p:cNvCxnSpPr>
            <a:cxnSpLocks/>
            <a:stCxn id="68" idx="6"/>
            <a:endCxn id="71" idx="2"/>
          </p:cNvCxnSpPr>
          <p:nvPr/>
        </p:nvCxnSpPr>
        <p:spPr>
          <a:xfrm>
            <a:off x="8893552" y="3697268"/>
            <a:ext cx="510206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E7B2B827-6951-4F8F-20AC-D25730BF8D1D}"/>
              </a:ext>
            </a:extLst>
          </p:cNvPr>
          <p:cNvCxnSpPr>
            <a:cxnSpLocks/>
          </p:cNvCxnSpPr>
          <p:nvPr/>
        </p:nvCxnSpPr>
        <p:spPr>
          <a:xfrm>
            <a:off x="9707785" y="3697268"/>
            <a:ext cx="510206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648283B6-72DF-842C-59CE-F636E48B2DCA}"/>
              </a:ext>
            </a:extLst>
          </p:cNvPr>
          <p:cNvSpPr txBox="1"/>
          <p:nvPr/>
        </p:nvSpPr>
        <p:spPr>
          <a:xfrm>
            <a:off x="6647077" y="3903686"/>
            <a:ext cx="931993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现状分析</a:t>
            </a:r>
            <a:endParaRPr kumimoji="1" lang="zh-CN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13C2AD75-5CBD-915D-DBC9-0FB09ABC969F}"/>
              </a:ext>
            </a:extLst>
          </p:cNvPr>
          <p:cNvSpPr txBox="1"/>
          <p:nvPr/>
        </p:nvSpPr>
        <p:spPr>
          <a:xfrm>
            <a:off x="7424232" y="3903686"/>
            <a:ext cx="93199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外部调研</a:t>
            </a:r>
            <a:endParaRPr kumimoji="1" lang="zh-CN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2BA50400-E531-AF33-3CC2-FF8571BC9DB4}"/>
              </a:ext>
            </a:extLst>
          </p:cNvPr>
          <p:cNvSpPr txBox="1"/>
          <p:nvPr/>
        </p:nvSpPr>
        <p:spPr>
          <a:xfrm>
            <a:off x="8279212" y="3903686"/>
            <a:ext cx="93199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场景归纳</a:t>
            </a:r>
            <a:endParaRPr kumimoji="1" lang="zh-CN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8A1E01B9-3673-E074-9A25-9FF65D3108AD}"/>
              </a:ext>
            </a:extLst>
          </p:cNvPr>
          <p:cNvSpPr txBox="1"/>
          <p:nvPr/>
        </p:nvSpPr>
        <p:spPr>
          <a:xfrm>
            <a:off x="9089774" y="3903686"/>
            <a:ext cx="93199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方案设计</a:t>
            </a:r>
            <a:endParaRPr kumimoji="1" lang="zh-CN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A95D0B83-5A99-3DC2-66E8-79F9DED5960A}"/>
              </a:ext>
            </a:extLst>
          </p:cNvPr>
          <p:cNvSpPr txBox="1"/>
          <p:nvPr/>
        </p:nvSpPr>
        <p:spPr>
          <a:xfrm>
            <a:off x="9904007" y="3903686"/>
            <a:ext cx="93199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仿真验证</a:t>
            </a:r>
            <a:endParaRPr kumimoji="1" lang="zh-CN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9D24343C-1312-72F2-B8EE-5456C478F781}"/>
              </a:ext>
            </a:extLst>
          </p:cNvPr>
          <p:cNvSpPr txBox="1"/>
          <p:nvPr/>
        </p:nvSpPr>
        <p:spPr>
          <a:xfrm>
            <a:off x="6584659" y="4292132"/>
            <a:ext cx="149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核心输出</a:t>
            </a:r>
            <a:endParaRPr kumimoji="1" lang="zh-CN" altLang="zh-CN" b="1" dirty="0">
              <a:solidFill>
                <a:srgbClr val="FF7F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58722141-1EE9-B7E7-1A36-047135E32FCA}"/>
              </a:ext>
            </a:extLst>
          </p:cNvPr>
          <p:cNvSpPr/>
          <p:nvPr/>
        </p:nvSpPr>
        <p:spPr>
          <a:xfrm>
            <a:off x="6891210" y="4732489"/>
            <a:ext cx="998700" cy="369332"/>
          </a:xfrm>
          <a:prstGeom prst="roundRect">
            <a:avLst>
              <a:gd name="adj" fmla="val 50000"/>
            </a:avLst>
          </a:prstGeom>
          <a:solidFill>
            <a:srgbClr val="FF7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3" name="圆角矩形 82">
            <a:extLst>
              <a:ext uri="{FF2B5EF4-FFF2-40B4-BE49-F238E27FC236}">
                <a16:creationId xmlns:a16="http://schemas.microsoft.com/office/drawing/2014/main" id="{B964BC84-EDE4-E05E-2635-6BF35A428600}"/>
              </a:ext>
            </a:extLst>
          </p:cNvPr>
          <p:cNvSpPr/>
          <p:nvPr/>
        </p:nvSpPr>
        <p:spPr>
          <a:xfrm>
            <a:off x="8223490" y="4732489"/>
            <a:ext cx="998700" cy="369332"/>
          </a:xfrm>
          <a:prstGeom prst="roundRect">
            <a:avLst>
              <a:gd name="adj" fmla="val 50000"/>
            </a:avLst>
          </a:prstGeom>
          <a:solidFill>
            <a:srgbClr val="FF7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圆角矩形 83">
            <a:extLst>
              <a:ext uri="{FF2B5EF4-FFF2-40B4-BE49-F238E27FC236}">
                <a16:creationId xmlns:a16="http://schemas.microsoft.com/office/drawing/2014/main" id="{BD0E1197-7544-0219-89F5-E2571611E7E3}"/>
              </a:ext>
            </a:extLst>
          </p:cNvPr>
          <p:cNvSpPr/>
          <p:nvPr/>
        </p:nvSpPr>
        <p:spPr>
          <a:xfrm>
            <a:off x="9555770" y="4732489"/>
            <a:ext cx="998700" cy="369332"/>
          </a:xfrm>
          <a:prstGeom prst="roundRect">
            <a:avLst>
              <a:gd name="adj" fmla="val 50000"/>
            </a:avLst>
          </a:prstGeom>
          <a:solidFill>
            <a:srgbClr val="FF7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02B7D9A0-AF81-6861-D1AE-053ED795D341}"/>
              </a:ext>
            </a:extLst>
          </p:cNvPr>
          <p:cNvSpPr txBox="1"/>
          <p:nvPr/>
        </p:nvSpPr>
        <p:spPr>
          <a:xfrm>
            <a:off x="6924563" y="4763266"/>
            <a:ext cx="931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风险场景</a:t>
            </a:r>
            <a:endParaRPr kumimoji="1" lang="zh-CN" altLang="zh-CN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60687820-3EBD-7C1B-7A7C-CC2AB657B47D}"/>
              </a:ext>
            </a:extLst>
          </p:cNvPr>
          <p:cNvSpPr txBox="1"/>
          <p:nvPr/>
        </p:nvSpPr>
        <p:spPr>
          <a:xfrm>
            <a:off x="8249592" y="4763266"/>
            <a:ext cx="931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安全边界</a:t>
            </a:r>
            <a:endParaRPr kumimoji="1" lang="zh-CN" altLang="zh-CN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329E2139-7569-536B-C736-B12E25D95B7F}"/>
              </a:ext>
            </a:extLst>
          </p:cNvPr>
          <p:cNvSpPr txBox="1"/>
          <p:nvPr/>
        </p:nvSpPr>
        <p:spPr>
          <a:xfrm>
            <a:off x="9592119" y="4763266"/>
            <a:ext cx="931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校验方案</a:t>
            </a:r>
            <a:endParaRPr kumimoji="1" lang="zh-CN" altLang="zh-CN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79CC0AE0-EE6C-DC5C-4A89-18F887663DD6}"/>
              </a:ext>
            </a:extLst>
          </p:cNvPr>
          <p:cNvSpPr txBox="1"/>
          <p:nvPr/>
        </p:nvSpPr>
        <p:spPr>
          <a:xfrm>
            <a:off x="6507946" y="5284293"/>
            <a:ext cx="149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完成度</a:t>
            </a:r>
            <a:endParaRPr kumimoji="1" lang="zh-CN" altLang="zh-CN" b="1" dirty="0">
              <a:solidFill>
                <a:srgbClr val="FF7F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00730B7C-9002-CC92-AE68-036D6E4F1BEC}"/>
              </a:ext>
            </a:extLst>
          </p:cNvPr>
          <p:cNvSpPr txBox="1"/>
          <p:nvPr/>
        </p:nvSpPr>
        <p:spPr>
          <a:xfrm>
            <a:off x="6647077" y="5773998"/>
            <a:ext cx="3996338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初步形成一套新的路线安全性校验方法链路</a:t>
            </a:r>
            <a:endParaRPr kumimoji="1" lang="zh-CN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1" name="图形 90">
            <a:extLst>
              <a:ext uri="{FF2B5EF4-FFF2-40B4-BE49-F238E27FC236}">
                <a16:creationId xmlns:a16="http://schemas.microsoft.com/office/drawing/2014/main" id="{48A95C6B-5959-06FD-63F9-8E69E0CAA4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7780" y="3581747"/>
            <a:ext cx="246114" cy="246114"/>
          </a:xfrm>
          <a:prstGeom prst="rect">
            <a:avLst/>
          </a:prstGeom>
        </p:spPr>
      </p:pic>
      <p:pic>
        <p:nvPicPr>
          <p:cNvPr id="95" name="图形 94">
            <a:extLst>
              <a:ext uri="{FF2B5EF4-FFF2-40B4-BE49-F238E27FC236}">
                <a16:creationId xmlns:a16="http://schemas.microsoft.com/office/drawing/2014/main" id="{A4AEB4CD-11EB-7774-50AA-25B2A0E214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46946" y="3581747"/>
            <a:ext cx="246114" cy="246114"/>
          </a:xfrm>
          <a:prstGeom prst="rect">
            <a:avLst/>
          </a:prstGeom>
        </p:spPr>
      </p:pic>
      <p:sp>
        <p:nvSpPr>
          <p:cNvPr id="97" name="灯片编号占位符 96">
            <a:extLst>
              <a:ext uri="{FF2B5EF4-FFF2-40B4-BE49-F238E27FC236}">
                <a16:creationId xmlns:a16="http://schemas.microsoft.com/office/drawing/2014/main" id="{0C8B5390-2F8A-30F8-5130-946E3BAFF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D6745-9EBB-A044-B42C-0E6AD00F43E4}" type="slidenum">
              <a:rPr kumimoji="1" lang="zh-CN" altLang="en-US" sz="1600" b="1" smtClean="0"/>
              <a:pPr/>
              <a:t>5</a:t>
            </a:fld>
            <a:r>
              <a:rPr kumimoji="1" lang="zh-CN" altLang="en-US" sz="1400"/>
              <a:t> </a:t>
            </a:r>
            <a:r>
              <a:rPr kumimoji="1" lang="en-US" altLang="zh-CN"/>
              <a:t>/</a:t>
            </a:r>
            <a:r>
              <a:rPr kumimoji="1" lang="zh-CN" altLang="en-US"/>
              <a:t> </a:t>
            </a:r>
            <a:r>
              <a:rPr kumimoji="1" lang="en-US" altLang="zh-CN"/>
              <a:t>15</a:t>
            </a:r>
            <a:endParaRPr kumimoji="1"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055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555"/>
    </mc:Choice>
    <mc:Fallback>
      <p:transition spd="slow" advTm="485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6" grpId="0" animBg="1"/>
      <p:bldP spid="27" grpId="0" animBg="1"/>
      <p:bldP spid="30" grpId="0"/>
      <p:bldP spid="31" grpId="0" animBg="1"/>
      <p:bldP spid="33" grpId="0" animBg="1"/>
      <p:bldP spid="35" grpId="0" animBg="1"/>
      <p:bldP spid="36" grpId="0" animBg="1"/>
      <p:bldP spid="37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/>
      <p:bldP spid="56" grpId="0" animBg="1"/>
      <p:bldP spid="57" grpId="0" animBg="1"/>
      <p:bldP spid="58" grpId="0" animBg="1"/>
      <p:bldP spid="59" grpId="0"/>
      <p:bldP spid="61" grpId="0"/>
      <p:bldP spid="62" grpId="0"/>
      <p:bldP spid="63" grpId="0"/>
      <p:bldP spid="64" grpId="0" animBg="1"/>
      <p:bldP spid="66" grpId="0"/>
      <p:bldP spid="67" grpId="0" animBg="1"/>
      <p:bldP spid="68" grpId="0" animBg="1"/>
      <p:bldP spid="69" grpId="0" animBg="1"/>
      <p:bldP spid="70" grpId="0" animBg="1"/>
      <p:bldP spid="71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/>
      <p:bldP spid="82" grpId="0" animBg="1"/>
      <p:bldP spid="83" grpId="0" animBg="1"/>
      <p:bldP spid="84" grpId="0" animBg="1"/>
      <p:bldP spid="85" grpId="0"/>
      <p:bldP spid="86" grpId="0"/>
      <p:bldP spid="87" grpId="0"/>
      <p:bldP spid="88" grpId="0"/>
      <p:bldP spid="8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0BB4B-305D-4FF7-496C-3988BC828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7803F71-153A-EB2E-28DA-FF26872D72D8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30DDE3-FD5B-982C-3EAE-D56D2B175007}"/>
              </a:ext>
            </a:extLst>
          </p:cNvPr>
          <p:cNvSpPr txBox="1"/>
          <p:nvPr/>
        </p:nvSpPr>
        <p:spPr>
          <a:xfrm>
            <a:off x="335178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个人简介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CA552B8D-BBF4-6A6B-5513-8F2F8B2A027A}"/>
              </a:ext>
            </a:extLst>
          </p:cNvPr>
          <p:cNvCxnSpPr>
            <a:cxnSpLocks/>
          </p:cNvCxnSpPr>
          <p:nvPr/>
        </p:nvCxnSpPr>
        <p:spPr>
          <a:xfrm>
            <a:off x="5285970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C9288DA-CAF7-91BF-9E5F-E44BE2AEC50C}"/>
              </a:ext>
            </a:extLst>
          </p:cNvPr>
          <p:cNvSpPr txBox="1"/>
          <p:nvPr/>
        </p:nvSpPr>
        <p:spPr>
          <a:xfrm>
            <a:off x="5462810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工作汇报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6940527A-C491-57E3-5B7E-273AB4B67397}"/>
              </a:ext>
            </a:extLst>
          </p:cNvPr>
          <p:cNvCxnSpPr>
            <a:cxnSpLocks/>
          </p:cNvCxnSpPr>
          <p:nvPr/>
        </p:nvCxnSpPr>
        <p:spPr>
          <a:xfrm>
            <a:off x="739699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2D19C39-8D87-E70D-0AA1-CC13F7B2D76C}"/>
              </a:ext>
            </a:extLst>
          </p:cNvPr>
          <p:cNvSpPr txBox="1"/>
          <p:nvPr/>
        </p:nvSpPr>
        <p:spPr>
          <a:xfrm>
            <a:off x="7621608" y="178398"/>
            <a:ext cx="202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成长与总结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39328D09-A53D-D450-9D41-55393DFDC5B5}"/>
              </a:ext>
            </a:extLst>
          </p:cNvPr>
          <p:cNvCxnSpPr>
            <a:cxnSpLocks/>
          </p:cNvCxnSpPr>
          <p:nvPr/>
        </p:nvCxnSpPr>
        <p:spPr>
          <a:xfrm>
            <a:off x="9885219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1BD081D6-BE00-8785-29EC-554A11A74E04}"/>
              </a:ext>
            </a:extLst>
          </p:cNvPr>
          <p:cNvSpPr txBox="1"/>
          <p:nvPr/>
        </p:nvSpPr>
        <p:spPr>
          <a:xfrm>
            <a:off x="1008181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未来规划</a:t>
            </a: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5BB25B52-283A-6529-E2E1-8E3E71635AE3}"/>
              </a:ext>
            </a:extLst>
          </p:cNvPr>
          <p:cNvCxnSpPr>
            <a:cxnSpLocks/>
          </p:cNvCxnSpPr>
          <p:nvPr/>
        </p:nvCxnSpPr>
        <p:spPr>
          <a:xfrm>
            <a:off x="5594030" y="781088"/>
            <a:ext cx="1519415" cy="0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A5C1BF62-1209-7D28-31B5-FE6E2F0FCEC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144"/>
          <a:stretch>
            <a:fillRect/>
          </a:stretch>
        </p:blipFill>
        <p:spPr>
          <a:xfrm>
            <a:off x="160315" y="93820"/>
            <a:ext cx="2180279" cy="69237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6913A71B-A9D0-924E-4269-AB6E2765096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72033"/>
          <a:stretch>
            <a:fillRect/>
          </a:stretch>
        </p:blipFill>
        <p:spPr>
          <a:xfrm>
            <a:off x="5140528" y="5187660"/>
            <a:ext cx="4027797" cy="1420438"/>
          </a:xfrm>
          <a:prstGeom prst="rect">
            <a:avLst/>
          </a:prstGeom>
        </p:spPr>
      </p:pic>
      <p:sp>
        <p:nvSpPr>
          <p:cNvPr id="23" name="圆角矩形 22">
            <a:extLst>
              <a:ext uri="{FF2B5EF4-FFF2-40B4-BE49-F238E27FC236}">
                <a16:creationId xmlns:a16="http://schemas.microsoft.com/office/drawing/2014/main" id="{5E5D62D2-8EF1-445F-7962-2A752C5F6589}"/>
              </a:ext>
            </a:extLst>
          </p:cNvPr>
          <p:cNvSpPr/>
          <p:nvPr/>
        </p:nvSpPr>
        <p:spPr>
          <a:xfrm>
            <a:off x="5396319" y="2699443"/>
            <a:ext cx="1457444" cy="610631"/>
          </a:xfrm>
          <a:prstGeom prst="round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5FDEAAE7-6554-3F38-1833-B1B9FAF7BF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041" y="2640611"/>
            <a:ext cx="4632460" cy="3967487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88C97BCA-DD83-C355-2D1A-18134FC21E95}"/>
              </a:ext>
            </a:extLst>
          </p:cNvPr>
          <p:cNvSpPr txBox="1"/>
          <p:nvPr/>
        </p:nvSpPr>
        <p:spPr>
          <a:xfrm>
            <a:off x="5347187" y="2725300"/>
            <a:ext cx="1617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EnterSection</a:t>
            </a:r>
          </a:p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横向计算</a:t>
            </a:r>
            <a:endParaRPr kumimoji="1" lang="zh-C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BE4E9828-E9D3-8F9F-B9C6-AE5D883B5881}"/>
              </a:ext>
            </a:extLst>
          </p:cNvPr>
          <p:cNvSpPr/>
          <p:nvPr/>
        </p:nvSpPr>
        <p:spPr>
          <a:xfrm>
            <a:off x="7459592" y="2699443"/>
            <a:ext cx="2328574" cy="610631"/>
          </a:xfrm>
          <a:prstGeom prst="round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1F7367E-6E09-6357-DB8F-EB24F1620132}"/>
              </a:ext>
            </a:extLst>
          </p:cNvPr>
          <p:cNvSpPr txBox="1"/>
          <p:nvPr/>
        </p:nvSpPr>
        <p:spPr>
          <a:xfrm>
            <a:off x="7488516" y="2725300"/>
            <a:ext cx="23777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上游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Section</a:t>
            </a:r>
          </a:p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继承后继车道（较小值）</a:t>
            </a:r>
            <a:endParaRPr kumimoji="1" lang="zh-C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右箭头 29">
            <a:extLst>
              <a:ext uri="{FF2B5EF4-FFF2-40B4-BE49-F238E27FC236}">
                <a16:creationId xmlns:a16="http://schemas.microsoft.com/office/drawing/2014/main" id="{9722EF11-CEFB-F2B8-FC7F-A9B5CC1B8CBD}"/>
              </a:ext>
            </a:extLst>
          </p:cNvPr>
          <p:cNvSpPr/>
          <p:nvPr/>
        </p:nvSpPr>
        <p:spPr>
          <a:xfrm>
            <a:off x="7001295" y="2913318"/>
            <a:ext cx="343286" cy="18288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560E6D03-23CD-170B-7705-F127B6457DEC}"/>
              </a:ext>
            </a:extLst>
          </p:cNvPr>
          <p:cNvSpPr/>
          <p:nvPr/>
        </p:nvSpPr>
        <p:spPr>
          <a:xfrm>
            <a:off x="10389874" y="2699443"/>
            <a:ext cx="1421761" cy="610631"/>
          </a:xfrm>
          <a:prstGeom prst="roundRect">
            <a:avLst/>
          </a:prstGeom>
          <a:noFill/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2B4E11F-EFF6-1FF2-59EB-954BE3D4A047}"/>
              </a:ext>
            </a:extLst>
          </p:cNvPr>
          <p:cNvSpPr txBox="1"/>
          <p:nvPr/>
        </p:nvSpPr>
        <p:spPr>
          <a:xfrm>
            <a:off x="10393398" y="2725300"/>
            <a:ext cx="1451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后处理策略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横向拓扑计算</a:t>
            </a:r>
            <a:endParaRPr kumimoji="1" lang="zh-C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右箭头 32">
            <a:extLst>
              <a:ext uri="{FF2B5EF4-FFF2-40B4-BE49-F238E27FC236}">
                <a16:creationId xmlns:a16="http://schemas.microsoft.com/office/drawing/2014/main" id="{43459A4E-AFC9-19B6-C31E-A33282EE43B4}"/>
              </a:ext>
            </a:extLst>
          </p:cNvPr>
          <p:cNvSpPr/>
          <p:nvPr/>
        </p:nvSpPr>
        <p:spPr>
          <a:xfrm>
            <a:off x="9941062" y="2913318"/>
            <a:ext cx="341831" cy="182880"/>
          </a:xfrm>
          <a:prstGeom prst="rightArrow">
            <a:avLst/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平行四边形 33">
            <a:extLst>
              <a:ext uri="{FF2B5EF4-FFF2-40B4-BE49-F238E27FC236}">
                <a16:creationId xmlns:a16="http://schemas.microsoft.com/office/drawing/2014/main" id="{90111ED2-9D2A-D834-9EDA-C4F1482FBE19}"/>
              </a:ext>
            </a:extLst>
          </p:cNvPr>
          <p:cNvSpPr/>
          <p:nvPr/>
        </p:nvSpPr>
        <p:spPr>
          <a:xfrm>
            <a:off x="5285970" y="3623681"/>
            <a:ext cx="1592221" cy="584774"/>
          </a:xfrm>
          <a:prstGeom prst="parallelogram">
            <a:avLst/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EBCDF29-B368-3C0C-7DE8-1410C40BE15E}"/>
              </a:ext>
            </a:extLst>
          </p:cNvPr>
          <p:cNvSpPr txBox="1"/>
          <p:nvPr/>
        </p:nvSpPr>
        <p:spPr>
          <a:xfrm>
            <a:off x="5260514" y="3723120"/>
            <a:ext cx="161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面临问题</a:t>
            </a:r>
            <a:endParaRPr kumimoji="1" lang="zh-CN" altLang="zh-CN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72C9146-2458-27CB-9169-E7D0E8D3AB4A}"/>
              </a:ext>
            </a:extLst>
          </p:cNvPr>
          <p:cNvSpPr txBox="1"/>
          <p:nvPr/>
        </p:nvSpPr>
        <p:spPr>
          <a:xfrm>
            <a:off x="7142586" y="3745818"/>
            <a:ext cx="4320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其它字段的正确结果也由反向传播继承得来</a:t>
            </a:r>
            <a:endParaRPr kumimoji="1" lang="zh-C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1A4F08D-7E7C-DC5C-8997-672C60733723}"/>
              </a:ext>
            </a:extLst>
          </p:cNvPr>
          <p:cNvSpPr/>
          <p:nvPr/>
        </p:nvSpPr>
        <p:spPr>
          <a:xfrm>
            <a:off x="9393414" y="5187660"/>
            <a:ext cx="2616441" cy="1420438"/>
          </a:xfrm>
          <a:prstGeom prst="rect">
            <a:avLst/>
          </a:prstGeom>
          <a:noFill/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D4BB8BB-AF13-53EB-8912-28088C362F49}"/>
              </a:ext>
            </a:extLst>
          </p:cNvPr>
          <p:cNvSpPr txBox="1"/>
          <p:nvPr/>
        </p:nvSpPr>
        <p:spPr>
          <a:xfrm>
            <a:off x="10067892" y="5300468"/>
            <a:ext cx="1267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总结反思</a:t>
            </a:r>
            <a:endParaRPr kumimoji="1" lang="zh-CN" altLang="zh-CN" sz="1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A196120-F035-9073-6285-92F575D5346F}"/>
              </a:ext>
            </a:extLst>
          </p:cNvPr>
          <p:cNvSpPr txBox="1"/>
          <p:nvPr/>
        </p:nvSpPr>
        <p:spPr>
          <a:xfrm>
            <a:off x="9393414" y="5654155"/>
            <a:ext cx="2616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解决问题的时候不能只看眼前，在方案阶段就要考虑到与其他模块的联系</a:t>
            </a:r>
            <a:endParaRPr kumimoji="1" lang="zh-C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9990C37-178E-70FD-F789-8E298D4BBE71}"/>
              </a:ext>
            </a:extLst>
          </p:cNvPr>
          <p:cNvSpPr/>
          <p:nvPr/>
        </p:nvSpPr>
        <p:spPr>
          <a:xfrm>
            <a:off x="6695326" y="3627458"/>
            <a:ext cx="5032076" cy="580997"/>
          </a:xfrm>
          <a:prstGeom prst="rect">
            <a:avLst/>
          </a:prstGeom>
          <a:noFill/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平行四边形 40">
            <a:extLst>
              <a:ext uri="{FF2B5EF4-FFF2-40B4-BE49-F238E27FC236}">
                <a16:creationId xmlns:a16="http://schemas.microsoft.com/office/drawing/2014/main" id="{76CEB600-D3F1-01B2-3B64-670DB2B8546F}"/>
              </a:ext>
            </a:extLst>
          </p:cNvPr>
          <p:cNvSpPr/>
          <p:nvPr/>
        </p:nvSpPr>
        <p:spPr>
          <a:xfrm>
            <a:off x="5285970" y="4397540"/>
            <a:ext cx="1592221" cy="584774"/>
          </a:xfrm>
          <a:prstGeom prst="parallelogram">
            <a:avLst/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8C630D0-9CEA-52B7-4E96-1E971E8FED89}"/>
              </a:ext>
            </a:extLst>
          </p:cNvPr>
          <p:cNvSpPr txBox="1"/>
          <p:nvPr/>
        </p:nvSpPr>
        <p:spPr>
          <a:xfrm>
            <a:off x="5260514" y="4496979"/>
            <a:ext cx="161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解决思路</a:t>
            </a:r>
            <a:endParaRPr kumimoji="1" lang="zh-CN" altLang="zh-CN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3C5C587-9E6F-FE37-C4A1-915EB8CC454F}"/>
              </a:ext>
            </a:extLst>
          </p:cNvPr>
          <p:cNvSpPr txBox="1"/>
          <p:nvPr/>
        </p:nvSpPr>
        <p:spPr>
          <a:xfrm>
            <a:off x="7059426" y="4520393"/>
            <a:ext cx="1938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重构现有逻辑</a:t>
            </a:r>
            <a:endParaRPr kumimoji="1" lang="zh-C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CDE8074-D5FF-34B9-0C7D-F8E2AFF7F9E9}"/>
              </a:ext>
            </a:extLst>
          </p:cNvPr>
          <p:cNvSpPr/>
          <p:nvPr/>
        </p:nvSpPr>
        <p:spPr>
          <a:xfrm>
            <a:off x="6695326" y="4401317"/>
            <a:ext cx="5032076" cy="580997"/>
          </a:xfrm>
          <a:prstGeom prst="rect">
            <a:avLst/>
          </a:prstGeom>
          <a:noFill/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C8D3D0A-EEB9-B61D-47EC-BFE8FC0C4F3A}"/>
              </a:ext>
            </a:extLst>
          </p:cNvPr>
          <p:cNvSpPr txBox="1"/>
          <p:nvPr/>
        </p:nvSpPr>
        <p:spPr>
          <a:xfrm>
            <a:off x="9393414" y="4520393"/>
            <a:ext cx="1938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增量后处理修正</a:t>
            </a:r>
            <a:endParaRPr kumimoji="1" lang="zh-C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右箭头 45">
            <a:extLst>
              <a:ext uri="{FF2B5EF4-FFF2-40B4-BE49-F238E27FC236}">
                <a16:creationId xmlns:a16="http://schemas.microsoft.com/office/drawing/2014/main" id="{3D4803F5-A044-7C6A-E19A-C98F15B09A2E}"/>
              </a:ext>
            </a:extLst>
          </p:cNvPr>
          <p:cNvSpPr/>
          <p:nvPr/>
        </p:nvSpPr>
        <p:spPr>
          <a:xfrm>
            <a:off x="8894590" y="4598230"/>
            <a:ext cx="54747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ECD315B0-3A24-BD2A-A74D-9337C7C67745}"/>
              </a:ext>
            </a:extLst>
          </p:cNvPr>
          <p:cNvSpPr/>
          <p:nvPr/>
        </p:nvSpPr>
        <p:spPr>
          <a:xfrm>
            <a:off x="273040" y="1660565"/>
            <a:ext cx="2725837" cy="791191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9B3B7DF7-784A-0FB0-EF2E-3E6072A5C54F}"/>
              </a:ext>
            </a:extLst>
          </p:cNvPr>
          <p:cNvSpPr/>
          <p:nvPr/>
        </p:nvSpPr>
        <p:spPr>
          <a:xfrm>
            <a:off x="273040" y="1660565"/>
            <a:ext cx="375749" cy="791191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2C4D843-D7F4-60E1-DA48-E9909F9B1425}"/>
              </a:ext>
            </a:extLst>
          </p:cNvPr>
          <p:cNvSpPr txBox="1"/>
          <p:nvPr/>
        </p:nvSpPr>
        <p:spPr>
          <a:xfrm>
            <a:off x="204741" y="1708017"/>
            <a:ext cx="512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背景</a:t>
            </a:r>
            <a:endParaRPr kumimoji="1" lang="zh-CN" altLang="zh-CN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7806503-FD30-E45A-0A60-48FA42BE1ACB}"/>
              </a:ext>
            </a:extLst>
          </p:cNvPr>
          <p:cNvSpPr txBox="1"/>
          <p:nvPr/>
        </p:nvSpPr>
        <p:spPr>
          <a:xfrm>
            <a:off x="795125" y="1728989"/>
            <a:ext cx="2249954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下游决策依赖于可靠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的路线可解释性信息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60BBFE6B-B4E2-5253-E043-21AED3803B6A}"/>
              </a:ext>
            </a:extLst>
          </p:cNvPr>
          <p:cNvSpPr/>
          <p:nvPr/>
        </p:nvSpPr>
        <p:spPr>
          <a:xfrm>
            <a:off x="4093814" y="1639151"/>
            <a:ext cx="3554121" cy="791191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B17CC71A-16A0-A483-0482-18B96C9EAF54}"/>
              </a:ext>
            </a:extLst>
          </p:cNvPr>
          <p:cNvSpPr/>
          <p:nvPr/>
        </p:nvSpPr>
        <p:spPr>
          <a:xfrm>
            <a:off x="3718065" y="1639151"/>
            <a:ext cx="375749" cy="791191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43B8FB7-09E9-597C-3D08-9290CDE3FEDC}"/>
              </a:ext>
            </a:extLst>
          </p:cNvPr>
          <p:cNvSpPr txBox="1"/>
          <p:nvPr/>
        </p:nvSpPr>
        <p:spPr>
          <a:xfrm>
            <a:off x="3649766" y="1686603"/>
            <a:ext cx="512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</a:t>
            </a:r>
            <a:endParaRPr kumimoji="1" lang="zh-CN" altLang="zh-CN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B41BE73-8BC9-08BD-2AB4-6A3F5CA4E349}"/>
              </a:ext>
            </a:extLst>
          </p:cNvPr>
          <p:cNvSpPr txBox="1"/>
          <p:nvPr/>
        </p:nvSpPr>
        <p:spPr>
          <a:xfrm>
            <a:off x="4194365" y="1720686"/>
            <a:ext cx="3322861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当前算法在特殊场景（例如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fork</a:t>
            </a:r>
          </a:p>
          <a:p>
            <a:pPr>
              <a:spcBef>
                <a:spcPts val="600"/>
              </a:spcBef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lane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）会得到错误的</a:t>
            </a: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换道次数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结果</a:t>
            </a:r>
            <a:endParaRPr kumimoji="1" lang="zh-C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C7340053-942B-3E34-DB89-C0AE2668A418}"/>
              </a:ext>
            </a:extLst>
          </p:cNvPr>
          <p:cNvSpPr/>
          <p:nvPr/>
        </p:nvSpPr>
        <p:spPr>
          <a:xfrm>
            <a:off x="8612587" y="1660565"/>
            <a:ext cx="3132539" cy="791191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E1B5A9FA-6C3D-A569-0C56-6662E3C9988D}"/>
              </a:ext>
            </a:extLst>
          </p:cNvPr>
          <p:cNvSpPr/>
          <p:nvPr/>
        </p:nvSpPr>
        <p:spPr>
          <a:xfrm>
            <a:off x="8612587" y="1660565"/>
            <a:ext cx="375749" cy="791191"/>
          </a:xfrm>
          <a:prstGeom prst="roundRect">
            <a:avLst>
              <a:gd name="adj" fmla="val 0"/>
            </a:avLst>
          </a:prstGeom>
          <a:solidFill>
            <a:srgbClr val="FF7F42"/>
          </a:solidFill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A4B1D54-5F62-780D-3893-4DB8973005E0}"/>
              </a:ext>
            </a:extLst>
          </p:cNvPr>
          <p:cNvSpPr txBox="1"/>
          <p:nvPr/>
        </p:nvSpPr>
        <p:spPr>
          <a:xfrm>
            <a:off x="8544288" y="1708017"/>
            <a:ext cx="512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</a:t>
            </a:r>
            <a:endParaRPr kumimoji="1" lang="zh-CN" altLang="zh-CN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9B2BCA44-202D-9A21-97E9-346B218535E0}"/>
              </a:ext>
            </a:extLst>
          </p:cNvPr>
          <p:cNvSpPr txBox="1"/>
          <p:nvPr/>
        </p:nvSpPr>
        <p:spPr>
          <a:xfrm>
            <a:off x="9072522" y="1731371"/>
            <a:ext cx="2740903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优化计算逻辑，使下游获得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更可靠的路线引导信息。</a:t>
            </a:r>
            <a:endParaRPr kumimoji="1" lang="zh-C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十字形 59">
            <a:extLst>
              <a:ext uri="{FF2B5EF4-FFF2-40B4-BE49-F238E27FC236}">
                <a16:creationId xmlns:a16="http://schemas.microsoft.com/office/drawing/2014/main" id="{FE9BDE42-EDBF-F76E-31A6-EF5421A2B5B8}"/>
              </a:ext>
            </a:extLst>
          </p:cNvPr>
          <p:cNvSpPr/>
          <p:nvPr/>
        </p:nvSpPr>
        <p:spPr>
          <a:xfrm>
            <a:off x="3177514" y="1861071"/>
            <a:ext cx="348548" cy="348548"/>
          </a:xfrm>
          <a:prstGeom prst="plus">
            <a:avLst>
              <a:gd name="adj" fmla="val 39727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右箭头 60">
            <a:extLst>
              <a:ext uri="{FF2B5EF4-FFF2-40B4-BE49-F238E27FC236}">
                <a16:creationId xmlns:a16="http://schemas.microsoft.com/office/drawing/2014/main" id="{BDACA9CF-225A-661D-F049-94DD6857BDF6}"/>
              </a:ext>
            </a:extLst>
          </p:cNvPr>
          <p:cNvSpPr/>
          <p:nvPr/>
        </p:nvSpPr>
        <p:spPr>
          <a:xfrm>
            <a:off x="7858407" y="1921847"/>
            <a:ext cx="616576" cy="263223"/>
          </a:xfrm>
          <a:prstGeom prst="rightArrow">
            <a:avLst/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D6C90276-75A3-3D2F-80B0-32F5EF4A66A7}"/>
              </a:ext>
            </a:extLst>
          </p:cNvPr>
          <p:cNvSpPr/>
          <p:nvPr/>
        </p:nvSpPr>
        <p:spPr>
          <a:xfrm>
            <a:off x="10389874" y="2699442"/>
            <a:ext cx="1421761" cy="610631"/>
          </a:xfrm>
          <a:prstGeom prst="roundRect">
            <a:avLst/>
          </a:prstGeom>
          <a:noFill/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C6FB7FD-1D65-0C55-A662-04C24DF4888D}"/>
              </a:ext>
            </a:extLst>
          </p:cNvPr>
          <p:cNvSpPr txBox="1"/>
          <p:nvPr/>
        </p:nvSpPr>
        <p:spPr>
          <a:xfrm>
            <a:off x="10393398" y="2725299"/>
            <a:ext cx="1451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修改反向传播字段逻辑</a:t>
            </a:r>
            <a:endParaRPr kumimoji="1" lang="zh-C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右箭头 63">
            <a:extLst>
              <a:ext uri="{FF2B5EF4-FFF2-40B4-BE49-F238E27FC236}">
                <a16:creationId xmlns:a16="http://schemas.microsoft.com/office/drawing/2014/main" id="{935C5370-8214-7D8D-DB31-34D321493BDC}"/>
              </a:ext>
            </a:extLst>
          </p:cNvPr>
          <p:cNvSpPr/>
          <p:nvPr/>
        </p:nvSpPr>
        <p:spPr>
          <a:xfrm>
            <a:off x="9941062" y="2913317"/>
            <a:ext cx="341831" cy="182880"/>
          </a:xfrm>
          <a:prstGeom prst="rightArrow">
            <a:avLst/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5" name="道路车道汇流动画">
            <a:hlinkClick r:id="" action="ppaction://media"/>
            <a:extLst>
              <a:ext uri="{FF2B5EF4-FFF2-40B4-BE49-F238E27FC236}">
                <a16:creationId xmlns:a16="http://schemas.microsoft.com/office/drawing/2014/main" id="{5657C602-70B5-D2A3-A8B0-0EE06308AE8D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756926" y="5145761"/>
            <a:ext cx="5751217" cy="1520178"/>
          </a:xfrm>
          <a:prstGeom prst="rect">
            <a:avLst/>
          </a:prstGeom>
        </p:spPr>
      </p:pic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89DC70BC-6599-3176-AE93-D173F6D35F66}"/>
              </a:ext>
            </a:extLst>
          </p:cNvPr>
          <p:cNvCxnSpPr>
            <a:cxnSpLocks/>
          </p:cNvCxnSpPr>
          <p:nvPr/>
        </p:nvCxnSpPr>
        <p:spPr>
          <a:xfrm>
            <a:off x="388341" y="1516378"/>
            <a:ext cx="606069" cy="0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F3A44A39-E225-2B90-D212-180CECAD28F4}"/>
              </a:ext>
            </a:extLst>
          </p:cNvPr>
          <p:cNvSpPr txBox="1"/>
          <p:nvPr/>
        </p:nvSpPr>
        <p:spPr>
          <a:xfrm>
            <a:off x="160315" y="1062105"/>
            <a:ext cx="718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全局路线可解释性优化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代表工作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换道次数计算逻辑修复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9585C9E8-F51F-3BF9-FBC0-725B26FE9921}"/>
              </a:ext>
            </a:extLst>
          </p:cNvPr>
          <p:cNvSpPr txBox="1"/>
          <p:nvPr/>
        </p:nvSpPr>
        <p:spPr>
          <a:xfrm>
            <a:off x="2126322" y="2913317"/>
            <a:ext cx="31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zh-CN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2791FE21-4062-FAB3-40CC-FBB0D1CDF6BF}"/>
              </a:ext>
            </a:extLst>
          </p:cNvPr>
          <p:cNvSpPr txBox="1"/>
          <p:nvPr/>
        </p:nvSpPr>
        <p:spPr>
          <a:xfrm>
            <a:off x="2006327" y="2913317"/>
            <a:ext cx="31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zh-CN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51F8AD92-4FCA-56DF-9F28-72FE4E826279}"/>
              </a:ext>
            </a:extLst>
          </p:cNvPr>
          <p:cNvSpPr txBox="1"/>
          <p:nvPr/>
        </p:nvSpPr>
        <p:spPr>
          <a:xfrm>
            <a:off x="1851751" y="2913317"/>
            <a:ext cx="31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kumimoji="1" lang="zh-CN" altLang="zh-CN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785F87DA-A60D-B98F-9CD1-75DEAB36A37C}"/>
              </a:ext>
            </a:extLst>
          </p:cNvPr>
          <p:cNvSpPr txBox="1"/>
          <p:nvPr/>
        </p:nvSpPr>
        <p:spPr>
          <a:xfrm>
            <a:off x="1705761" y="2913317"/>
            <a:ext cx="31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kumimoji="1" lang="zh-CN" altLang="zh-CN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3E27E963-11EE-5E28-57C6-B80B76DB4523}"/>
              </a:ext>
            </a:extLst>
          </p:cNvPr>
          <p:cNvSpPr txBox="1"/>
          <p:nvPr/>
        </p:nvSpPr>
        <p:spPr>
          <a:xfrm>
            <a:off x="1566669" y="2913317"/>
            <a:ext cx="31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kumimoji="1" lang="zh-CN" altLang="zh-CN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58F9BC74-136A-2CC0-EF5C-45C3DF26E855}"/>
              </a:ext>
            </a:extLst>
          </p:cNvPr>
          <p:cNvSpPr txBox="1"/>
          <p:nvPr/>
        </p:nvSpPr>
        <p:spPr>
          <a:xfrm>
            <a:off x="1966762" y="5112320"/>
            <a:ext cx="31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zh-CN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DA8A49C-34A0-1C25-3137-698F1FAB4FFA}"/>
              </a:ext>
            </a:extLst>
          </p:cNvPr>
          <p:cNvSpPr txBox="1"/>
          <p:nvPr/>
        </p:nvSpPr>
        <p:spPr>
          <a:xfrm>
            <a:off x="1807202" y="5108341"/>
            <a:ext cx="31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kumimoji="1" lang="zh-CN" altLang="zh-CN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1EBDBF0-D108-FA35-B6B2-CA1C8B9A326F}"/>
              </a:ext>
            </a:extLst>
          </p:cNvPr>
          <p:cNvSpPr txBox="1"/>
          <p:nvPr/>
        </p:nvSpPr>
        <p:spPr>
          <a:xfrm>
            <a:off x="1655095" y="5112320"/>
            <a:ext cx="31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kumimoji="1" lang="zh-CN" altLang="zh-CN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7" name="灯片编号占位符 76">
            <a:extLst>
              <a:ext uri="{FF2B5EF4-FFF2-40B4-BE49-F238E27FC236}">
                <a16:creationId xmlns:a16="http://schemas.microsoft.com/office/drawing/2014/main" id="{1A881F04-9A49-7683-227A-A5D1E2055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19061" y="6559936"/>
            <a:ext cx="2743200" cy="365125"/>
          </a:xfrm>
        </p:spPr>
        <p:txBody>
          <a:bodyPr/>
          <a:lstStyle/>
          <a:p>
            <a:fld id="{BA4D6745-9EBB-A044-B42C-0E6AD00F43E4}" type="slidenum">
              <a:rPr kumimoji="1" lang="zh-CN" altLang="en-US" sz="1600" b="1" smtClean="0"/>
              <a:pPr/>
              <a:t>6</a:t>
            </a:fld>
            <a:r>
              <a:rPr kumimoji="1" lang="zh-CN" altLang="en-US" sz="1400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15</a:t>
            </a:r>
            <a:endParaRPr kumimoji="1"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7741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8369"/>
    </mc:Choice>
    <mc:Fallback>
      <p:transition spd="slow" advTm="2083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25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2" fill="hold" display="0">
                  <p:stCondLst>
                    <p:cond delay="indefinite"/>
                  </p:stCondLst>
                </p:cTn>
                <p:tgtEl>
                  <p:spTgt spid="65"/>
                </p:tgtEl>
              </p:cMediaNode>
            </p:video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7" dur="1" fill="hold"/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  <p:bldLst>
      <p:bldP spid="23" grpId="0" animBg="1"/>
      <p:bldP spid="25" grpId="0"/>
      <p:bldP spid="28" grpId="0" animBg="1"/>
      <p:bldP spid="29" grpId="0"/>
      <p:bldP spid="30" grpId="0" animBg="1"/>
      <p:bldP spid="31" grpId="0" animBg="1"/>
      <p:bldP spid="32" grpId="0"/>
      <p:bldP spid="33" grpId="0" animBg="1"/>
      <p:bldP spid="34" grpId="0" animBg="1"/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/>
      <p:bldP spid="46" grpId="0" animBg="1"/>
      <p:bldP spid="47" grpId="0" animBg="1"/>
      <p:bldP spid="49" grpId="0" animBg="1"/>
      <p:bldP spid="48" grpId="0"/>
      <p:bldP spid="51" grpId="0"/>
      <p:bldP spid="52" grpId="0" animBg="1"/>
      <p:bldP spid="53" grpId="0" animBg="1"/>
      <p:bldP spid="54" grpId="0"/>
      <p:bldP spid="55" grpId="0"/>
      <p:bldP spid="56" grpId="0" animBg="1"/>
      <p:bldP spid="57" grpId="0" animBg="1"/>
      <p:bldP spid="58" grpId="0"/>
      <p:bldP spid="59" grpId="0"/>
      <p:bldP spid="60" grpId="0" animBg="1"/>
      <p:bldP spid="61" grpId="0" animBg="1"/>
      <p:bldP spid="62" grpId="0" animBg="1"/>
      <p:bldP spid="62" grpId="1" animBg="1"/>
      <p:bldP spid="63" grpId="0"/>
      <p:bldP spid="63" grpId="1"/>
      <p:bldP spid="64" grpId="0" animBg="1"/>
      <p:bldP spid="64" grpId="1" animBg="1"/>
      <p:bldP spid="68" grpId="0"/>
      <p:bldP spid="68" grpId="1"/>
      <p:bldP spid="69" grpId="0"/>
      <p:bldP spid="69" grpId="1"/>
      <p:bldP spid="70" grpId="0"/>
      <p:bldP spid="70" grpId="1"/>
      <p:bldP spid="71" grpId="0"/>
      <p:bldP spid="71" grpId="1"/>
      <p:bldP spid="72" grpId="0"/>
      <p:bldP spid="72" grpId="1"/>
      <p:bldP spid="73" grpId="0"/>
      <p:bldP spid="73" grpId="1"/>
      <p:bldP spid="74" grpId="0"/>
      <p:bldP spid="74" grpId="1"/>
      <p:bldP spid="75" grpId="0"/>
      <p:bldP spid="75" grpId="1"/>
    </p:bldLst>
  </p:timing>
  <p:extLst>
    <p:ext uri="{E180D4A7-C9FB-4DFB-919C-405C955672EB}">
      <p14:showEvtLst xmlns:p14="http://schemas.microsoft.com/office/powerpoint/2010/main">
        <p14:playEvt time="149152" objId="65"/>
        <p14:pauseEvt time="150284" objId="65"/>
        <p14:seekEvt time="151464" objId="65" seek="991"/>
        <p14:seekEvt time="151464" objId="65" seek="991"/>
        <p14:seekEvt time="151672" objId="65" seek="836"/>
        <p14:seekEvt time="151672" objId="65" seek="836"/>
        <p14:seekEvt time="151680" objId="65" seek="744"/>
        <p14:seekEvt time="151680" objId="65" seek="744"/>
        <p14:seekEvt time="151691" objId="65" seek="682"/>
        <p14:seekEvt time="151691" objId="65" seek="682"/>
        <p14:seekEvt time="151697" objId="65" seek="651"/>
        <p14:seekEvt time="151697" objId="65" seek="651"/>
        <p14:seekEvt time="151706" objId="65" seek="558"/>
        <p14:seekEvt time="151706" objId="65" seek="558"/>
        <p14:seekEvt time="151714" objId="65" seek="496"/>
        <p14:seekEvt time="151714" objId="65" seek="496"/>
        <p14:seekEvt time="151722" objId="65" seek="403"/>
        <p14:seekEvt time="151722" objId="65" seek="403"/>
        <p14:seekEvt time="151731" objId="65" seek="341"/>
        <p14:seekEvt time="151731" objId="65" seek="341"/>
        <p14:seekEvt time="151741" objId="65" seek="248"/>
        <p14:seekEvt time="151741" objId="65" seek="248"/>
        <p14:seekEvt time="151747" objId="65" seek="155"/>
        <p14:seekEvt time="151747" objId="65" seek="155"/>
        <p14:seekEvt time="151755" objId="65" seek="31"/>
        <p14:seekEvt time="151755" objId="65" seek="31"/>
        <p14:seekEvt time="151763" objId="65" seek="0"/>
        <p14:seekEvt time="151764" objId="65" seek="0"/>
        <p14:seekEvt time="151765" objId="65" seek="0"/>
        <p14:seekEvt time="151765" objId="65" seek="0"/>
        <p14:seekEvt time="151779" objId="65" seek="0"/>
        <p14:seekEvt time="151779" objId="65" seek="0"/>
        <p14:seekEvt time="151784" objId="65" seek="0"/>
        <p14:seekEvt time="151784" objId="65" seek="0"/>
        <p14:seekEvt time="151797" objId="65" seek="0"/>
        <p14:seekEvt time="151797" objId="65" seek="0"/>
        <p14:seekEvt time="151805" objId="65" seek="0"/>
        <p14:seekEvt time="151805" objId="65" seek="0"/>
        <p14:seekEvt time="151813" objId="65" seek="0"/>
        <p14:seekEvt time="151813" objId="65" seek="0"/>
        <p14:seekEvt time="151822" objId="65" seek="0"/>
        <p14:seekEvt time="151822" objId="65" seek="0"/>
        <p14:seekEvt time="151830" objId="65" seek="0"/>
        <p14:seekEvt time="151830" objId="65" seek="0"/>
        <p14:seekEvt time="151838" objId="65" seek="0"/>
        <p14:seekEvt time="151838" objId="65" seek="0"/>
        <p14:seekEvt time="151847" objId="65" seek="0"/>
        <p14:seekEvt time="151847" objId="65" seek="0"/>
        <p14:seekEvt time="151855" objId="65" seek="0"/>
        <p14:seekEvt time="151855" objId="65" seek="0"/>
        <p14:seekEvt time="151867" objId="65" seek="0"/>
        <p14:seekEvt time="151867" objId="65" seek="0"/>
        <p14:seekEvt time="151889" objId="65" seek="0"/>
        <p14:seekEvt time="151889" objId="65" seek="0"/>
        <p14:resumeEvt time="152364" objId="65"/>
        <p14:pauseEvt time="170159" objId="65"/>
        <p14:stopEvt time="180841" objId="65"/>
      </p14:showEvt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46069-41C3-BDAC-25ED-DCBDA6983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D91016E-4BD4-08F6-D9C9-7E12F46A3820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E48CEBE-B10E-9DBC-5EB0-46B62D57A857}"/>
              </a:ext>
            </a:extLst>
          </p:cNvPr>
          <p:cNvSpPr txBox="1"/>
          <p:nvPr/>
        </p:nvSpPr>
        <p:spPr>
          <a:xfrm>
            <a:off x="335178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个人简介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35F41206-82BB-23E2-CF02-BD644BD4DA71}"/>
              </a:ext>
            </a:extLst>
          </p:cNvPr>
          <p:cNvCxnSpPr>
            <a:cxnSpLocks/>
          </p:cNvCxnSpPr>
          <p:nvPr/>
        </p:nvCxnSpPr>
        <p:spPr>
          <a:xfrm>
            <a:off x="5285970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54E9F00-C4F3-3204-9F9D-D1728FD463D6}"/>
              </a:ext>
            </a:extLst>
          </p:cNvPr>
          <p:cNvSpPr txBox="1"/>
          <p:nvPr/>
        </p:nvSpPr>
        <p:spPr>
          <a:xfrm>
            <a:off x="5462810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工作汇报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CB4E0545-478B-3809-E04F-A373D251CD67}"/>
              </a:ext>
            </a:extLst>
          </p:cNvPr>
          <p:cNvCxnSpPr>
            <a:cxnSpLocks/>
          </p:cNvCxnSpPr>
          <p:nvPr/>
        </p:nvCxnSpPr>
        <p:spPr>
          <a:xfrm>
            <a:off x="739699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3CFA17B-FFCA-C900-6062-86D1F141A0CB}"/>
              </a:ext>
            </a:extLst>
          </p:cNvPr>
          <p:cNvSpPr txBox="1"/>
          <p:nvPr/>
        </p:nvSpPr>
        <p:spPr>
          <a:xfrm>
            <a:off x="7621608" y="178398"/>
            <a:ext cx="202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成长与总结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1C35435-7E29-D703-C3A4-C49F6C4F4CB9}"/>
              </a:ext>
            </a:extLst>
          </p:cNvPr>
          <p:cNvCxnSpPr>
            <a:cxnSpLocks/>
          </p:cNvCxnSpPr>
          <p:nvPr/>
        </p:nvCxnSpPr>
        <p:spPr>
          <a:xfrm>
            <a:off x="9885219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CED57B39-4CD7-1B9A-927B-547A2BB29C51}"/>
              </a:ext>
            </a:extLst>
          </p:cNvPr>
          <p:cNvSpPr txBox="1"/>
          <p:nvPr/>
        </p:nvSpPr>
        <p:spPr>
          <a:xfrm>
            <a:off x="1008181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未来规划</a:t>
            </a: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7AA2B586-A4D4-82DA-5D23-F91954AC1C4A}"/>
              </a:ext>
            </a:extLst>
          </p:cNvPr>
          <p:cNvCxnSpPr>
            <a:cxnSpLocks/>
          </p:cNvCxnSpPr>
          <p:nvPr/>
        </p:nvCxnSpPr>
        <p:spPr>
          <a:xfrm>
            <a:off x="5594030" y="781088"/>
            <a:ext cx="1519415" cy="0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31E54D79-0F54-8322-8B34-9390BBCD1E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44"/>
          <a:stretch>
            <a:fillRect/>
          </a:stretch>
        </p:blipFill>
        <p:spPr>
          <a:xfrm>
            <a:off x="160315" y="93820"/>
            <a:ext cx="2180279" cy="692375"/>
          </a:xfrm>
          <a:prstGeom prst="rect">
            <a:avLst/>
          </a:prstGeom>
        </p:spPr>
      </p:pic>
      <p:sp>
        <p:nvSpPr>
          <p:cNvPr id="73" name="文本框 72">
            <a:extLst>
              <a:ext uri="{FF2B5EF4-FFF2-40B4-BE49-F238E27FC236}">
                <a16:creationId xmlns:a16="http://schemas.microsoft.com/office/drawing/2014/main" id="{87D85C20-F49F-E762-D3F5-792AA3BA65A1}"/>
              </a:ext>
            </a:extLst>
          </p:cNvPr>
          <p:cNvSpPr txBox="1"/>
          <p:nvPr/>
        </p:nvSpPr>
        <p:spPr>
          <a:xfrm>
            <a:off x="7198679" y="2966090"/>
            <a:ext cx="3492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spcBef>
                <a:spcPts val="600"/>
              </a:spcBef>
              <a:defRPr kumimoji="1"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zh-CN" altLang="zh-CN" b="1" dirty="0"/>
              <a:t>重新形成一套安全</a:t>
            </a:r>
            <a:r>
              <a:rPr lang="zh-CN" altLang="en-US" b="1" dirty="0"/>
              <a:t>性</a:t>
            </a:r>
            <a:r>
              <a:rPr lang="zh-CN" altLang="zh-CN" b="1" dirty="0"/>
              <a:t>校验方法</a:t>
            </a:r>
          </a:p>
        </p:txBody>
      </p:sp>
      <p:sp>
        <p:nvSpPr>
          <p:cNvPr id="86" name="圆角矩形 85">
            <a:extLst>
              <a:ext uri="{FF2B5EF4-FFF2-40B4-BE49-F238E27FC236}">
                <a16:creationId xmlns:a16="http://schemas.microsoft.com/office/drawing/2014/main" id="{6863E515-59B7-81A4-682D-E4790BB6E687}"/>
              </a:ext>
            </a:extLst>
          </p:cNvPr>
          <p:cNvSpPr/>
          <p:nvPr/>
        </p:nvSpPr>
        <p:spPr>
          <a:xfrm>
            <a:off x="229983" y="2222725"/>
            <a:ext cx="1565910" cy="482380"/>
          </a:xfrm>
          <a:prstGeom prst="roundRect">
            <a:avLst>
              <a:gd name="adj" fmla="val 50000"/>
            </a:avLst>
          </a:prstGeom>
          <a:solidFill>
            <a:srgbClr val="FF7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0E8D52-AA06-D1BA-9933-B0B4F26DF36B}"/>
              </a:ext>
            </a:extLst>
          </p:cNvPr>
          <p:cNvSpPr txBox="1"/>
          <p:nvPr/>
        </p:nvSpPr>
        <p:spPr>
          <a:xfrm>
            <a:off x="30568" y="2268771"/>
            <a:ext cx="1938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为什么做</a:t>
            </a:r>
            <a:endParaRPr kumimoji="1" lang="zh-CN" altLang="zh-CN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122EC4C9-84D4-BD4B-71EF-BFC332E2D384}"/>
              </a:ext>
            </a:extLst>
          </p:cNvPr>
          <p:cNvCxnSpPr>
            <a:cxnSpLocks/>
          </p:cNvCxnSpPr>
          <p:nvPr/>
        </p:nvCxnSpPr>
        <p:spPr>
          <a:xfrm>
            <a:off x="6767164" y="2268771"/>
            <a:ext cx="0" cy="4040124"/>
          </a:xfrm>
          <a:prstGeom prst="line">
            <a:avLst/>
          </a:prstGeom>
          <a:ln w="31750">
            <a:solidFill>
              <a:srgbClr val="FF7F42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BA22E4CA-5A30-462E-1963-F4CEE9AF4297}"/>
              </a:ext>
            </a:extLst>
          </p:cNvPr>
          <p:cNvSpPr txBox="1"/>
          <p:nvPr/>
        </p:nvSpPr>
        <p:spPr>
          <a:xfrm>
            <a:off x="160315" y="5837879"/>
            <a:ext cx="173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当前不足</a:t>
            </a:r>
            <a:endParaRPr kumimoji="1" lang="zh-CN" altLang="zh-CN" b="1" dirty="0">
              <a:solidFill>
                <a:srgbClr val="FF7F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7" name="圆角矩形 96">
            <a:extLst>
              <a:ext uri="{FF2B5EF4-FFF2-40B4-BE49-F238E27FC236}">
                <a16:creationId xmlns:a16="http://schemas.microsoft.com/office/drawing/2014/main" id="{F679ECC9-2C58-EEFF-3B7E-9BD8280FCC66}"/>
              </a:ext>
            </a:extLst>
          </p:cNvPr>
          <p:cNvSpPr/>
          <p:nvPr/>
        </p:nvSpPr>
        <p:spPr>
          <a:xfrm>
            <a:off x="7198679" y="2227028"/>
            <a:ext cx="1692496" cy="482380"/>
          </a:xfrm>
          <a:prstGeom prst="roundRect">
            <a:avLst>
              <a:gd name="adj" fmla="val 50000"/>
            </a:avLst>
          </a:prstGeom>
          <a:solidFill>
            <a:srgbClr val="FF7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1C700CB9-815F-4023-A1E5-8113D629F964}"/>
              </a:ext>
            </a:extLst>
          </p:cNvPr>
          <p:cNvSpPr txBox="1"/>
          <p:nvPr/>
        </p:nvSpPr>
        <p:spPr>
          <a:xfrm>
            <a:off x="7088775" y="2273074"/>
            <a:ext cx="1938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目标是什么</a:t>
            </a:r>
            <a:endParaRPr kumimoji="1" lang="zh-CN" altLang="zh-CN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9C375F15-E94E-BF8B-15EE-911F072EBA3C}"/>
              </a:ext>
            </a:extLst>
          </p:cNvPr>
          <p:cNvCxnSpPr>
            <a:cxnSpLocks/>
          </p:cNvCxnSpPr>
          <p:nvPr/>
        </p:nvCxnSpPr>
        <p:spPr>
          <a:xfrm>
            <a:off x="388340" y="1561778"/>
            <a:ext cx="606069" cy="0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id="{5F7EBF3E-6908-F8E8-8863-A15636D63CFF}"/>
              </a:ext>
            </a:extLst>
          </p:cNvPr>
          <p:cNvSpPr txBox="1"/>
          <p:nvPr/>
        </p:nvSpPr>
        <p:spPr>
          <a:xfrm>
            <a:off x="290485" y="1056715"/>
            <a:ext cx="4228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kumimoji="1" lang="zh-CN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路线安全性校验方式调研 &amp; 优化</a:t>
            </a:r>
            <a:endParaRPr kumimoji="1" lang="zh-CN" altLang="en-US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DA8555EC-E9A5-9E90-236C-10D0AB022A07}"/>
              </a:ext>
            </a:extLst>
          </p:cNvPr>
          <p:cNvSpPr txBox="1"/>
          <p:nvPr/>
        </p:nvSpPr>
        <p:spPr>
          <a:xfrm>
            <a:off x="4811953" y="1004780"/>
            <a:ext cx="6164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24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把风险识别前置，避免问题路径传递到下游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35B24756-805E-F5A8-126A-C5017B5D1854}"/>
              </a:ext>
            </a:extLst>
          </p:cNvPr>
          <p:cNvSpPr txBox="1"/>
          <p:nvPr/>
        </p:nvSpPr>
        <p:spPr>
          <a:xfrm>
            <a:off x="296989" y="2746754"/>
            <a:ext cx="6526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若不在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Routing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层提前识别，风险路径会继续进入下游处理。</a:t>
            </a:r>
            <a:endParaRPr kumimoji="1" lang="zh-CN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790E7BDF-1000-710F-F015-BF4DE29BCB03}"/>
              </a:ext>
            </a:extLst>
          </p:cNvPr>
          <p:cNvSpPr/>
          <p:nvPr/>
        </p:nvSpPr>
        <p:spPr>
          <a:xfrm>
            <a:off x="388340" y="3509065"/>
            <a:ext cx="721227" cy="72122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22D4DA77-88DA-B416-DD41-A3B5ECBC0249}"/>
              </a:ext>
            </a:extLst>
          </p:cNvPr>
          <p:cNvSpPr/>
          <p:nvPr/>
        </p:nvSpPr>
        <p:spPr>
          <a:xfrm>
            <a:off x="2795159" y="3307298"/>
            <a:ext cx="1113258" cy="1113258"/>
          </a:xfrm>
          <a:prstGeom prst="ellipse">
            <a:avLst/>
          </a:prstGeom>
          <a:solidFill>
            <a:srgbClr val="FF7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806351EC-B5EE-D99A-3422-776AB4698238}"/>
              </a:ext>
            </a:extLst>
          </p:cNvPr>
          <p:cNvSpPr/>
          <p:nvPr/>
        </p:nvSpPr>
        <p:spPr>
          <a:xfrm>
            <a:off x="5594030" y="3509065"/>
            <a:ext cx="721227" cy="72122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914F6A14-0A68-EBF5-6DE1-95CD902CF747}"/>
              </a:ext>
            </a:extLst>
          </p:cNvPr>
          <p:cNvSpPr txBox="1"/>
          <p:nvPr/>
        </p:nvSpPr>
        <p:spPr>
          <a:xfrm>
            <a:off x="385871" y="3586493"/>
            <a:ext cx="721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候选路径</a:t>
            </a:r>
            <a:endParaRPr kumimoji="1" lang="zh-C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8C7C5FFC-9154-C703-4603-73F3D390C840}"/>
              </a:ext>
            </a:extLst>
          </p:cNvPr>
          <p:cNvSpPr txBox="1"/>
          <p:nvPr/>
        </p:nvSpPr>
        <p:spPr>
          <a:xfrm>
            <a:off x="5594029" y="3586493"/>
            <a:ext cx="721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下游决策</a:t>
            </a:r>
            <a:endParaRPr kumimoji="1" lang="zh-CN" altLang="zh-CN" sz="1600" dirty="0">
              <a:solidFill>
                <a:srgbClr val="00B0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DE06E18E-D474-3F81-2327-B96A0556658F}"/>
              </a:ext>
            </a:extLst>
          </p:cNvPr>
          <p:cNvSpPr txBox="1"/>
          <p:nvPr/>
        </p:nvSpPr>
        <p:spPr>
          <a:xfrm>
            <a:off x="2795159" y="3885952"/>
            <a:ext cx="1113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安全校验</a:t>
            </a:r>
            <a:endParaRPr kumimoji="1" lang="zh-CN" altLang="zh-CN" sz="16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1" name="右箭头 120">
            <a:extLst>
              <a:ext uri="{FF2B5EF4-FFF2-40B4-BE49-F238E27FC236}">
                <a16:creationId xmlns:a16="http://schemas.microsoft.com/office/drawing/2014/main" id="{B4BBDE98-A50A-46AF-6921-1231362C0245}"/>
              </a:ext>
            </a:extLst>
          </p:cNvPr>
          <p:cNvSpPr/>
          <p:nvPr/>
        </p:nvSpPr>
        <p:spPr>
          <a:xfrm>
            <a:off x="1309538" y="3780789"/>
            <a:ext cx="1280711" cy="183699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2" name="右箭头 121">
            <a:extLst>
              <a:ext uri="{FF2B5EF4-FFF2-40B4-BE49-F238E27FC236}">
                <a16:creationId xmlns:a16="http://schemas.microsoft.com/office/drawing/2014/main" id="{06C9AB42-AB08-3DB6-5667-DBE13220A5EB}"/>
              </a:ext>
            </a:extLst>
          </p:cNvPr>
          <p:cNvSpPr/>
          <p:nvPr/>
        </p:nvSpPr>
        <p:spPr>
          <a:xfrm>
            <a:off x="4110867" y="3780789"/>
            <a:ext cx="1280711" cy="183699"/>
          </a:xfrm>
          <a:prstGeom prst="rightArrow">
            <a:avLst/>
          </a:prstGeom>
          <a:solidFill>
            <a:srgbClr val="FF7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3" name="圆角矩形 122">
            <a:extLst>
              <a:ext uri="{FF2B5EF4-FFF2-40B4-BE49-F238E27FC236}">
                <a16:creationId xmlns:a16="http://schemas.microsoft.com/office/drawing/2014/main" id="{A317F1EE-4548-9BDD-6032-9246A5934A74}"/>
              </a:ext>
            </a:extLst>
          </p:cNvPr>
          <p:cNvSpPr/>
          <p:nvPr/>
        </p:nvSpPr>
        <p:spPr>
          <a:xfrm>
            <a:off x="1263041" y="4869146"/>
            <a:ext cx="4236209" cy="591441"/>
          </a:xfrm>
          <a:prstGeom prst="roundRect">
            <a:avLst>
              <a:gd name="adj" fmla="val 49056"/>
            </a:avLst>
          </a:prstGeom>
          <a:solidFill>
            <a:srgbClr val="FFF0E8"/>
          </a:solidFill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E1140C2D-EDF3-020B-15C4-F50F950D247D}"/>
              </a:ext>
            </a:extLst>
          </p:cNvPr>
          <p:cNvSpPr txBox="1"/>
          <p:nvPr/>
        </p:nvSpPr>
        <p:spPr>
          <a:xfrm>
            <a:off x="1375098" y="4983639"/>
            <a:ext cx="4006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提前排除危险，并降低下游计算成本</a:t>
            </a:r>
            <a:endParaRPr kumimoji="1" lang="zh-CN" altLang="zh-CN" b="1" dirty="0">
              <a:solidFill>
                <a:srgbClr val="FF7F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5" name="下箭头 94">
            <a:extLst>
              <a:ext uri="{FF2B5EF4-FFF2-40B4-BE49-F238E27FC236}">
                <a16:creationId xmlns:a16="http://schemas.microsoft.com/office/drawing/2014/main" id="{21FE5445-BB0D-6B07-A60D-7A8131FB0B00}"/>
              </a:ext>
            </a:extLst>
          </p:cNvPr>
          <p:cNvSpPr/>
          <p:nvPr/>
        </p:nvSpPr>
        <p:spPr>
          <a:xfrm>
            <a:off x="3177430" y="4492162"/>
            <a:ext cx="348714" cy="309229"/>
          </a:xfrm>
          <a:prstGeom prst="downArrow">
            <a:avLst>
              <a:gd name="adj1" fmla="val 35432"/>
              <a:gd name="adj2" fmla="val 47023"/>
            </a:avLst>
          </a:prstGeom>
          <a:solidFill>
            <a:srgbClr val="FF7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3C530B94-8444-4E6C-1824-9E1B999289E4}"/>
              </a:ext>
            </a:extLst>
          </p:cNvPr>
          <p:cNvSpPr/>
          <p:nvPr/>
        </p:nvSpPr>
        <p:spPr>
          <a:xfrm>
            <a:off x="385871" y="5717454"/>
            <a:ext cx="6203615" cy="591441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7F4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C0C983B5-7228-8D10-EAC0-8ABB1B895A9A}"/>
              </a:ext>
            </a:extLst>
          </p:cNvPr>
          <p:cNvSpPr txBox="1"/>
          <p:nvPr/>
        </p:nvSpPr>
        <p:spPr>
          <a:xfrm>
            <a:off x="1523016" y="5859589"/>
            <a:ext cx="5175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场景覆盖不完整，规则分散，部分场景存在漏检与误判</a:t>
            </a:r>
            <a:endParaRPr kumimoji="1" lang="zh-C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4E42EC74-93D2-611A-678B-2177DF8ED513}"/>
              </a:ext>
            </a:extLst>
          </p:cNvPr>
          <p:cNvSpPr/>
          <p:nvPr/>
        </p:nvSpPr>
        <p:spPr>
          <a:xfrm>
            <a:off x="7627589" y="3677930"/>
            <a:ext cx="721227" cy="721227"/>
          </a:xfrm>
          <a:prstGeom prst="ellipse">
            <a:avLst/>
          </a:prstGeom>
          <a:solidFill>
            <a:srgbClr val="FF7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C5A815AC-29B2-CBF3-90D7-BE916899FE94}"/>
              </a:ext>
            </a:extLst>
          </p:cNvPr>
          <p:cNvSpPr txBox="1"/>
          <p:nvPr/>
        </p:nvSpPr>
        <p:spPr>
          <a:xfrm>
            <a:off x="7627588" y="3870151"/>
            <a:ext cx="721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kumimoji="1" lang="zh-CN" altLang="zh-CN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81C15B06-3F3B-1509-28E4-10F7612FD6F6}"/>
              </a:ext>
            </a:extLst>
          </p:cNvPr>
          <p:cNvSpPr/>
          <p:nvPr/>
        </p:nvSpPr>
        <p:spPr>
          <a:xfrm>
            <a:off x="10451200" y="3677930"/>
            <a:ext cx="721227" cy="721227"/>
          </a:xfrm>
          <a:prstGeom prst="ellipse">
            <a:avLst/>
          </a:prstGeom>
          <a:solidFill>
            <a:srgbClr val="FF7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693B292E-14A7-EA72-DA4A-ADA164E52663}"/>
              </a:ext>
            </a:extLst>
          </p:cNvPr>
          <p:cNvSpPr txBox="1"/>
          <p:nvPr/>
        </p:nvSpPr>
        <p:spPr>
          <a:xfrm>
            <a:off x="10451199" y="3870151"/>
            <a:ext cx="721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kumimoji="1" lang="zh-CN" altLang="zh-CN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B432CB87-0962-BAE5-B791-8136EE320EF6}"/>
              </a:ext>
            </a:extLst>
          </p:cNvPr>
          <p:cNvSpPr txBox="1"/>
          <p:nvPr/>
        </p:nvSpPr>
        <p:spPr>
          <a:xfrm>
            <a:off x="6733841" y="4723176"/>
            <a:ext cx="250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 algn="ctr">
              <a:spcBef>
                <a:spcPts val="600"/>
              </a:spcBef>
              <a:defRPr kumimoji="1"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sz="1800" dirty="0"/>
              <a:t>对当前逻辑的优化</a:t>
            </a:r>
            <a:endParaRPr lang="zh-CN" altLang="en-US" sz="1800" dirty="0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B64B1117-E051-FF38-9FED-7283C89A6A3D}"/>
              </a:ext>
            </a:extLst>
          </p:cNvPr>
          <p:cNvSpPr txBox="1"/>
          <p:nvPr/>
        </p:nvSpPr>
        <p:spPr>
          <a:xfrm>
            <a:off x="9661479" y="4723176"/>
            <a:ext cx="2300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 algn="ctr">
              <a:spcBef>
                <a:spcPts val="600"/>
              </a:spcBef>
              <a:defRPr kumimoji="1"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800" dirty="0"/>
              <a:t>增加新的校验模块</a:t>
            </a:r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B1B1AB4A-F8A5-4FE2-9D9A-6FDEC33CF794}"/>
              </a:ext>
            </a:extLst>
          </p:cNvPr>
          <p:cNvSpPr/>
          <p:nvPr/>
        </p:nvSpPr>
        <p:spPr>
          <a:xfrm>
            <a:off x="9148998" y="3804771"/>
            <a:ext cx="502016" cy="502016"/>
          </a:xfrm>
          <a:prstGeom prst="ellipse">
            <a:avLst/>
          </a:prstGeom>
          <a:solidFill>
            <a:srgbClr val="FFF0E8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9" name="十字形 138">
            <a:extLst>
              <a:ext uri="{FF2B5EF4-FFF2-40B4-BE49-F238E27FC236}">
                <a16:creationId xmlns:a16="http://schemas.microsoft.com/office/drawing/2014/main" id="{C678920B-2B35-C0A7-957A-403494608CCE}"/>
              </a:ext>
            </a:extLst>
          </p:cNvPr>
          <p:cNvSpPr/>
          <p:nvPr/>
        </p:nvSpPr>
        <p:spPr>
          <a:xfrm>
            <a:off x="9270891" y="3926663"/>
            <a:ext cx="258232" cy="258232"/>
          </a:xfrm>
          <a:prstGeom prst="plus">
            <a:avLst>
              <a:gd name="adj" fmla="val 43205"/>
            </a:avLst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B1ADD58-8BED-4AB9-9084-DF3A1A86E1AB}"/>
              </a:ext>
            </a:extLst>
          </p:cNvPr>
          <p:cNvSpPr txBox="1"/>
          <p:nvPr/>
        </p:nvSpPr>
        <p:spPr>
          <a:xfrm>
            <a:off x="6917294" y="5499597"/>
            <a:ext cx="25087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 algn="ctr">
              <a:spcBef>
                <a:spcPts val="600"/>
              </a:spcBef>
              <a:defRPr kumimoji="1"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修正不合理条件，补齐现有规则的覆盖盲区</a:t>
            </a: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315C7C2F-99DA-62D5-623E-BA12195364D8}"/>
              </a:ext>
            </a:extLst>
          </p:cNvPr>
          <p:cNvSpPr txBox="1"/>
          <p:nvPr/>
        </p:nvSpPr>
        <p:spPr>
          <a:xfrm>
            <a:off x="9522966" y="5367146"/>
            <a:ext cx="25087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 algn="ctr">
              <a:spcBef>
                <a:spcPts val="600"/>
              </a:spcBef>
              <a:defRPr kumimoji="1"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面向为覆盖场景，进行外部调研，设计新的安全边界与判断逻辑</a:t>
            </a:r>
          </a:p>
        </p:txBody>
      </p:sp>
      <p:sp>
        <p:nvSpPr>
          <p:cNvPr id="142" name="圆角矩形 141">
            <a:extLst>
              <a:ext uri="{FF2B5EF4-FFF2-40B4-BE49-F238E27FC236}">
                <a16:creationId xmlns:a16="http://schemas.microsoft.com/office/drawing/2014/main" id="{7CB0B058-9393-899B-EC7E-F355F0BED326}"/>
              </a:ext>
            </a:extLst>
          </p:cNvPr>
          <p:cNvSpPr/>
          <p:nvPr/>
        </p:nvSpPr>
        <p:spPr>
          <a:xfrm>
            <a:off x="6917294" y="5280532"/>
            <a:ext cx="5114391" cy="102836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7F4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26243385-7F23-C1DD-C8AD-4830769323D7}"/>
              </a:ext>
            </a:extLst>
          </p:cNvPr>
          <p:cNvCxnSpPr>
            <a:cxnSpLocks/>
            <a:stCxn id="130" idx="3"/>
            <a:endCxn id="138" idx="2"/>
          </p:cNvCxnSpPr>
          <p:nvPr/>
        </p:nvCxnSpPr>
        <p:spPr>
          <a:xfrm>
            <a:off x="8348815" y="4054817"/>
            <a:ext cx="800183" cy="962"/>
          </a:xfrm>
          <a:prstGeom prst="line">
            <a:avLst/>
          </a:prstGeom>
          <a:ln w="38100">
            <a:solidFill>
              <a:srgbClr val="FF7F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B896FC86-4276-BEF2-7174-6D95D7F63439}"/>
              </a:ext>
            </a:extLst>
          </p:cNvPr>
          <p:cNvCxnSpPr>
            <a:cxnSpLocks/>
            <a:stCxn id="138" idx="6"/>
            <a:endCxn id="134" idx="1"/>
          </p:cNvCxnSpPr>
          <p:nvPr/>
        </p:nvCxnSpPr>
        <p:spPr>
          <a:xfrm flipV="1">
            <a:off x="9651014" y="4054817"/>
            <a:ext cx="800185" cy="962"/>
          </a:xfrm>
          <a:prstGeom prst="line">
            <a:avLst/>
          </a:prstGeom>
          <a:ln w="38100">
            <a:solidFill>
              <a:srgbClr val="FF7F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1" name="图形 150">
            <a:extLst>
              <a:ext uri="{FF2B5EF4-FFF2-40B4-BE49-F238E27FC236}">
                <a16:creationId xmlns:a16="http://schemas.microsoft.com/office/drawing/2014/main" id="{69812E9B-3FD3-97EA-3D34-FEFCB96DC1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80913" y="3367067"/>
            <a:ext cx="560527" cy="560527"/>
          </a:xfrm>
          <a:prstGeom prst="rect">
            <a:avLst/>
          </a:prstGeom>
        </p:spPr>
      </p:pic>
      <p:sp>
        <p:nvSpPr>
          <p:cNvPr id="153" name="灯片编号占位符 152">
            <a:extLst>
              <a:ext uri="{FF2B5EF4-FFF2-40B4-BE49-F238E27FC236}">
                <a16:creationId xmlns:a16="http://schemas.microsoft.com/office/drawing/2014/main" id="{43A67E97-3B29-88D9-24B1-D3DFB0393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D6745-9EBB-A044-B42C-0E6AD00F43E4}" type="slidenum">
              <a:rPr kumimoji="1" lang="zh-CN" altLang="en-US" sz="1600" b="1" smtClean="0"/>
              <a:pPr/>
              <a:t>7</a:t>
            </a:fld>
            <a:r>
              <a:rPr kumimoji="1" lang="zh-CN" altLang="en-US" sz="1400"/>
              <a:t> </a:t>
            </a:r>
            <a:r>
              <a:rPr kumimoji="1" lang="en-US" altLang="zh-CN"/>
              <a:t>/</a:t>
            </a:r>
            <a:r>
              <a:rPr kumimoji="1" lang="zh-CN" altLang="en-US"/>
              <a:t> </a:t>
            </a:r>
            <a:r>
              <a:rPr kumimoji="1" lang="en-US" altLang="zh-CN"/>
              <a:t>15</a:t>
            </a:r>
            <a:endParaRPr kumimoji="1" lang="zh-CN" altLang="en-US" dirty="0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13A49829-9E9B-9408-134F-70DFB47BB3F3}"/>
              </a:ext>
            </a:extLst>
          </p:cNvPr>
          <p:cNvSpPr txBox="1"/>
          <p:nvPr/>
        </p:nvSpPr>
        <p:spPr>
          <a:xfrm>
            <a:off x="255576" y="1707812"/>
            <a:ext cx="11776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spcBef>
                <a:spcPts val="600"/>
              </a:spcBef>
              <a:defRPr kumimoji="1"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l"/>
            <a:r>
              <a:rPr lang="zh-CN" altLang="en-US" sz="1800" b="1" dirty="0"/>
              <a:t>在新订单或当前路径不可行时需要进行路线切换，</a:t>
            </a:r>
            <a:r>
              <a:rPr lang="zh-CN" altLang="en-US" sz="1800" dirty="0"/>
              <a:t>新的路径要保证在当前状态下能安全、合理、可执行地接入</a:t>
            </a:r>
            <a:endParaRPr lang="zh-CN" altLang="zh-CN" sz="1800" dirty="0"/>
          </a:p>
        </p:txBody>
      </p:sp>
    </p:spTree>
    <p:extLst>
      <p:ext uri="{BB962C8B-B14F-4D97-AF65-F5344CB8AC3E}">
        <p14:creationId xmlns:p14="http://schemas.microsoft.com/office/powerpoint/2010/main" val="5014710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879"/>
    </mc:Choice>
    <mc:Fallback>
      <p:transition spd="slow" advTm="6087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C0D68-521B-4602-E868-CBC28FBC9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图片 54">
            <a:extLst>
              <a:ext uri="{FF2B5EF4-FFF2-40B4-BE49-F238E27FC236}">
                <a16:creationId xmlns:a16="http://schemas.microsoft.com/office/drawing/2014/main" id="{771DB38D-C868-E00B-D6AE-1EA6FD805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771" y="3575153"/>
            <a:ext cx="3484383" cy="2942552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23C29BA6-0816-F7F5-62DE-EFBE63226C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4121" y="3572083"/>
            <a:ext cx="3199320" cy="2942552"/>
          </a:xfrm>
          <a:prstGeom prst="rect">
            <a:avLst/>
          </a:prstGeom>
        </p:spPr>
      </p:pic>
      <p:sp>
        <p:nvSpPr>
          <p:cNvPr id="49" name="圆角矩形 48">
            <a:extLst>
              <a:ext uri="{FF2B5EF4-FFF2-40B4-BE49-F238E27FC236}">
                <a16:creationId xmlns:a16="http://schemas.microsoft.com/office/drawing/2014/main" id="{324A0731-F804-2E7B-8E4D-55474F7B5996}"/>
              </a:ext>
            </a:extLst>
          </p:cNvPr>
          <p:cNvSpPr/>
          <p:nvPr/>
        </p:nvSpPr>
        <p:spPr>
          <a:xfrm>
            <a:off x="7872784" y="1622215"/>
            <a:ext cx="4133435" cy="633979"/>
          </a:xfrm>
          <a:prstGeom prst="roundRect">
            <a:avLst>
              <a:gd name="adj" fmla="val 50000"/>
            </a:avLst>
          </a:prstGeom>
          <a:solidFill>
            <a:srgbClr val="FF7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41237B-08CF-C779-F488-562E29442901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16CDA8-6594-3F94-3BE9-82CEB21F953C}"/>
              </a:ext>
            </a:extLst>
          </p:cNvPr>
          <p:cNvSpPr txBox="1"/>
          <p:nvPr/>
        </p:nvSpPr>
        <p:spPr>
          <a:xfrm>
            <a:off x="335178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个人简介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D16FE7DD-A8B0-12DE-3B6F-E43D43FF9B1C}"/>
              </a:ext>
            </a:extLst>
          </p:cNvPr>
          <p:cNvCxnSpPr>
            <a:cxnSpLocks/>
          </p:cNvCxnSpPr>
          <p:nvPr/>
        </p:nvCxnSpPr>
        <p:spPr>
          <a:xfrm>
            <a:off x="5285970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E41AC7D7-9D88-E6A4-9915-0F0A8D921E98}"/>
              </a:ext>
            </a:extLst>
          </p:cNvPr>
          <p:cNvSpPr txBox="1"/>
          <p:nvPr/>
        </p:nvSpPr>
        <p:spPr>
          <a:xfrm>
            <a:off x="5462810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工作汇报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0BADECAE-80D9-1EFB-045D-D217B66A511F}"/>
              </a:ext>
            </a:extLst>
          </p:cNvPr>
          <p:cNvCxnSpPr>
            <a:cxnSpLocks/>
          </p:cNvCxnSpPr>
          <p:nvPr/>
        </p:nvCxnSpPr>
        <p:spPr>
          <a:xfrm>
            <a:off x="739699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8FDD0DC-2CBD-F10B-8F10-59343E50B147}"/>
              </a:ext>
            </a:extLst>
          </p:cNvPr>
          <p:cNvSpPr txBox="1"/>
          <p:nvPr/>
        </p:nvSpPr>
        <p:spPr>
          <a:xfrm>
            <a:off x="7621608" y="178398"/>
            <a:ext cx="202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成长与总结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9517F1AB-893E-3E82-D6EC-CCB3A8832ABC}"/>
              </a:ext>
            </a:extLst>
          </p:cNvPr>
          <p:cNvCxnSpPr>
            <a:cxnSpLocks/>
          </p:cNvCxnSpPr>
          <p:nvPr/>
        </p:nvCxnSpPr>
        <p:spPr>
          <a:xfrm>
            <a:off x="9885219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E7D2151-773A-C368-CA6C-8111C8546CCC}"/>
              </a:ext>
            </a:extLst>
          </p:cNvPr>
          <p:cNvSpPr txBox="1"/>
          <p:nvPr/>
        </p:nvSpPr>
        <p:spPr>
          <a:xfrm>
            <a:off x="1008181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未来规划</a:t>
            </a: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E3D87F1E-1EE3-76FD-4875-EBD6C361397C}"/>
              </a:ext>
            </a:extLst>
          </p:cNvPr>
          <p:cNvCxnSpPr>
            <a:cxnSpLocks/>
          </p:cNvCxnSpPr>
          <p:nvPr/>
        </p:nvCxnSpPr>
        <p:spPr>
          <a:xfrm>
            <a:off x="5594030" y="781088"/>
            <a:ext cx="1519415" cy="0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FA0E0C1D-D13B-A736-C230-3CBBD3818D4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144"/>
          <a:stretch>
            <a:fillRect/>
          </a:stretch>
        </p:blipFill>
        <p:spPr>
          <a:xfrm>
            <a:off x="160315" y="93820"/>
            <a:ext cx="2180279" cy="692375"/>
          </a:xfrm>
          <a:prstGeom prst="rect">
            <a:avLst/>
          </a:prstGeom>
        </p:spPr>
      </p:pic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18C4FD2E-058A-9BB7-5C29-2FDFA44C729B}"/>
              </a:ext>
            </a:extLst>
          </p:cNvPr>
          <p:cNvCxnSpPr>
            <a:cxnSpLocks/>
          </p:cNvCxnSpPr>
          <p:nvPr/>
        </p:nvCxnSpPr>
        <p:spPr>
          <a:xfrm>
            <a:off x="388340" y="1561778"/>
            <a:ext cx="606069" cy="0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CC885EF9-2151-D083-01A7-66F569558F30}"/>
              </a:ext>
            </a:extLst>
          </p:cNvPr>
          <p:cNvCxnSpPr>
            <a:cxnSpLocks/>
          </p:cNvCxnSpPr>
          <p:nvPr/>
        </p:nvCxnSpPr>
        <p:spPr>
          <a:xfrm flipH="1">
            <a:off x="7396991" y="1659353"/>
            <a:ext cx="1" cy="4852492"/>
          </a:xfrm>
          <a:prstGeom prst="line">
            <a:avLst/>
          </a:prstGeom>
          <a:ln w="31750">
            <a:solidFill>
              <a:srgbClr val="FF7F42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B37E1439-D965-4D53-D9AD-30D5B5A463D0}"/>
              </a:ext>
            </a:extLst>
          </p:cNvPr>
          <p:cNvSpPr txBox="1"/>
          <p:nvPr/>
        </p:nvSpPr>
        <p:spPr>
          <a:xfrm>
            <a:off x="160315" y="1082105"/>
            <a:ext cx="7236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路线安全性校验方式调研 &amp; 优化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对现有判断逻辑的优化</a:t>
            </a:r>
          </a:p>
        </p:txBody>
      </p:sp>
      <p:sp>
        <p:nvSpPr>
          <p:cNvPr id="32" name="平行四边形 31">
            <a:extLst>
              <a:ext uri="{FF2B5EF4-FFF2-40B4-BE49-F238E27FC236}">
                <a16:creationId xmlns:a16="http://schemas.microsoft.com/office/drawing/2014/main" id="{45EB26C8-1551-C2BE-CE4A-6CDF1D21C5A2}"/>
              </a:ext>
            </a:extLst>
          </p:cNvPr>
          <p:cNvSpPr/>
          <p:nvPr/>
        </p:nvSpPr>
        <p:spPr>
          <a:xfrm>
            <a:off x="185772" y="2335695"/>
            <a:ext cx="1409352" cy="403087"/>
          </a:xfrm>
          <a:prstGeom prst="parallelogram">
            <a:avLst>
              <a:gd name="adj" fmla="val 0"/>
            </a:avLst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1F4527F-BC06-1AD7-A380-425CB0A60DAB}"/>
              </a:ext>
            </a:extLst>
          </p:cNvPr>
          <p:cNvSpPr txBox="1"/>
          <p:nvPr/>
        </p:nvSpPr>
        <p:spPr>
          <a:xfrm>
            <a:off x="81610" y="2344451"/>
            <a:ext cx="1617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现有逻辑</a:t>
            </a:r>
            <a:endParaRPr kumimoji="1" lang="zh-CN" altLang="zh-CN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0092660-FB36-7BD1-2751-AB56A7ED3C5A}"/>
              </a:ext>
            </a:extLst>
          </p:cNvPr>
          <p:cNvSpPr txBox="1"/>
          <p:nvPr/>
        </p:nvSpPr>
        <p:spPr>
          <a:xfrm>
            <a:off x="1534231" y="2360981"/>
            <a:ext cx="55792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速度较大时，检查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pp_curve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是否与首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section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硬边界相交</a:t>
            </a:r>
            <a:endParaRPr kumimoji="1" lang="zh-C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E36A854-FE3C-E880-1F9F-0A00FDE70849}"/>
              </a:ext>
            </a:extLst>
          </p:cNvPr>
          <p:cNvSpPr/>
          <p:nvPr/>
        </p:nvSpPr>
        <p:spPr>
          <a:xfrm>
            <a:off x="1389052" y="2335373"/>
            <a:ext cx="5724389" cy="399310"/>
          </a:xfrm>
          <a:prstGeom prst="rect">
            <a:avLst/>
          </a:prstGeom>
          <a:noFill/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平行四边形 35">
            <a:extLst>
              <a:ext uri="{FF2B5EF4-FFF2-40B4-BE49-F238E27FC236}">
                <a16:creationId xmlns:a16="http://schemas.microsoft.com/office/drawing/2014/main" id="{A286285B-D7B3-939B-2EAC-00C10DA90EDE}"/>
              </a:ext>
            </a:extLst>
          </p:cNvPr>
          <p:cNvSpPr/>
          <p:nvPr/>
        </p:nvSpPr>
        <p:spPr>
          <a:xfrm>
            <a:off x="185772" y="2913838"/>
            <a:ext cx="1409352" cy="372080"/>
          </a:xfrm>
          <a:prstGeom prst="parallelogram">
            <a:avLst>
              <a:gd name="adj" fmla="val 0"/>
            </a:avLst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2709D2C-526C-2F3F-896A-DAEE8E6BD859}"/>
              </a:ext>
            </a:extLst>
          </p:cNvPr>
          <p:cNvSpPr txBox="1"/>
          <p:nvPr/>
        </p:nvSpPr>
        <p:spPr>
          <a:xfrm>
            <a:off x="81610" y="2910904"/>
            <a:ext cx="1617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潜在风险</a:t>
            </a:r>
            <a:endParaRPr kumimoji="1" lang="zh-CN" altLang="zh-CN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C67A6B0-49DB-27C5-2BC9-F2477437758B}"/>
              </a:ext>
            </a:extLst>
          </p:cNvPr>
          <p:cNvSpPr txBox="1"/>
          <p:nvPr/>
        </p:nvSpPr>
        <p:spPr>
          <a:xfrm>
            <a:off x="1534231" y="2927434"/>
            <a:ext cx="55792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pp_curve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可能延伸到后续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section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，容易漏判其他硬边界</a:t>
            </a:r>
            <a:endParaRPr kumimoji="1" lang="zh-C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372431F-EBE8-07E3-84AC-C2B389C7FBF6}"/>
              </a:ext>
            </a:extLst>
          </p:cNvPr>
          <p:cNvSpPr/>
          <p:nvPr/>
        </p:nvSpPr>
        <p:spPr>
          <a:xfrm>
            <a:off x="1389052" y="2913515"/>
            <a:ext cx="5724389" cy="369333"/>
          </a:xfrm>
          <a:prstGeom prst="rect">
            <a:avLst/>
          </a:prstGeom>
          <a:noFill/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377D929-9DF8-3110-B3B7-9EE28A1CC53C}"/>
              </a:ext>
            </a:extLst>
          </p:cNvPr>
          <p:cNvSpPr txBox="1"/>
          <p:nvPr/>
        </p:nvSpPr>
        <p:spPr>
          <a:xfrm>
            <a:off x="344806" y="1746862"/>
            <a:ext cx="3253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pp_curve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判断安全性的条件</a:t>
            </a:r>
            <a:endParaRPr lang="zh-CN" altLang="en-US" sz="16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752900E-F1B0-6927-F8D8-3D89D469702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792" r="18052"/>
          <a:stretch>
            <a:fillRect/>
          </a:stretch>
        </p:blipFill>
        <p:spPr>
          <a:xfrm>
            <a:off x="379342" y="4051429"/>
            <a:ext cx="1995782" cy="216573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B8B41CF-5DAD-924F-1F00-6E3A87A4985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8283" r="11645"/>
          <a:stretch>
            <a:fillRect/>
          </a:stretch>
        </p:blipFill>
        <p:spPr>
          <a:xfrm>
            <a:off x="2769752" y="4051429"/>
            <a:ext cx="1946097" cy="216573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A814B5E-B68D-5FAB-F76D-D480BBAADA0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0937" r="10606"/>
          <a:stretch>
            <a:fillRect/>
          </a:stretch>
        </p:blipFill>
        <p:spPr>
          <a:xfrm>
            <a:off x="5183046" y="4051429"/>
            <a:ext cx="1862661" cy="216573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C8D6D95-D9AC-D186-54E0-9A89A4095B62}"/>
              </a:ext>
            </a:extLst>
          </p:cNvPr>
          <p:cNvSpPr txBox="1"/>
          <p:nvPr/>
        </p:nvSpPr>
        <p:spPr>
          <a:xfrm>
            <a:off x="796436" y="3651649"/>
            <a:ext cx="116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13 m/s</a:t>
            </a:r>
            <a:endParaRPr kumimoji="1" lang="zh-CN" altLang="zh-CN" sz="1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EE481D5-2324-15FE-FF8F-20B8D0D804D9}"/>
              </a:ext>
            </a:extLst>
          </p:cNvPr>
          <p:cNvSpPr txBox="1"/>
          <p:nvPr/>
        </p:nvSpPr>
        <p:spPr>
          <a:xfrm>
            <a:off x="3162004" y="3651649"/>
            <a:ext cx="116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15 m/s</a:t>
            </a:r>
            <a:endParaRPr kumimoji="1" lang="zh-CN" altLang="zh-CN" sz="1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686BB41-04CC-8858-B63C-FD06C1D70FB8}"/>
              </a:ext>
            </a:extLst>
          </p:cNvPr>
          <p:cNvSpPr txBox="1"/>
          <p:nvPr/>
        </p:nvSpPr>
        <p:spPr>
          <a:xfrm>
            <a:off x="5527572" y="3651649"/>
            <a:ext cx="116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1.5 m/s</a:t>
            </a:r>
            <a:endParaRPr kumimoji="1" lang="zh-CN" altLang="zh-CN" sz="1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2A8A27F-0CA5-B91A-DB3F-B6D14D3B9ADA}"/>
              </a:ext>
            </a:extLst>
          </p:cNvPr>
          <p:cNvSpPr/>
          <p:nvPr/>
        </p:nvSpPr>
        <p:spPr>
          <a:xfrm>
            <a:off x="7969564" y="5527634"/>
            <a:ext cx="3900991" cy="1037516"/>
          </a:xfrm>
          <a:prstGeom prst="rect">
            <a:avLst/>
          </a:prstGeom>
          <a:noFill/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7E0C4FB-FEF8-FE58-4EAE-86AA48B5A5BF}"/>
              </a:ext>
            </a:extLst>
          </p:cNvPr>
          <p:cNvSpPr txBox="1"/>
          <p:nvPr/>
        </p:nvSpPr>
        <p:spPr>
          <a:xfrm>
            <a:off x="8104819" y="5692449"/>
            <a:ext cx="6945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总结反思</a:t>
            </a:r>
            <a:endParaRPr kumimoji="1" lang="zh-CN" altLang="zh-CN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22ADFF0-1E50-F2AE-5772-BD9B38EA76BC}"/>
              </a:ext>
            </a:extLst>
          </p:cNvPr>
          <p:cNvSpPr txBox="1"/>
          <p:nvPr/>
        </p:nvSpPr>
        <p:spPr>
          <a:xfrm>
            <a:off x="8983801" y="5634455"/>
            <a:ext cx="2652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提出优化思路后不盲目运用，而是先建立小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demo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验证思路必要性与可行性</a:t>
            </a:r>
            <a:endParaRPr kumimoji="1" lang="zh-C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40B7052-DE3D-4063-69B4-3E30FED2F2D1}"/>
              </a:ext>
            </a:extLst>
          </p:cNvPr>
          <p:cNvSpPr txBox="1"/>
          <p:nvPr/>
        </p:nvSpPr>
        <p:spPr>
          <a:xfrm>
            <a:off x="8176199" y="1754538"/>
            <a:ext cx="3526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spcBef>
                <a:spcPts val="600"/>
              </a:spcBef>
              <a:defRPr kumimoji="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判断前方是否存在</a:t>
            </a:r>
            <a:r>
              <a:rPr lang="zh-CN" altLang="en-US" dirty="0"/>
              <a:t>特殊道路类型</a:t>
            </a:r>
            <a:endParaRPr lang="zh-CN" altLang="zh-CN" dirty="0"/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E0B10313-D0F8-02F0-BA16-F86510D2FBDA}"/>
              </a:ext>
            </a:extLst>
          </p:cNvPr>
          <p:cNvSpPr/>
          <p:nvPr/>
        </p:nvSpPr>
        <p:spPr>
          <a:xfrm>
            <a:off x="7872784" y="3002747"/>
            <a:ext cx="4133435" cy="633979"/>
          </a:xfrm>
          <a:prstGeom prst="roundRect">
            <a:avLst>
              <a:gd name="adj" fmla="val 50000"/>
            </a:avLst>
          </a:prstGeom>
          <a:solidFill>
            <a:srgbClr val="FF7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1BEA728-01E1-9B6E-A1E5-AFF6E7979768}"/>
              </a:ext>
            </a:extLst>
          </p:cNvPr>
          <p:cNvSpPr txBox="1"/>
          <p:nvPr/>
        </p:nvSpPr>
        <p:spPr>
          <a:xfrm>
            <a:off x="7953141" y="3135070"/>
            <a:ext cx="3972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spcBef>
                <a:spcPts val="600"/>
              </a:spcBef>
              <a:defRPr kumimoji="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判断</a:t>
            </a:r>
            <a:r>
              <a:rPr lang="zh-CN" altLang="en-US" dirty="0"/>
              <a:t> </a:t>
            </a:r>
            <a:r>
              <a:rPr lang="zh-CN" altLang="zh-CN" dirty="0"/>
              <a:t>pp_curve 是否存在自交等异</a:t>
            </a:r>
            <a:r>
              <a:rPr lang="zh-CN" altLang="en-US" dirty="0"/>
              <a:t>常</a:t>
            </a:r>
            <a:endParaRPr lang="zh-CN" altLang="zh-CN" dirty="0"/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F35BE843-D460-F300-2D85-C13C32E52801}"/>
              </a:ext>
            </a:extLst>
          </p:cNvPr>
          <p:cNvSpPr/>
          <p:nvPr/>
        </p:nvSpPr>
        <p:spPr>
          <a:xfrm>
            <a:off x="7872784" y="4365433"/>
            <a:ext cx="4133434" cy="791091"/>
          </a:xfrm>
          <a:prstGeom prst="roundRect">
            <a:avLst>
              <a:gd name="adj" fmla="val 50000"/>
            </a:avLst>
          </a:prstGeom>
          <a:solidFill>
            <a:srgbClr val="FF7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3781798-80A8-3CA4-32D5-AD5D038C1A3A}"/>
              </a:ext>
            </a:extLst>
          </p:cNvPr>
          <p:cNvSpPr txBox="1"/>
          <p:nvPr/>
        </p:nvSpPr>
        <p:spPr>
          <a:xfrm>
            <a:off x="7969565" y="4436326"/>
            <a:ext cx="3939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spcBef>
                <a:spcPts val="600"/>
              </a:spcBef>
              <a:defRPr kumimoji="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判定</a:t>
            </a:r>
            <a:r>
              <a:rPr lang="zh-CN" altLang="zh-CN" dirty="0"/>
              <a:t> pp_curve 稳定贴合 regional path 的</a:t>
            </a:r>
            <a:r>
              <a:rPr lang="zh-CN" altLang="en-US" dirty="0"/>
              <a:t>范围</a:t>
            </a:r>
            <a:endParaRPr lang="zh-CN" altLang="zh-CN" dirty="0"/>
          </a:p>
        </p:txBody>
      </p:sp>
      <p:sp>
        <p:nvSpPr>
          <p:cNvPr id="50" name="下箭头 49">
            <a:extLst>
              <a:ext uri="{FF2B5EF4-FFF2-40B4-BE49-F238E27FC236}">
                <a16:creationId xmlns:a16="http://schemas.microsoft.com/office/drawing/2014/main" id="{7DEC2570-D911-59F6-B6BF-6BFC49F43B9C}"/>
              </a:ext>
            </a:extLst>
          </p:cNvPr>
          <p:cNvSpPr/>
          <p:nvPr/>
        </p:nvSpPr>
        <p:spPr>
          <a:xfrm>
            <a:off x="9720321" y="2344451"/>
            <a:ext cx="438355" cy="566453"/>
          </a:xfrm>
          <a:prstGeom prst="downArrow">
            <a:avLst/>
          </a:prstGeom>
          <a:noFill/>
          <a:ln w="19050">
            <a:solidFill>
              <a:srgbClr val="FF7F4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下箭头 52">
            <a:extLst>
              <a:ext uri="{FF2B5EF4-FFF2-40B4-BE49-F238E27FC236}">
                <a16:creationId xmlns:a16="http://schemas.microsoft.com/office/drawing/2014/main" id="{5AD4C5A4-6E59-EBF3-ECD7-FDA4B3A03FDF}"/>
              </a:ext>
            </a:extLst>
          </p:cNvPr>
          <p:cNvSpPr/>
          <p:nvPr/>
        </p:nvSpPr>
        <p:spPr>
          <a:xfrm>
            <a:off x="9720321" y="3710969"/>
            <a:ext cx="438355" cy="566453"/>
          </a:xfrm>
          <a:prstGeom prst="downArrow">
            <a:avLst/>
          </a:prstGeom>
          <a:noFill/>
          <a:ln w="19050">
            <a:solidFill>
              <a:srgbClr val="FF7F4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灯片编号占位符 57">
            <a:extLst>
              <a:ext uri="{FF2B5EF4-FFF2-40B4-BE49-F238E27FC236}">
                <a16:creationId xmlns:a16="http://schemas.microsoft.com/office/drawing/2014/main" id="{615E2824-89AD-FA5C-292B-0199A4E4B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D6745-9EBB-A044-B42C-0E6AD00F43E4}" type="slidenum">
              <a:rPr kumimoji="1" lang="zh-CN" altLang="en-US" sz="1600" b="1" smtClean="0"/>
              <a:pPr/>
              <a:t>8</a:t>
            </a:fld>
            <a:r>
              <a:rPr kumimoji="1" lang="zh-CN" altLang="en-US" sz="1400"/>
              <a:t> </a:t>
            </a:r>
            <a:r>
              <a:rPr kumimoji="1" lang="en-US" altLang="zh-CN"/>
              <a:t>/</a:t>
            </a:r>
            <a:r>
              <a:rPr kumimoji="1" lang="zh-CN" altLang="en-US"/>
              <a:t> </a:t>
            </a:r>
            <a:r>
              <a:rPr kumimoji="1" lang="en-US" altLang="zh-CN"/>
              <a:t>15</a:t>
            </a:r>
            <a:endParaRPr kumimoji="1"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4476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5029"/>
    </mc:Choice>
    <mc:Fallback>
      <p:transition spd="slow" advTm="1450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15" grpId="0"/>
      <p:bldP spid="16" grpId="0"/>
      <p:bldP spid="17" grpId="0"/>
      <p:bldP spid="18" grpId="0" animBg="1"/>
      <p:bldP spid="19" grpId="0"/>
      <p:bldP spid="20" grpId="0"/>
      <p:bldP spid="25" grpId="0"/>
      <p:bldP spid="45" grpId="0" animBg="1"/>
      <p:bldP spid="46" grpId="0"/>
      <p:bldP spid="47" grpId="0" animBg="1"/>
      <p:bldP spid="48" grpId="0"/>
      <p:bldP spid="50" grpId="0" animBg="1"/>
      <p:bldP spid="5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D0A41-CD8E-AA85-B3BE-51F0DB803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0BFD5F8-BEFF-1C9C-0289-72ABCFD931E3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B6F4A2-03DB-E001-C58E-C2F7BF9029D3}"/>
              </a:ext>
            </a:extLst>
          </p:cNvPr>
          <p:cNvSpPr txBox="1"/>
          <p:nvPr/>
        </p:nvSpPr>
        <p:spPr>
          <a:xfrm>
            <a:off x="335178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个人简介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DE54002B-7BD4-0B3D-56B4-077C79D71235}"/>
              </a:ext>
            </a:extLst>
          </p:cNvPr>
          <p:cNvCxnSpPr>
            <a:cxnSpLocks/>
          </p:cNvCxnSpPr>
          <p:nvPr/>
        </p:nvCxnSpPr>
        <p:spPr>
          <a:xfrm>
            <a:off x="5285970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3C70477-853C-E3A1-7661-5CA29A5C7047}"/>
              </a:ext>
            </a:extLst>
          </p:cNvPr>
          <p:cNvSpPr txBox="1"/>
          <p:nvPr/>
        </p:nvSpPr>
        <p:spPr>
          <a:xfrm>
            <a:off x="5462810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工作汇报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5176114D-6CB0-704F-D38C-C2DFAABE7BCF}"/>
              </a:ext>
            </a:extLst>
          </p:cNvPr>
          <p:cNvCxnSpPr>
            <a:cxnSpLocks/>
          </p:cNvCxnSpPr>
          <p:nvPr/>
        </p:nvCxnSpPr>
        <p:spPr>
          <a:xfrm>
            <a:off x="739699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594FC2F-C2F3-6002-C713-B74377A13D31}"/>
              </a:ext>
            </a:extLst>
          </p:cNvPr>
          <p:cNvSpPr txBox="1"/>
          <p:nvPr/>
        </p:nvSpPr>
        <p:spPr>
          <a:xfrm>
            <a:off x="7621608" y="178398"/>
            <a:ext cx="202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成长与总结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0694C629-58B6-6D55-33B2-81E324ABA4FC}"/>
              </a:ext>
            </a:extLst>
          </p:cNvPr>
          <p:cNvCxnSpPr>
            <a:cxnSpLocks/>
          </p:cNvCxnSpPr>
          <p:nvPr/>
        </p:nvCxnSpPr>
        <p:spPr>
          <a:xfrm>
            <a:off x="9885219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E2F2854-F58F-4EB9-DA14-653015C7CF6D}"/>
              </a:ext>
            </a:extLst>
          </p:cNvPr>
          <p:cNvSpPr txBox="1"/>
          <p:nvPr/>
        </p:nvSpPr>
        <p:spPr>
          <a:xfrm>
            <a:off x="1008181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未来规划</a:t>
            </a: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8D69F4E8-B28D-6EFB-8C77-1C0BEDB0B77E}"/>
              </a:ext>
            </a:extLst>
          </p:cNvPr>
          <p:cNvCxnSpPr>
            <a:cxnSpLocks/>
          </p:cNvCxnSpPr>
          <p:nvPr/>
        </p:nvCxnSpPr>
        <p:spPr>
          <a:xfrm>
            <a:off x="5594030" y="781088"/>
            <a:ext cx="1519415" cy="0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29FE2F06-E740-E528-8D10-CF09CF94CA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44"/>
          <a:stretch>
            <a:fillRect/>
          </a:stretch>
        </p:blipFill>
        <p:spPr>
          <a:xfrm>
            <a:off x="160315" y="93820"/>
            <a:ext cx="2180279" cy="692375"/>
          </a:xfrm>
          <a:prstGeom prst="rect">
            <a:avLst/>
          </a:prstGeom>
        </p:spPr>
      </p:pic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08644D1A-35E5-8F5D-9358-10B0412A7749}"/>
              </a:ext>
            </a:extLst>
          </p:cNvPr>
          <p:cNvCxnSpPr>
            <a:cxnSpLocks/>
          </p:cNvCxnSpPr>
          <p:nvPr/>
        </p:nvCxnSpPr>
        <p:spPr>
          <a:xfrm>
            <a:off x="343184" y="1560684"/>
            <a:ext cx="606069" cy="0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C31C8FD7-C2FC-2E15-27E8-7AD87B33BD94}"/>
              </a:ext>
            </a:extLst>
          </p:cNvPr>
          <p:cNvSpPr txBox="1"/>
          <p:nvPr/>
        </p:nvSpPr>
        <p:spPr>
          <a:xfrm>
            <a:off x="169224" y="1081011"/>
            <a:ext cx="7236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路线安全性校验方式调研 &amp; 优化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增加新的安全性校验模块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7444F817-D216-5451-9FFC-82CA092D98DE}"/>
              </a:ext>
            </a:extLst>
          </p:cNvPr>
          <p:cNvGrpSpPr/>
          <p:nvPr/>
        </p:nvGrpSpPr>
        <p:grpSpPr>
          <a:xfrm>
            <a:off x="214380" y="1937380"/>
            <a:ext cx="3426337" cy="4563750"/>
            <a:chOff x="630079" y="1993825"/>
            <a:chExt cx="3426337" cy="4563750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2F269433-2D6A-768F-3D34-91BD82703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753" r="3798"/>
            <a:stretch>
              <a:fillRect/>
            </a:stretch>
          </p:blipFill>
          <p:spPr>
            <a:xfrm>
              <a:off x="630079" y="1993825"/>
              <a:ext cx="2695073" cy="39312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isometricOffAxis1Right"/>
              <a:lightRig rig="threePt" dir="t"/>
            </a:scene3d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5BB12795-ED61-10D6-1E58-2E1140FD7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4680" r="3870"/>
            <a:stretch>
              <a:fillRect/>
            </a:stretch>
          </p:blipFill>
          <p:spPr>
            <a:xfrm>
              <a:off x="753401" y="2094743"/>
              <a:ext cx="2695073" cy="39312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isometricOffAxis1Right"/>
              <a:lightRig rig="threePt" dir="t"/>
            </a:scene3d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CDDA6FC7-2A7E-5923-56EA-FA511EA964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-3772" r="-835"/>
            <a:stretch>
              <a:fillRect/>
            </a:stretch>
          </p:blipFill>
          <p:spPr>
            <a:xfrm>
              <a:off x="790080" y="2238811"/>
              <a:ext cx="2884637" cy="39312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isometricOffAxis1Right"/>
              <a:lightRig rig="threePt" dir="t"/>
            </a:scene3d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A57CD3F4-95B2-4D1E-689A-4CC49E512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4709" r="4709"/>
            <a:stretch>
              <a:fillRect/>
            </a:stretch>
          </p:blipFill>
          <p:spPr>
            <a:xfrm>
              <a:off x="1036672" y="2373452"/>
              <a:ext cx="2629647" cy="39312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isometricOffAxis1Right"/>
              <a:lightRig rig="threePt" dir="t"/>
            </a:scene3d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83FD8B74-76C3-55D9-C280-617499FD6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5653" r="5477"/>
            <a:stretch>
              <a:fillRect/>
            </a:stretch>
          </p:blipFill>
          <p:spPr>
            <a:xfrm>
              <a:off x="1167453" y="2502455"/>
              <a:ext cx="2695073" cy="39312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isometricOffAxis1Right"/>
              <a:lightRig rig="threePt" dir="t"/>
            </a:scene3d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DBE2DD17-1F0A-975D-9A18-03BEE181A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4544" r="4884"/>
            <a:stretch>
              <a:fillRect/>
            </a:stretch>
          </p:blipFill>
          <p:spPr>
            <a:xfrm>
              <a:off x="1309709" y="2626375"/>
              <a:ext cx="2746707" cy="39312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isometricOffAxis1Right"/>
              <a:lightRig rig="threePt" dir="t"/>
            </a:scene3d>
          </p:spPr>
        </p:pic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E05E4C65-5FE2-F584-C053-67ABCBBCB677}"/>
              </a:ext>
            </a:extLst>
          </p:cNvPr>
          <p:cNvSpPr txBox="1"/>
          <p:nvPr/>
        </p:nvSpPr>
        <p:spPr>
          <a:xfrm>
            <a:off x="4064731" y="1733402"/>
            <a:ext cx="7178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通过调研论文、交通工程规范、公开产业方法，结合已有校验方法，总结成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六类</a:t>
            </a:r>
            <a:r>
              <a:rPr kumimoji="1"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典型风险判断场景</a:t>
            </a:r>
          </a:p>
        </p:txBody>
      </p:sp>
      <p:sp>
        <p:nvSpPr>
          <p:cNvPr id="40" name="平行四边形 39">
            <a:extLst>
              <a:ext uri="{FF2B5EF4-FFF2-40B4-BE49-F238E27FC236}">
                <a16:creationId xmlns:a16="http://schemas.microsoft.com/office/drawing/2014/main" id="{215A15EB-DC11-BCEB-3DD0-23DAC4E861D1}"/>
              </a:ext>
            </a:extLst>
          </p:cNvPr>
          <p:cNvSpPr/>
          <p:nvPr/>
        </p:nvSpPr>
        <p:spPr>
          <a:xfrm>
            <a:off x="4071473" y="2626375"/>
            <a:ext cx="4533857" cy="403087"/>
          </a:xfrm>
          <a:prstGeom prst="parallelogram">
            <a:avLst>
              <a:gd name="adj" fmla="val 0"/>
            </a:avLst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EAEB47F-53A7-D4A3-6D81-E9B1DEE7530D}"/>
              </a:ext>
            </a:extLst>
          </p:cNvPr>
          <p:cNvSpPr txBox="1"/>
          <p:nvPr/>
        </p:nvSpPr>
        <p:spPr>
          <a:xfrm>
            <a:off x="3751718" y="2643252"/>
            <a:ext cx="5204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en-US" altLang="zh-CN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ego</a:t>
            </a:r>
            <a:r>
              <a:rPr kumimoji="1" lang="zh-CN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无法连接到候选 </a:t>
            </a:r>
            <a:r>
              <a:rPr kumimoji="1" lang="en-US" altLang="zh-CN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path</a:t>
            </a:r>
            <a:r>
              <a:rPr kumimoji="1" lang="zh-CN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首车道</a:t>
            </a:r>
            <a:endParaRPr kumimoji="1" lang="zh-CN" altLang="zh-CN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平行四边形 41">
            <a:extLst>
              <a:ext uri="{FF2B5EF4-FFF2-40B4-BE49-F238E27FC236}">
                <a16:creationId xmlns:a16="http://schemas.microsoft.com/office/drawing/2014/main" id="{80E444AD-55E8-2724-D2F0-68606602DB9E}"/>
              </a:ext>
            </a:extLst>
          </p:cNvPr>
          <p:cNvSpPr/>
          <p:nvPr/>
        </p:nvSpPr>
        <p:spPr>
          <a:xfrm>
            <a:off x="4071473" y="3140485"/>
            <a:ext cx="4533857" cy="403087"/>
          </a:xfrm>
          <a:prstGeom prst="parallelogram">
            <a:avLst>
              <a:gd name="adj" fmla="val 0"/>
            </a:avLst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24E4C16-171B-6774-EBC0-67E3E5E45E1D}"/>
              </a:ext>
            </a:extLst>
          </p:cNvPr>
          <p:cNvSpPr txBox="1"/>
          <p:nvPr/>
        </p:nvSpPr>
        <p:spPr>
          <a:xfrm>
            <a:off x="3751718" y="3157362"/>
            <a:ext cx="5204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硬边界范围拓展</a:t>
            </a:r>
            <a:endParaRPr kumimoji="1" lang="zh-CN" altLang="zh-CN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平行四边形 50">
            <a:extLst>
              <a:ext uri="{FF2B5EF4-FFF2-40B4-BE49-F238E27FC236}">
                <a16:creationId xmlns:a16="http://schemas.microsoft.com/office/drawing/2014/main" id="{3ABEAB1F-E50D-8DF7-ED64-D08EB2715A06}"/>
              </a:ext>
            </a:extLst>
          </p:cNvPr>
          <p:cNvSpPr/>
          <p:nvPr/>
        </p:nvSpPr>
        <p:spPr>
          <a:xfrm>
            <a:off x="4071473" y="3671473"/>
            <a:ext cx="4533857" cy="403087"/>
          </a:xfrm>
          <a:prstGeom prst="parallelogram">
            <a:avLst>
              <a:gd name="adj" fmla="val 0"/>
            </a:avLst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6EE3688-20BE-7A75-B632-CC66A8EB1190}"/>
              </a:ext>
            </a:extLst>
          </p:cNvPr>
          <p:cNvSpPr txBox="1"/>
          <p:nvPr/>
        </p:nvSpPr>
        <p:spPr>
          <a:xfrm>
            <a:off x="3751718" y="3688350"/>
            <a:ext cx="5204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spcBef>
                <a:spcPts val="600"/>
              </a:spcBef>
              <a:defRPr kumimoji="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车辆</a:t>
            </a:r>
            <a:r>
              <a:rPr lang="zh-CN" altLang="en-US" dirty="0"/>
              <a:t>包络</a:t>
            </a:r>
            <a:r>
              <a:rPr lang="zh-CN" altLang="zh-CN" dirty="0"/>
              <a:t>与硬边界之间距离不足</a:t>
            </a:r>
          </a:p>
        </p:txBody>
      </p:sp>
      <p:sp>
        <p:nvSpPr>
          <p:cNvPr id="54" name="平行四边形 53">
            <a:extLst>
              <a:ext uri="{FF2B5EF4-FFF2-40B4-BE49-F238E27FC236}">
                <a16:creationId xmlns:a16="http://schemas.microsoft.com/office/drawing/2014/main" id="{2BA1A436-3A9B-534A-C9C0-ED7A90BEC0DF}"/>
              </a:ext>
            </a:extLst>
          </p:cNvPr>
          <p:cNvSpPr/>
          <p:nvPr/>
        </p:nvSpPr>
        <p:spPr>
          <a:xfrm>
            <a:off x="4071473" y="4221731"/>
            <a:ext cx="4533857" cy="403087"/>
          </a:xfrm>
          <a:prstGeom prst="parallelogram">
            <a:avLst>
              <a:gd name="adj" fmla="val 0"/>
            </a:avLst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C6EFFD1-888E-C8D1-132A-3362B29801BB}"/>
              </a:ext>
            </a:extLst>
          </p:cNvPr>
          <p:cNvSpPr txBox="1"/>
          <p:nvPr/>
        </p:nvSpPr>
        <p:spPr>
          <a:xfrm>
            <a:off x="3751718" y="4238608"/>
            <a:ext cx="5204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spcBef>
                <a:spcPts val="600"/>
              </a:spcBef>
              <a:defRPr kumimoji="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当前速度或预期速度与速度约束不匹配</a:t>
            </a:r>
          </a:p>
        </p:txBody>
      </p:sp>
      <p:sp>
        <p:nvSpPr>
          <p:cNvPr id="56" name="平行四边形 55">
            <a:extLst>
              <a:ext uri="{FF2B5EF4-FFF2-40B4-BE49-F238E27FC236}">
                <a16:creationId xmlns:a16="http://schemas.microsoft.com/office/drawing/2014/main" id="{0891430B-ACCB-F3D3-06F0-B4860A55BF2E}"/>
              </a:ext>
            </a:extLst>
          </p:cNvPr>
          <p:cNvSpPr/>
          <p:nvPr/>
        </p:nvSpPr>
        <p:spPr>
          <a:xfrm>
            <a:off x="4071473" y="4752975"/>
            <a:ext cx="4533857" cy="403087"/>
          </a:xfrm>
          <a:prstGeom prst="parallelogram">
            <a:avLst>
              <a:gd name="adj" fmla="val 0"/>
            </a:avLst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31A04CA-36E8-AE2D-997C-C83C221718DD}"/>
              </a:ext>
            </a:extLst>
          </p:cNvPr>
          <p:cNvSpPr txBox="1"/>
          <p:nvPr/>
        </p:nvSpPr>
        <p:spPr>
          <a:xfrm>
            <a:off x="3751718" y="4769852"/>
            <a:ext cx="5204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spcBef>
                <a:spcPts val="600"/>
              </a:spcBef>
              <a:defRPr kumimoji="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短S弯、连续反向弯等</a:t>
            </a:r>
          </a:p>
        </p:txBody>
      </p:sp>
      <p:sp>
        <p:nvSpPr>
          <p:cNvPr id="58" name="平行四边形 57">
            <a:extLst>
              <a:ext uri="{FF2B5EF4-FFF2-40B4-BE49-F238E27FC236}">
                <a16:creationId xmlns:a16="http://schemas.microsoft.com/office/drawing/2014/main" id="{3B857D7A-A6D3-561D-94B0-20DC25863BFE}"/>
              </a:ext>
            </a:extLst>
          </p:cNvPr>
          <p:cNvSpPr/>
          <p:nvPr/>
        </p:nvSpPr>
        <p:spPr>
          <a:xfrm>
            <a:off x="4071473" y="5284219"/>
            <a:ext cx="4533857" cy="403087"/>
          </a:xfrm>
          <a:prstGeom prst="parallelogram">
            <a:avLst>
              <a:gd name="adj" fmla="val 0"/>
            </a:avLst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973615C0-0AB1-4C1A-9098-B2C7345F9496}"/>
              </a:ext>
            </a:extLst>
          </p:cNvPr>
          <p:cNvSpPr txBox="1"/>
          <p:nvPr/>
        </p:nvSpPr>
        <p:spPr>
          <a:xfrm>
            <a:off x="3751718" y="5301096"/>
            <a:ext cx="5204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spcBef>
                <a:spcPts val="600"/>
              </a:spcBef>
              <a:defRPr kumimoji="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短距离多次换道</a:t>
            </a:r>
            <a:r>
              <a:rPr lang="zh-CN" altLang="en-US" dirty="0"/>
              <a:t>空间不足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B76BCDA-4CE9-29B9-98C5-C1894611DB6F}"/>
              </a:ext>
            </a:extLst>
          </p:cNvPr>
          <p:cNvSpPr/>
          <p:nvPr/>
        </p:nvSpPr>
        <p:spPr>
          <a:xfrm>
            <a:off x="3992914" y="3605605"/>
            <a:ext cx="8063264" cy="1608292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BC21DB4-6312-0C8E-7190-8CDB61315D56}"/>
              </a:ext>
            </a:extLst>
          </p:cNvPr>
          <p:cNvSpPr txBox="1"/>
          <p:nvPr/>
        </p:nvSpPr>
        <p:spPr>
          <a:xfrm>
            <a:off x="8735905" y="3787057"/>
            <a:ext cx="33202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车辆包络、速度与转向角可达范围，都可以作为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ego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状态随着路径推进</a:t>
            </a:r>
            <a:endParaRPr kumimoji="1" lang="zh-CN" altLang="zh-CN" sz="1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80B3AE1-9FD2-0416-8F9F-90B1FE85C0FC}"/>
              </a:ext>
            </a:extLst>
          </p:cNvPr>
          <p:cNvSpPr txBox="1"/>
          <p:nvPr/>
        </p:nvSpPr>
        <p:spPr>
          <a:xfrm>
            <a:off x="8845889" y="4712309"/>
            <a:ext cx="300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b="1" dirty="0"/>
              <a:t>构建车辆联合可</a:t>
            </a:r>
            <a:r>
              <a:rPr lang="zh-CN" altLang="en-US" b="1" dirty="0"/>
              <a:t>达</a:t>
            </a:r>
            <a:r>
              <a:rPr lang="zh-CN" altLang="zh-CN" b="1" dirty="0"/>
              <a:t>性传播模型</a:t>
            </a:r>
          </a:p>
        </p:txBody>
      </p:sp>
      <p:sp>
        <p:nvSpPr>
          <p:cNvPr id="65" name="下箭头 64">
            <a:extLst>
              <a:ext uri="{FF2B5EF4-FFF2-40B4-BE49-F238E27FC236}">
                <a16:creationId xmlns:a16="http://schemas.microsoft.com/office/drawing/2014/main" id="{09DCC136-E7BE-A3CA-2893-1DE593779011}"/>
              </a:ext>
            </a:extLst>
          </p:cNvPr>
          <p:cNvSpPr/>
          <p:nvPr/>
        </p:nvSpPr>
        <p:spPr>
          <a:xfrm>
            <a:off x="10081818" y="4418492"/>
            <a:ext cx="525710" cy="261566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A042A9DC-3D24-095D-92E0-87C6C96049AF}"/>
              </a:ext>
            </a:extLst>
          </p:cNvPr>
          <p:cNvSpPr txBox="1"/>
          <p:nvPr/>
        </p:nvSpPr>
        <p:spPr>
          <a:xfrm>
            <a:off x="3927310" y="6233600"/>
            <a:ext cx="8080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sz="2000" dirty="0"/>
              <a:t>统一模块能提高效率，且能够统一定位位置与原因，更方便调试与扩展</a:t>
            </a:r>
          </a:p>
        </p:txBody>
      </p: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EE93F549-ABB9-27FC-5DE9-1EC045E15BDF}"/>
              </a:ext>
            </a:extLst>
          </p:cNvPr>
          <p:cNvCxnSpPr>
            <a:cxnSpLocks/>
          </p:cNvCxnSpPr>
          <p:nvPr/>
        </p:nvCxnSpPr>
        <p:spPr>
          <a:xfrm>
            <a:off x="4064731" y="6025943"/>
            <a:ext cx="7805827" cy="0"/>
          </a:xfrm>
          <a:prstGeom prst="line">
            <a:avLst/>
          </a:prstGeom>
          <a:ln w="31750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灯片编号占位符 71">
            <a:extLst>
              <a:ext uri="{FF2B5EF4-FFF2-40B4-BE49-F238E27FC236}">
                <a16:creationId xmlns:a16="http://schemas.microsoft.com/office/drawing/2014/main" id="{64713797-77C9-6E59-4957-93B4D2526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D6745-9EBB-A044-B42C-0E6AD00F43E4}" type="slidenum">
              <a:rPr kumimoji="1" lang="zh-CN" altLang="en-US" sz="1600" b="1" smtClean="0"/>
              <a:pPr/>
              <a:t>9</a:t>
            </a:fld>
            <a:r>
              <a:rPr kumimoji="1" lang="zh-CN" altLang="en-US" sz="1400"/>
              <a:t> </a:t>
            </a:r>
            <a:r>
              <a:rPr kumimoji="1" lang="en-US" altLang="zh-CN"/>
              <a:t>/</a:t>
            </a:r>
            <a:r>
              <a:rPr kumimoji="1" lang="zh-CN" altLang="en-US"/>
              <a:t> </a:t>
            </a:r>
            <a:r>
              <a:rPr kumimoji="1" lang="en-US" altLang="zh-CN"/>
              <a:t>15</a:t>
            </a:r>
            <a:endParaRPr kumimoji="1"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9435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104"/>
    </mc:Choice>
    <mc:Fallback>
      <p:transition spd="slow" advTm="551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/>
      <p:bldP spid="63" grpId="0"/>
      <p:bldP spid="65" grpId="0" animBg="1"/>
      <p:bldP spid="6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DDCC4-6DBA-1A77-30D0-22D2300AA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FE255F5-1FC3-95A8-05E3-8657C4F17F37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719516B-9A30-04CA-550C-00BCA2748B2C}"/>
              </a:ext>
            </a:extLst>
          </p:cNvPr>
          <p:cNvSpPr txBox="1"/>
          <p:nvPr/>
        </p:nvSpPr>
        <p:spPr>
          <a:xfrm>
            <a:off x="335178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个人简介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FB2B61C5-B816-3D7B-9F86-676082682DB8}"/>
              </a:ext>
            </a:extLst>
          </p:cNvPr>
          <p:cNvCxnSpPr>
            <a:cxnSpLocks/>
          </p:cNvCxnSpPr>
          <p:nvPr/>
        </p:nvCxnSpPr>
        <p:spPr>
          <a:xfrm>
            <a:off x="5285970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89D8C0E-1638-2B39-20C0-03680743671E}"/>
              </a:ext>
            </a:extLst>
          </p:cNvPr>
          <p:cNvSpPr txBox="1"/>
          <p:nvPr/>
        </p:nvSpPr>
        <p:spPr>
          <a:xfrm>
            <a:off x="5462810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工作汇报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536F92C2-4472-03F7-7E86-8E39DEF6760D}"/>
              </a:ext>
            </a:extLst>
          </p:cNvPr>
          <p:cNvCxnSpPr>
            <a:cxnSpLocks/>
          </p:cNvCxnSpPr>
          <p:nvPr/>
        </p:nvCxnSpPr>
        <p:spPr>
          <a:xfrm>
            <a:off x="739699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322875B-1C17-F56B-AEFB-BC442F9C2709}"/>
              </a:ext>
            </a:extLst>
          </p:cNvPr>
          <p:cNvSpPr txBox="1"/>
          <p:nvPr/>
        </p:nvSpPr>
        <p:spPr>
          <a:xfrm>
            <a:off x="7621608" y="178398"/>
            <a:ext cx="202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成长与总结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9E601AEF-CB89-7D0A-FFA6-4EFDDFD7E304}"/>
              </a:ext>
            </a:extLst>
          </p:cNvPr>
          <p:cNvCxnSpPr>
            <a:cxnSpLocks/>
          </p:cNvCxnSpPr>
          <p:nvPr/>
        </p:nvCxnSpPr>
        <p:spPr>
          <a:xfrm>
            <a:off x="9885219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1B7D1282-6F2B-99E2-218B-5FD9A6F603D1}"/>
              </a:ext>
            </a:extLst>
          </p:cNvPr>
          <p:cNvSpPr txBox="1"/>
          <p:nvPr/>
        </p:nvSpPr>
        <p:spPr>
          <a:xfrm>
            <a:off x="1008181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未来规划</a:t>
            </a: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33A09F87-29D8-27C5-7705-BCA648B2D260}"/>
              </a:ext>
            </a:extLst>
          </p:cNvPr>
          <p:cNvCxnSpPr>
            <a:cxnSpLocks/>
          </p:cNvCxnSpPr>
          <p:nvPr/>
        </p:nvCxnSpPr>
        <p:spPr>
          <a:xfrm>
            <a:off x="5594030" y="781088"/>
            <a:ext cx="1519415" cy="0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A14C1F4E-6C8F-270B-D37A-23B4DFDC41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44"/>
          <a:stretch>
            <a:fillRect/>
          </a:stretch>
        </p:blipFill>
        <p:spPr>
          <a:xfrm>
            <a:off x="160315" y="93820"/>
            <a:ext cx="2180279" cy="69237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AD3ADFA-98FE-CAD8-A0F2-72AB856C2A8E}"/>
              </a:ext>
            </a:extLst>
          </p:cNvPr>
          <p:cNvSpPr txBox="1"/>
          <p:nvPr/>
        </p:nvSpPr>
        <p:spPr>
          <a:xfrm>
            <a:off x="214380" y="1634131"/>
            <a:ext cx="3685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车辆几何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动力学联合可达集校验</a:t>
            </a:r>
            <a:endParaRPr lang="zh-CN" altLang="en-US" sz="1600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0FF16E5-15E7-6A46-B597-6FF94347A3F9}"/>
              </a:ext>
            </a:extLst>
          </p:cNvPr>
          <p:cNvSpPr/>
          <p:nvPr/>
        </p:nvSpPr>
        <p:spPr>
          <a:xfrm>
            <a:off x="1139315" y="2519301"/>
            <a:ext cx="914509" cy="440267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0DB2A64E-8E1E-98EE-6A9F-3797266A8006}"/>
              </a:ext>
            </a:extLst>
          </p:cNvPr>
          <p:cNvSpPr/>
          <p:nvPr/>
        </p:nvSpPr>
        <p:spPr>
          <a:xfrm>
            <a:off x="4795591" y="2519301"/>
            <a:ext cx="914509" cy="440267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828B2B45-0A23-47C2-3DF7-CE80FDBFD61B}"/>
              </a:ext>
            </a:extLst>
          </p:cNvPr>
          <p:cNvSpPr/>
          <p:nvPr/>
        </p:nvSpPr>
        <p:spPr>
          <a:xfrm>
            <a:off x="3107554" y="2519301"/>
            <a:ext cx="914509" cy="440267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8732731-87D0-B7A9-0B73-652F6FEC111D}"/>
              </a:ext>
            </a:extLst>
          </p:cNvPr>
          <p:cNvSpPr/>
          <p:nvPr/>
        </p:nvSpPr>
        <p:spPr>
          <a:xfrm>
            <a:off x="840245" y="3526645"/>
            <a:ext cx="1516897" cy="516264"/>
          </a:xfrm>
          <a:prstGeom prst="rect">
            <a:avLst/>
          </a:prstGeom>
          <a:noFill/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9220C57-87BB-B093-C707-F808677CAC02}"/>
              </a:ext>
            </a:extLst>
          </p:cNvPr>
          <p:cNvSpPr/>
          <p:nvPr/>
        </p:nvSpPr>
        <p:spPr>
          <a:xfrm>
            <a:off x="839000" y="4583293"/>
            <a:ext cx="1516897" cy="516264"/>
          </a:xfrm>
          <a:prstGeom prst="rect">
            <a:avLst/>
          </a:prstGeom>
          <a:noFill/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05EB4FE-4986-96C1-4E3B-988A1D61A820}"/>
              </a:ext>
            </a:extLst>
          </p:cNvPr>
          <p:cNvSpPr/>
          <p:nvPr/>
        </p:nvSpPr>
        <p:spPr>
          <a:xfrm>
            <a:off x="838289" y="5641710"/>
            <a:ext cx="1516897" cy="751065"/>
          </a:xfrm>
          <a:prstGeom prst="rect">
            <a:avLst/>
          </a:prstGeom>
          <a:noFill/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菱形 23">
            <a:extLst>
              <a:ext uri="{FF2B5EF4-FFF2-40B4-BE49-F238E27FC236}">
                <a16:creationId xmlns:a16="http://schemas.microsoft.com/office/drawing/2014/main" id="{05C541EC-64C7-8797-1FAC-8D7FE58E5EDE}"/>
              </a:ext>
            </a:extLst>
          </p:cNvPr>
          <p:cNvSpPr/>
          <p:nvPr/>
        </p:nvSpPr>
        <p:spPr>
          <a:xfrm>
            <a:off x="2802447" y="5671757"/>
            <a:ext cx="1516896" cy="691812"/>
          </a:xfrm>
          <a:prstGeom prst="diamond">
            <a:avLst/>
          </a:prstGeom>
          <a:noFill/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F61EC14-6C22-74AA-3553-1514526E5370}"/>
              </a:ext>
            </a:extLst>
          </p:cNvPr>
          <p:cNvSpPr/>
          <p:nvPr/>
        </p:nvSpPr>
        <p:spPr>
          <a:xfrm>
            <a:off x="4497173" y="5260725"/>
            <a:ext cx="1516897" cy="516264"/>
          </a:xfrm>
          <a:prstGeom prst="rect">
            <a:avLst/>
          </a:prstGeom>
          <a:noFill/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菱形 31">
            <a:extLst>
              <a:ext uri="{FF2B5EF4-FFF2-40B4-BE49-F238E27FC236}">
                <a16:creationId xmlns:a16="http://schemas.microsoft.com/office/drawing/2014/main" id="{384FA758-65B6-0FE3-F033-43B2A2CECC13}"/>
              </a:ext>
            </a:extLst>
          </p:cNvPr>
          <p:cNvSpPr/>
          <p:nvPr/>
        </p:nvSpPr>
        <p:spPr>
          <a:xfrm>
            <a:off x="4496222" y="4299270"/>
            <a:ext cx="1516896" cy="691812"/>
          </a:xfrm>
          <a:prstGeom prst="diamond">
            <a:avLst/>
          </a:prstGeom>
          <a:noFill/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菱形 32">
            <a:extLst>
              <a:ext uri="{FF2B5EF4-FFF2-40B4-BE49-F238E27FC236}">
                <a16:creationId xmlns:a16="http://schemas.microsoft.com/office/drawing/2014/main" id="{B06075C8-B74F-1B77-D758-DAC8AFED3DBB}"/>
              </a:ext>
            </a:extLst>
          </p:cNvPr>
          <p:cNvSpPr/>
          <p:nvPr/>
        </p:nvSpPr>
        <p:spPr>
          <a:xfrm>
            <a:off x="4496222" y="3282709"/>
            <a:ext cx="1516896" cy="691812"/>
          </a:xfrm>
          <a:prstGeom prst="diamond">
            <a:avLst/>
          </a:prstGeom>
          <a:noFill/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4556CD32-4E26-AE8F-24EE-93E843365A89}"/>
              </a:ext>
            </a:extLst>
          </p:cNvPr>
          <p:cNvCxnSpPr>
            <a:cxnSpLocks/>
          </p:cNvCxnSpPr>
          <p:nvPr/>
        </p:nvCxnSpPr>
        <p:spPr>
          <a:xfrm>
            <a:off x="343184" y="1560684"/>
            <a:ext cx="606069" cy="0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30A4CF34-F688-A37E-6CB2-4DBB84CC5D4C}"/>
              </a:ext>
            </a:extLst>
          </p:cNvPr>
          <p:cNvSpPr txBox="1"/>
          <p:nvPr/>
        </p:nvSpPr>
        <p:spPr>
          <a:xfrm>
            <a:off x="169224" y="1081011"/>
            <a:ext cx="7236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路线安全性校验方式调研 &amp; 优化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增加新的安全性校验模块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33AC3E0-B190-19C3-99FC-04790942F29B}"/>
              </a:ext>
            </a:extLst>
          </p:cNvPr>
          <p:cNvSpPr txBox="1"/>
          <p:nvPr/>
        </p:nvSpPr>
        <p:spPr>
          <a:xfrm>
            <a:off x="1272217" y="2600934"/>
            <a:ext cx="663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输入</a:t>
            </a:r>
            <a:endParaRPr kumimoji="1" lang="zh-CN" altLang="zh-CN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129EBCB-38F3-D4D4-22FE-32B0146223F3}"/>
              </a:ext>
            </a:extLst>
          </p:cNvPr>
          <p:cNvSpPr txBox="1"/>
          <p:nvPr/>
        </p:nvSpPr>
        <p:spPr>
          <a:xfrm>
            <a:off x="840245" y="3553944"/>
            <a:ext cx="1516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沿候选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path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采样并初始化</a:t>
            </a:r>
            <a:endParaRPr kumimoji="1" lang="zh-CN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9209938-CEE7-83BB-FDE8-301E82A54319}"/>
              </a:ext>
            </a:extLst>
          </p:cNvPr>
          <p:cNvSpPr txBox="1"/>
          <p:nvPr/>
        </p:nvSpPr>
        <p:spPr>
          <a:xfrm>
            <a:off x="838999" y="4702925"/>
            <a:ext cx="1516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计算每点速度上界</a:t>
            </a:r>
            <a:endParaRPr kumimoji="1" lang="zh-CN" altLang="zh-CN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4E82E00-A6A3-627D-A118-4D3A2559C0BB}"/>
              </a:ext>
            </a:extLst>
          </p:cNvPr>
          <p:cNvSpPr txBox="1"/>
          <p:nvPr/>
        </p:nvSpPr>
        <p:spPr>
          <a:xfrm>
            <a:off x="811031" y="5694076"/>
            <a:ext cx="15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根据车辆尺寸构造包络，与下一采样点形成扫掠区域</a:t>
            </a:r>
            <a:endParaRPr kumimoji="1" lang="zh-CN" altLang="zh-CN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6D709F6-6398-3538-5372-535B0B11AE02}"/>
              </a:ext>
            </a:extLst>
          </p:cNvPr>
          <p:cNvSpPr txBox="1"/>
          <p:nvPr/>
        </p:nvSpPr>
        <p:spPr>
          <a:xfrm>
            <a:off x="2806985" y="5879163"/>
            <a:ext cx="1516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与硬边界相交？</a:t>
            </a:r>
            <a:endParaRPr kumimoji="1" lang="zh-CN" altLang="zh-CN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2ABE7BA-DB57-236E-D0BB-B2CE7240F4D0}"/>
              </a:ext>
            </a:extLst>
          </p:cNvPr>
          <p:cNvSpPr txBox="1"/>
          <p:nvPr/>
        </p:nvSpPr>
        <p:spPr>
          <a:xfrm>
            <a:off x="4497173" y="5288788"/>
            <a:ext cx="1516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向前传播速度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转向角可达集</a:t>
            </a:r>
            <a:endParaRPr kumimoji="1" lang="zh-CN" altLang="zh-CN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9090D6A-74A5-F136-88F1-1C05157175C3}"/>
              </a:ext>
            </a:extLst>
          </p:cNvPr>
          <p:cNvSpPr txBox="1"/>
          <p:nvPr/>
        </p:nvSpPr>
        <p:spPr>
          <a:xfrm>
            <a:off x="4524069" y="4518250"/>
            <a:ext cx="1516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与约束交集为空？</a:t>
            </a:r>
            <a:endParaRPr kumimoji="1" lang="zh-CN" altLang="zh-CN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47A20D2-9C46-6792-F102-1D49AABD6534}"/>
              </a:ext>
            </a:extLst>
          </p:cNvPr>
          <p:cNvSpPr txBox="1"/>
          <p:nvPr/>
        </p:nvSpPr>
        <p:spPr>
          <a:xfrm>
            <a:off x="4496221" y="3488701"/>
            <a:ext cx="1516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后续采样点？</a:t>
            </a:r>
            <a:endParaRPr kumimoji="1" lang="zh-CN" altLang="zh-CN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9B64FDF-962A-A583-C195-D9AB8E0CE527}"/>
              </a:ext>
            </a:extLst>
          </p:cNvPr>
          <p:cNvSpPr txBox="1"/>
          <p:nvPr/>
        </p:nvSpPr>
        <p:spPr>
          <a:xfrm>
            <a:off x="3187050" y="2605012"/>
            <a:ext cx="7555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Risky</a:t>
            </a:r>
            <a:endParaRPr kumimoji="1" lang="zh-CN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C8165EC-A0AA-A68E-11C9-7AC68B2DED13}"/>
              </a:ext>
            </a:extLst>
          </p:cNvPr>
          <p:cNvSpPr txBox="1"/>
          <p:nvPr/>
        </p:nvSpPr>
        <p:spPr>
          <a:xfrm>
            <a:off x="4724509" y="2600934"/>
            <a:ext cx="1054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Non-risky</a:t>
            </a:r>
            <a:endParaRPr kumimoji="1" lang="zh-CN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04FE6778-5EF9-FEE0-6561-90A5FFE1E6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276" b="4406"/>
          <a:stretch>
            <a:fillRect/>
          </a:stretch>
        </p:blipFill>
        <p:spPr>
          <a:xfrm>
            <a:off x="6861896" y="1585019"/>
            <a:ext cx="4951167" cy="3998055"/>
          </a:xfrm>
          <a:prstGeom prst="rect">
            <a:avLst/>
          </a:prstGeom>
        </p:spPr>
      </p:pic>
      <p:sp>
        <p:nvSpPr>
          <p:cNvPr id="53" name="矩形 52">
            <a:extLst>
              <a:ext uri="{FF2B5EF4-FFF2-40B4-BE49-F238E27FC236}">
                <a16:creationId xmlns:a16="http://schemas.microsoft.com/office/drawing/2014/main" id="{BEB47FCC-96FD-59EB-482A-1218FBBBF214}"/>
              </a:ext>
            </a:extLst>
          </p:cNvPr>
          <p:cNvSpPr/>
          <p:nvPr/>
        </p:nvSpPr>
        <p:spPr>
          <a:xfrm>
            <a:off x="231189" y="2073685"/>
            <a:ext cx="6236347" cy="4690495"/>
          </a:xfrm>
          <a:prstGeom prst="rect">
            <a:avLst/>
          </a:prstGeom>
          <a:noFill/>
          <a:ln w="19050">
            <a:solidFill>
              <a:srgbClr val="FF7F4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0C0F6F7E-9109-B890-AA94-F35400536D16}"/>
              </a:ext>
            </a:extLst>
          </p:cNvPr>
          <p:cNvCxnSpPr>
            <a:cxnSpLocks/>
            <a:stCxn id="6" idx="2"/>
            <a:endCxn id="17" idx="0"/>
          </p:cNvCxnSpPr>
          <p:nvPr/>
        </p:nvCxnSpPr>
        <p:spPr>
          <a:xfrm>
            <a:off x="1596570" y="2959568"/>
            <a:ext cx="2124" cy="5670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7BCC4E94-2710-91B8-BD43-7C1A57CC5AE5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1597449" y="4042909"/>
            <a:ext cx="1245" cy="5403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04B97720-4536-CFA5-7971-A3EB1D7C9916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1596738" y="5099557"/>
            <a:ext cx="711" cy="5421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FC0FF165-1561-FA75-3A5F-B89CE75895FB}"/>
              </a:ext>
            </a:extLst>
          </p:cNvPr>
          <p:cNvCxnSpPr>
            <a:cxnSpLocks/>
            <a:stCxn id="19" idx="3"/>
            <a:endCxn id="43" idx="1"/>
          </p:cNvCxnSpPr>
          <p:nvPr/>
        </p:nvCxnSpPr>
        <p:spPr>
          <a:xfrm>
            <a:off x="2355186" y="6017243"/>
            <a:ext cx="451799" cy="42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87250EF7-D65F-06DC-B8C5-B0823D6188A7}"/>
              </a:ext>
            </a:extLst>
          </p:cNvPr>
          <p:cNvCxnSpPr>
            <a:cxnSpLocks/>
            <a:stCxn id="24" idx="0"/>
            <a:endCxn id="16" idx="2"/>
          </p:cNvCxnSpPr>
          <p:nvPr/>
        </p:nvCxnSpPr>
        <p:spPr>
          <a:xfrm flipV="1">
            <a:off x="3560895" y="2959568"/>
            <a:ext cx="3914" cy="271218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538EBEB4-1A80-936C-89D7-994E6165DE3C}"/>
              </a:ext>
            </a:extLst>
          </p:cNvPr>
          <p:cNvCxnSpPr>
            <a:cxnSpLocks/>
            <a:stCxn id="33" idx="0"/>
            <a:endCxn id="15" idx="2"/>
          </p:cNvCxnSpPr>
          <p:nvPr/>
        </p:nvCxnSpPr>
        <p:spPr>
          <a:xfrm flipH="1" flipV="1">
            <a:off x="5252846" y="2959568"/>
            <a:ext cx="1824" cy="3231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B257FC07-0ED1-4017-39C2-6818B30BB337}"/>
              </a:ext>
            </a:extLst>
          </p:cNvPr>
          <p:cNvCxnSpPr>
            <a:cxnSpLocks/>
            <a:stCxn id="32" idx="0"/>
            <a:endCxn id="33" idx="2"/>
          </p:cNvCxnSpPr>
          <p:nvPr/>
        </p:nvCxnSpPr>
        <p:spPr>
          <a:xfrm flipV="1">
            <a:off x="5254670" y="3974521"/>
            <a:ext cx="0" cy="3247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6C995A9F-5E0E-AE91-4FA6-F890CB42163C}"/>
              </a:ext>
            </a:extLst>
          </p:cNvPr>
          <p:cNvCxnSpPr>
            <a:cxnSpLocks/>
            <a:stCxn id="25" idx="0"/>
            <a:endCxn id="32" idx="2"/>
          </p:cNvCxnSpPr>
          <p:nvPr/>
        </p:nvCxnSpPr>
        <p:spPr>
          <a:xfrm flipH="1" flipV="1">
            <a:off x="5254670" y="4991082"/>
            <a:ext cx="952" cy="2696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2" name="肘形连接符 111">
            <a:extLst>
              <a:ext uri="{FF2B5EF4-FFF2-40B4-BE49-F238E27FC236}">
                <a16:creationId xmlns:a16="http://schemas.microsoft.com/office/drawing/2014/main" id="{060AAB84-191B-7F2A-591F-FB91AE311DE6}"/>
              </a:ext>
            </a:extLst>
          </p:cNvPr>
          <p:cNvCxnSpPr>
            <a:stCxn id="43" idx="3"/>
            <a:endCxn id="25" idx="2"/>
          </p:cNvCxnSpPr>
          <p:nvPr/>
        </p:nvCxnSpPr>
        <p:spPr>
          <a:xfrm flipV="1">
            <a:off x="4323882" y="5776989"/>
            <a:ext cx="931740" cy="240674"/>
          </a:xfrm>
          <a:prstGeom prst="bentConnector2">
            <a:avLst/>
          </a:prstGeom>
          <a:ln w="19050">
            <a:solidFill>
              <a:srgbClr val="FF7F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443CEF5-33CD-32A8-0F66-AE4F330FDA7B}"/>
              </a:ext>
            </a:extLst>
          </p:cNvPr>
          <p:cNvSpPr txBox="1"/>
          <p:nvPr/>
        </p:nvSpPr>
        <p:spPr>
          <a:xfrm>
            <a:off x="3371657" y="5389838"/>
            <a:ext cx="37847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yes</a:t>
            </a:r>
            <a:endParaRPr kumimoji="1" lang="zh-CN" altLang="zh-CN" sz="9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610C307C-CAFF-52AA-2317-6AC11CF7DCC1}"/>
              </a:ext>
            </a:extLst>
          </p:cNvPr>
          <p:cNvSpPr txBox="1"/>
          <p:nvPr/>
        </p:nvSpPr>
        <p:spPr>
          <a:xfrm>
            <a:off x="4397829" y="5897326"/>
            <a:ext cx="37847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no</a:t>
            </a:r>
            <a:endParaRPr kumimoji="1" lang="zh-CN" altLang="zh-CN" sz="9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17" name="肘形连接符 116">
            <a:extLst>
              <a:ext uri="{FF2B5EF4-FFF2-40B4-BE49-F238E27FC236}">
                <a16:creationId xmlns:a16="http://schemas.microsoft.com/office/drawing/2014/main" id="{D3A8C948-436E-D8B4-4F58-A568FBCBF1C4}"/>
              </a:ext>
            </a:extLst>
          </p:cNvPr>
          <p:cNvCxnSpPr>
            <a:cxnSpLocks/>
            <a:stCxn id="46" idx="1"/>
            <a:endCxn id="16" idx="2"/>
          </p:cNvCxnSpPr>
          <p:nvPr/>
        </p:nvCxnSpPr>
        <p:spPr>
          <a:xfrm rot="10800000">
            <a:off x="3564809" y="2959568"/>
            <a:ext cx="959260" cy="1697182"/>
          </a:xfrm>
          <a:prstGeom prst="bentConnector2">
            <a:avLst/>
          </a:prstGeom>
          <a:ln w="19050">
            <a:solidFill>
              <a:srgbClr val="FF7F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肘形连接符 124">
            <a:extLst>
              <a:ext uri="{FF2B5EF4-FFF2-40B4-BE49-F238E27FC236}">
                <a16:creationId xmlns:a16="http://schemas.microsoft.com/office/drawing/2014/main" id="{A7D71442-199D-9E9C-E62E-4C6CCC5CC83D}"/>
              </a:ext>
            </a:extLst>
          </p:cNvPr>
          <p:cNvCxnSpPr>
            <a:cxnSpLocks/>
            <a:stCxn id="47" idx="1"/>
          </p:cNvCxnSpPr>
          <p:nvPr/>
        </p:nvCxnSpPr>
        <p:spPr>
          <a:xfrm rot="10800000" flipV="1">
            <a:off x="1587431" y="3627201"/>
            <a:ext cx="2908790" cy="1738364"/>
          </a:xfrm>
          <a:prstGeom prst="bentConnector3">
            <a:avLst>
              <a:gd name="adj1" fmla="val 53698"/>
            </a:avLst>
          </a:prstGeom>
          <a:ln w="19050">
            <a:solidFill>
              <a:srgbClr val="FF7F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文本框 130">
            <a:extLst>
              <a:ext uri="{FF2B5EF4-FFF2-40B4-BE49-F238E27FC236}">
                <a16:creationId xmlns:a16="http://schemas.microsoft.com/office/drawing/2014/main" id="{BE87177C-F5F6-CE45-8FD1-D7F341201F2B}"/>
              </a:ext>
            </a:extLst>
          </p:cNvPr>
          <p:cNvSpPr txBox="1"/>
          <p:nvPr/>
        </p:nvSpPr>
        <p:spPr>
          <a:xfrm>
            <a:off x="4026120" y="4536876"/>
            <a:ext cx="37847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yes</a:t>
            </a:r>
            <a:endParaRPr kumimoji="1" lang="zh-CN" altLang="zh-CN" sz="9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5D7F27D2-59F3-4C51-569E-5C7A2AE377E6}"/>
              </a:ext>
            </a:extLst>
          </p:cNvPr>
          <p:cNvSpPr/>
          <p:nvPr/>
        </p:nvSpPr>
        <p:spPr>
          <a:xfrm>
            <a:off x="5139638" y="4125571"/>
            <a:ext cx="226832" cy="936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C915D7F4-129D-8D56-D67C-1FE3578D0226}"/>
              </a:ext>
            </a:extLst>
          </p:cNvPr>
          <p:cNvSpPr txBox="1"/>
          <p:nvPr/>
        </p:nvSpPr>
        <p:spPr>
          <a:xfrm>
            <a:off x="5064497" y="4046493"/>
            <a:ext cx="3784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no</a:t>
            </a:r>
            <a:endParaRPr kumimoji="1" lang="zh-CN" altLang="zh-CN" sz="9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C1D60463-A187-4FB0-9B5E-9DDB195A16E0}"/>
              </a:ext>
            </a:extLst>
          </p:cNvPr>
          <p:cNvSpPr/>
          <p:nvPr/>
        </p:nvSpPr>
        <p:spPr>
          <a:xfrm>
            <a:off x="5139638" y="3106457"/>
            <a:ext cx="226832" cy="936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504A7DD2-454F-C501-0373-3BB6B4EDE697}"/>
              </a:ext>
            </a:extLst>
          </p:cNvPr>
          <p:cNvSpPr txBox="1"/>
          <p:nvPr/>
        </p:nvSpPr>
        <p:spPr>
          <a:xfrm>
            <a:off x="5064497" y="3027379"/>
            <a:ext cx="3784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no</a:t>
            </a:r>
            <a:endParaRPr kumimoji="1" lang="zh-CN" altLang="zh-CN" sz="9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A922CD81-11FF-69A4-F946-D9904E85BF1C}"/>
              </a:ext>
            </a:extLst>
          </p:cNvPr>
          <p:cNvSpPr txBox="1"/>
          <p:nvPr/>
        </p:nvSpPr>
        <p:spPr>
          <a:xfrm>
            <a:off x="4026120" y="3498517"/>
            <a:ext cx="37847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yes</a:t>
            </a:r>
            <a:endParaRPr kumimoji="1" lang="zh-CN" altLang="zh-CN" sz="9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0F9030AA-6967-EA43-7F39-FBD340DEB6AA}"/>
              </a:ext>
            </a:extLst>
          </p:cNvPr>
          <p:cNvSpPr/>
          <p:nvPr/>
        </p:nvSpPr>
        <p:spPr>
          <a:xfrm>
            <a:off x="3499304" y="3539497"/>
            <a:ext cx="52793" cy="175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4D950F0D-A8BA-EF93-651B-1ABC5E4ECD51}"/>
              </a:ext>
            </a:extLst>
          </p:cNvPr>
          <p:cNvSpPr/>
          <p:nvPr/>
        </p:nvSpPr>
        <p:spPr>
          <a:xfrm>
            <a:off x="3573712" y="3539497"/>
            <a:ext cx="52793" cy="175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3E56DED2-F299-73D8-9F05-EA9637DEB39B}"/>
              </a:ext>
            </a:extLst>
          </p:cNvPr>
          <p:cNvSpPr/>
          <p:nvPr/>
        </p:nvSpPr>
        <p:spPr>
          <a:xfrm>
            <a:off x="3497099" y="3559783"/>
            <a:ext cx="129406" cy="129406"/>
          </a:xfrm>
          <a:prstGeom prst="ellipse">
            <a:avLst/>
          </a:prstGeom>
          <a:noFill/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47F48697-10DC-DAF8-86A2-7241B1FF0F1D}"/>
              </a:ext>
            </a:extLst>
          </p:cNvPr>
          <p:cNvSpPr/>
          <p:nvPr/>
        </p:nvSpPr>
        <p:spPr>
          <a:xfrm>
            <a:off x="3469252" y="3639156"/>
            <a:ext cx="82846" cy="175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E67B371B-885F-64A6-661D-A9594C07406D}"/>
              </a:ext>
            </a:extLst>
          </p:cNvPr>
          <p:cNvSpPr/>
          <p:nvPr/>
        </p:nvSpPr>
        <p:spPr>
          <a:xfrm>
            <a:off x="3575174" y="3639156"/>
            <a:ext cx="82846" cy="175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50811373-A533-D19B-BCC4-F6A158388865}"/>
              </a:ext>
            </a:extLst>
          </p:cNvPr>
          <p:cNvSpPr/>
          <p:nvPr/>
        </p:nvSpPr>
        <p:spPr>
          <a:xfrm>
            <a:off x="6861896" y="5694076"/>
            <a:ext cx="5008659" cy="887986"/>
          </a:xfrm>
          <a:prstGeom prst="rect">
            <a:avLst/>
          </a:prstGeom>
          <a:noFill/>
          <a:ln w="1905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9747D187-96C2-DF61-D3DD-9725B1164D77}"/>
              </a:ext>
            </a:extLst>
          </p:cNvPr>
          <p:cNvSpPr txBox="1"/>
          <p:nvPr/>
        </p:nvSpPr>
        <p:spPr>
          <a:xfrm>
            <a:off x="6906152" y="5784968"/>
            <a:ext cx="8918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总结反思</a:t>
            </a:r>
            <a:endParaRPr kumimoji="1" lang="zh-CN" altLang="zh-CN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3673BD60-4465-D789-7AC5-E7FF59966305}"/>
              </a:ext>
            </a:extLst>
          </p:cNvPr>
          <p:cNvSpPr txBox="1"/>
          <p:nvPr/>
        </p:nvSpPr>
        <p:spPr>
          <a:xfrm>
            <a:off x="7716933" y="5847532"/>
            <a:ext cx="4015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通过可达集筛选可以减少下游对无解状态的规则尝试，并且增加失败原因可解释性</a:t>
            </a:r>
            <a:endParaRPr kumimoji="1" lang="zh-C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1" name="灯片编号占位符 150">
            <a:extLst>
              <a:ext uri="{FF2B5EF4-FFF2-40B4-BE49-F238E27FC236}">
                <a16:creationId xmlns:a16="http://schemas.microsoft.com/office/drawing/2014/main" id="{4EA2219E-F9F4-D498-2987-EEB361602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D6745-9EBB-A044-B42C-0E6AD00F43E4}" type="slidenum">
              <a:rPr kumimoji="1" lang="zh-CN" altLang="en-US" sz="1600" b="1" smtClean="0"/>
              <a:pPr/>
              <a:t>10</a:t>
            </a:fld>
            <a:r>
              <a:rPr kumimoji="1" lang="zh-CN" altLang="en-US" sz="1400"/>
              <a:t> </a:t>
            </a:r>
            <a:r>
              <a:rPr kumimoji="1" lang="en-US" altLang="zh-CN"/>
              <a:t>/</a:t>
            </a:r>
            <a:r>
              <a:rPr kumimoji="1" lang="zh-CN" altLang="en-US"/>
              <a:t> </a:t>
            </a:r>
            <a:r>
              <a:rPr kumimoji="1" lang="en-US" altLang="zh-CN"/>
              <a:t>15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0946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4719"/>
    </mc:Choice>
    <mc:Fallback>
      <p:transition spd="slow" advTm="7471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0019D-62D5-082B-D07A-5D30E27E3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8B7F8093-6FB2-4360-981A-0F7BC59052EE}"/>
              </a:ext>
            </a:extLst>
          </p:cNvPr>
          <p:cNvSpPr txBox="1"/>
          <p:nvPr/>
        </p:nvSpPr>
        <p:spPr>
          <a:xfrm>
            <a:off x="-672929" y="2529904"/>
            <a:ext cx="3821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6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kumimoji="1" lang="zh-CN" altLang="en-US" sz="9600" b="1" dirty="0">
              <a:solidFill>
                <a:srgbClr val="FF7F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8582685-1EAF-F9D4-45EA-CE1831628136}"/>
              </a:ext>
            </a:extLst>
          </p:cNvPr>
          <p:cNvSpPr txBox="1"/>
          <p:nvPr/>
        </p:nvSpPr>
        <p:spPr>
          <a:xfrm>
            <a:off x="1598940" y="2529904"/>
            <a:ext cx="6642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7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总结与成长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FAA12A5-D25F-C052-AC56-203C4B222F1F}"/>
              </a:ext>
            </a:extLst>
          </p:cNvPr>
          <p:cNvSpPr txBox="1"/>
          <p:nvPr/>
        </p:nvSpPr>
        <p:spPr>
          <a:xfrm>
            <a:off x="2218362" y="3683011"/>
            <a:ext cx="7755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Key Learnings and Reflection</a:t>
            </a:r>
            <a:endParaRPr kumimoji="1" lang="zh-CN" altLang="en-US" sz="4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3A708BE7-0FE7-B04C-C402-575063A616A7}"/>
              </a:ext>
            </a:extLst>
          </p:cNvPr>
          <p:cNvCxnSpPr>
            <a:cxnSpLocks/>
          </p:cNvCxnSpPr>
          <p:nvPr/>
        </p:nvCxnSpPr>
        <p:spPr>
          <a:xfrm>
            <a:off x="2188086" y="2836625"/>
            <a:ext cx="0" cy="871151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D01E803C-A1B4-AFD9-A1AE-4539B6786E3B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22FA7FF-E747-D1FF-3DAD-1C5B7CA4C8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44"/>
          <a:stretch>
            <a:fillRect/>
          </a:stretch>
        </p:blipFill>
        <p:spPr>
          <a:xfrm>
            <a:off x="160315" y="93820"/>
            <a:ext cx="2180279" cy="6923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8C7FE1-2E97-114A-26D2-67A504BD3D5A}"/>
              </a:ext>
            </a:extLst>
          </p:cNvPr>
          <p:cNvSpPr/>
          <p:nvPr/>
        </p:nvSpPr>
        <p:spPr>
          <a:xfrm>
            <a:off x="0" y="6233532"/>
            <a:ext cx="12192000" cy="624467"/>
          </a:xfrm>
          <a:prstGeom prst="rect">
            <a:avLst/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41628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36"/>
    </mc:Choice>
    <mc:Fallback>
      <p:transition spd="slow" advTm="473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08DEB-2D7B-DE94-50C1-37F8661F9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4C55731-CE56-0AD0-2643-1A9BBD6E0618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2110D4-E2BF-FAC7-76C9-87C02B99299B}"/>
              </a:ext>
            </a:extLst>
          </p:cNvPr>
          <p:cNvSpPr txBox="1"/>
          <p:nvPr/>
        </p:nvSpPr>
        <p:spPr>
          <a:xfrm>
            <a:off x="335178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个人简介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CE0A307B-FA48-A6B0-913F-60BA076D27BE}"/>
              </a:ext>
            </a:extLst>
          </p:cNvPr>
          <p:cNvCxnSpPr>
            <a:cxnSpLocks/>
          </p:cNvCxnSpPr>
          <p:nvPr/>
        </p:nvCxnSpPr>
        <p:spPr>
          <a:xfrm>
            <a:off x="5285970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7E8DEBB-4138-F624-0B32-BA496282D0A7}"/>
              </a:ext>
            </a:extLst>
          </p:cNvPr>
          <p:cNvSpPr txBox="1"/>
          <p:nvPr/>
        </p:nvSpPr>
        <p:spPr>
          <a:xfrm>
            <a:off x="5462810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工作汇报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61C9A00A-6EA9-025D-6C0D-ED7B33D9C49C}"/>
              </a:ext>
            </a:extLst>
          </p:cNvPr>
          <p:cNvCxnSpPr>
            <a:cxnSpLocks/>
          </p:cNvCxnSpPr>
          <p:nvPr/>
        </p:nvCxnSpPr>
        <p:spPr>
          <a:xfrm>
            <a:off x="739699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F80F6C13-2143-AB24-F678-179ABD23E7F8}"/>
              </a:ext>
            </a:extLst>
          </p:cNvPr>
          <p:cNvSpPr txBox="1"/>
          <p:nvPr/>
        </p:nvSpPr>
        <p:spPr>
          <a:xfrm>
            <a:off x="7621608" y="178398"/>
            <a:ext cx="202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800" b="1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总结与成长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917D18BC-E35E-1445-1234-163660CE4780}"/>
              </a:ext>
            </a:extLst>
          </p:cNvPr>
          <p:cNvCxnSpPr>
            <a:cxnSpLocks/>
          </p:cNvCxnSpPr>
          <p:nvPr/>
        </p:nvCxnSpPr>
        <p:spPr>
          <a:xfrm>
            <a:off x="9885219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452CBDC-4F42-3F31-4E79-FB005A570104}"/>
              </a:ext>
            </a:extLst>
          </p:cNvPr>
          <p:cNvSpPr txBox="1"/>
          <p:nvPr/>
        </p:nvSpPr>
        <p:spPr>
          <a:xfrm>
            <a:off x="1008181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未来规划</a:t>
            </a: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F1E9C141-2F7C-5FA1-31DF-FB6292E0B12C}"/>
              </a:ext>
            </a:extLst>
          </p:cNvPr>
          <p:cNvCxnSpPr>
            <a:cxnSpLocks/>
          </p:cNvCxnSpPr>
          <p:nvPr/>
        </p:nvCxnSpPr>
        <p:spPr>
          <a:xfrm>
            <a:off x="7747683" y="781088"/>
            <a:ext cx="1745233" cy="5107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F5FA2F47-8F93-7F47-1AF2-6234612C3E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44"/>
          <a:stretch>
            <a:fillRect/>
          </a:stretch>
        </p:blipFill>
        <p:spPr>
          <a:xfrm>
            <a:off x="160315" y="93820"/>
            <a:ext cx="2180279" cy="69237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0D80AF2-B6EC-BB84-8E3E-974CB6C9F27D}"/>
              </a:ext>
            </a:extLst>
          </p:cNvPr>
          <p:cNvSpPr txBox="1"/>
          <p:nvPr/>
        </p:nvSpPr>
        <p:spPr>
          <a:xfrm>
            <a:off x="875956" y="2424725"/>
            <a:ext cx="2701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完成 </a:t>
            </a:r>
            <a:r>
              <a:rPr kumimoji="1" lang="en-US" altLang="zh-CN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个线上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issue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修复</a:t>
            </a:r>
            <a:endParaRPr kumimoji="1" lang="zh-C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DA56DC4-FCD9-059F-F1E6-44E32442A5F7}"/>
              </a:ext>
            </a:extLst>
          </p:cNvPr>
          <p:cNvSpPr txBox="1"/>
          <p:nvPr/>
        </p:nvSpPr>
        <p:spPr>
          <a:xfrm>
            <a:off x="6525369" y="5003886"/>
            <a:ext cx="340345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做项目过程中会总结文档，方便复盘。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平时学习或遇到困难时会总结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SOP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方案。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目前已经形成 </a:t>
            </a:r>
            <a:r>
              <a:rPr kumimoji="1" lang="en-US" altLang="zh-CN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3w+</a:t>
            </a:r>
            <a:r>
              <a:rPr kumimoji="1" lang="zh-CN" altLang="en-US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字文档记录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48809D0-D396-E43B-5967-D76814C416BB}"/>
              </a:ext>
            </a:extLst>
          </p:cNvPr>
          <p:cNvSpPr/>
          <p:nvPr/>
        </p:nvSpPr>
        <p:spPr>
          <a:xfrm>
            <a:off x="742788" y="1785586"/>
            <a:ext cx="5089831" cy="2260936"/>
          </a:xfrm>
          <a:prstGeom prst="rect">
            <a:avLst/>
          </a:prstGeom>
          <a:noFill/>
          <a:ln w="19050">
            <a:solidFill>
              <a:srgbClr val="FF7F42">
                <a:alpha val="59621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618F8E0-40B5-E554-2BC4-1D1B0E21C37B}"/>
              </a:ext>
            </a:extLst>
          </p:cNvPr>
          <p:cNvSpPr/>
          <p:nvPr/>
        </p:nvSpPr>
        <p:spPr>
          <a:xfrm>
            <a:off x="6357180" y="1785586"/>
            <a:ext cx="5089831" cy="2260936"/>
          </a:xfrm>
          <a:prstGeom prst="rect">
            <a:avLst/>
          </a:prstGeom>
          <a:noFill/>
          <a:ln w="19050">
            <a:solidFill>
              <a:srgbClr val="FF7F42">
                <a:alpha val="59621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08A024E-867F-BCA9-41B0-A48E67DD153D}"/>
              </a:ext>
            </a:extLst>
          </p:cNvPr>
          <p:cNvSpPr/>
          <p:nvPr/>
        </p:nvSpPr>
        <p:spPr>
          <a:xfrm>
            <a:off x="742788" y="4385372"/>
            <a:ext cx="5089831" cy="2260936"/>
          </a:xfrm>
          <a:prstGeom prst="rect">
            <a:avLst/>
          </a:prstGeom>
          <a:noFill/>
          <a:ln w="19050">
            <a:solidFill>
              <a:srgbClr val="FF7F42">
                <a:alpha val="59621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34DB1FD-3EB8-4FB2-CFFB-A1F2DEA759D0}"/>
              </a:ext>
            </a:extLst>
          </p:cNvPr>
          <p:cNvSpPr/>
          <p:nvPr/>
        </p:nvSpPr>
        <p:spPr>
          <a:xfrm>
            <a:off x="6357180" y="4385372"/>
            <a:ext cx="5089831" cy="2260936"/>
          </a:xfrm>
          <a:prstGeom prst="rect">
            <a:avLst/>
          </a:prstGeom>
          <a:noFill/>
          <a:ln w="19050">
            <a:solidFill>
              <a:srgbClr val="FF7F42">
                <a:alpha val="59621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65BF0D4-A369-1AD5-EC19-DF9BE8F0D28B}"/>
              </a:ext>
            </a:extLst>
          </p:cNvPr>
          <p:cNvSpPr txBox="1"/>
          <p:nvPr/>
        </p:nvSpPr>
        <p:spPr>
          <a:xfrm>
            <a:off x="301571" y="1152862"/>
            <a:ext cx="5531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24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正在向一个成熟的研发工程师迈进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9F247D8A-7103-54F3-3FDD-21FDB7EC4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48" y="2424725"/>
            <a:ext cx="2071523" cy="151863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678C1977-014A-0AE0-93B4-75F40668A2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31" y="4654410"/>
            <a:ext cx="1318495" cy="190380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4" name="文本框 53">
            <a:extLst>
              <a:ext uri="{FF2B5EF4-FFF2-40B4-BE49-F238E27FC236}">
                <a16:creationId xmlns:a16="http://schemas.microsoft.com/office/drawing/2014/main" id="{618B9DCF-507A-7CF4-6642-40621C845139}"/>
              </a:ext>
            </a:extLst>
          </p:cNvPr>
          <p:cNvSpPr txBox="1"/>
          <p:nvPr/>
        </p:nvSpPr>
        <p:spPr>
          <a:xfrm>
            <a:off x="812056" y="1878234"/>
            <a:ext cx="3976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①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 独立：从</a:t>
            </a:r>
            <a:r>
              <a:rPr kumimoji="1" lang="zh-CN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问题修复到独立解题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B6F8A75-1223-71D9-52D1-CFD0188C395E}"/>
              </a:ext>
            </a:extLst>
          </p:cNvPr>
          <p:cNvSpPr txBox="1"/>
          <p:nvPr/>
        </p:nvSpPr>
        <p:spPr>
          <a:xfrm>
            <a:off x="875956" y="2868443"/>
            <a:ext cx="2701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共计 </a:t>
            </a:r>
            <a:r>
              <a:rPr kumimoji="1" lang="en-US" altLang="zh-CN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700+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行代码提交</a:t>
            </a:r>
            <a:endParaRPr kumimoji="1" lang="zh-C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3B2D645-A720-BAAA-D9FC-F445910BA249}"/>
              </a:ext>
            </a:extLst>
          </p:cNvPr>
          <p:cNvSpPr txBox="1"/>
          <p:nvPr/>
        </p:nvSpPr>
        <p:spPr>
          <a:xfrm>
            <a:off x="875956" y="3336840"/>
            <a:ext cx="256851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提交 </a:t>
            </a:r>
            <a:r>
              <a:rPr kumimoji="1" lang="en-US" altLang="zh-CN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kumimoji="1" lang="zh-CN" altLang="en-US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个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CR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，其中 </a:t>
            </a:r>
            <a:r>
              <a:rPr kumimoji="1" lang="en-US" altLang="zh-CN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kumimoji="1" lang="zh-CN" altLang="en-US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个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已经上线</a:t>
            </a:r>
            <a:endParaRPr kumimoji="1" lang="zh-C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1A0F177-0193-1132-DDAA-C55F42652DC7}"/>
              </a:ext>
            </a:extLst>
          </p:cNvPr>
          <p:cNvSpPr txBox="1"/>
          <p:nvPr/>
        </p:nvSpPr>
        <p:spPr>
          <a:xfrm>
            <a:off x="6286893" y="4464155"/>
            <a:ext cx="3976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④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 总结：项目复盘与经验沉淀</a:t>
            </a:r>
            <a:endParaRPr kumimoji="1" lang="zh-CN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9ABAA91-AB83-431B-8C67-915D20DA27B4}"/>
              </a:ext>
            </a:extLst>
          </p:cNvPr>
          <p:cNvSpPr txBox="1"/>
          <p:nvPr/>
        </p:nvSpPr>
        <p:spPr>
          <a:xfrm>
            <a:off x="6370986" y="1878234"/>
            <a:ext cx="4613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②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 思考：从目标导向到业务</a:t>
            </a:r>
            <a:r>
              <a:rPr kumimoji="1" lang="zh-CN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链路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思考</a:t>
            </a:r>
            <a:endParaRPr kumimoji="1" lang="zh-CN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5EBFABAB-51F2-086A-6778-CAC2C3857700}"/>
              </a:ext>
            </a:extLst>
          </p:cNvPr>
          <p:cNvSpPr txBox="1"/>
          <p:nvPr/>
        </p:nvSpPr>
        <p:spPr>
          <a:xfrm>
            <a:off x="6525368" y="2424725"/>
            <a:ext cx="47906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spcBef>
                <a:spcPts val="600"/>
              </a:spcBef>
              <a:defRPr kumimoji="1"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从解决单点问题，</a:t>
            </a:r>
            <a:r>
              <a:rPr lang="zh-CN" altLang="en-US" dirty="0"/>
              <a:t>到进一步</a:t>
            </a:r>
            <a:r>
              <a:rPr lang="zh-CN" altLang="zh-CN" dirty="0"/>
              <a:t>思考项目对上下游团队的价值与影响。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416D062-4E02-8874-19EB-162768E8CE21}"/>
              </a:ext>
            </a:extLst>
          </p:cNvPr>
          <p:cNvSpPr txBox="1"/>
          <p:nvPr/>
        </p:nvSpPr>
        <p:spPr>
          <a:xfrm>
            <a:off x="6525368" y="3112366"/>
            <a:ext cx="4790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spcBef>
                <a:spcPts val="600"/>
              </a:spcBef>
              <a:defRPr kumimoji="1"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承接上游的</a:t>
            </a:r>
            <a:r>
              <a:rPr lang="zh-CN" altLang="en-US" dirty="0"/>
              <a:t>订单</a:t>
            </a:r>
            <a:r>
              <a:rPr lang="zh-CN" altLang="zh-CN" dirty="0"/>
              <a:t>任务、地图和道路状态，将其转化为安全可执行的车道级</a:t>
            </a:r>
            <a:r>
              <a:rPr lang="zh-CN" altLang="en-US" dirty="0"/>
              <a:t>局部路径</a:t>
            </a:r>
            <a:r>
              <a:rPr lang="zh-CN" altLang="zh-CN" dirty="0"/>
              <a:t>，为下游提供</a:t>
            </a:r>
            <a:r>
              <a:rPr lang="zh-CN" altLang="en-US" dirty="0"/>
              <a:t>可靠信息</a:t>
            </a:r>
            <a:r>
              <a:rPr lang="zh-CN" altLang="zh-CN" dirty="0"/>
              <a:t>，并通过执行反馈与重规划形成闭环。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50F79D3-619D-F541-B6F8-05C411AEA154}"/>
              </a:ext>
            </a:extLst>
          </p:cNvPr>
          <p:cNvSpPr txBox="1"/>
          <p:nvPr/>
        </p:nvSpPr>
        <p:spPr>
          <a:xfrm>
            <a:off x="812056" y="4529863"/>
            <a:ext cx="4208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③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 不足：面对短板</a:t>
            </a:r>
            <a:r>
              <a:rPr kumimoji="1" lang="zh-CN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并形成行动方案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44E73F0-DC33-07A4-8AE3-D21D3E6D5C10}"/>
              </a:ext>
            </a:extLst>
          </p:cNvPr>
          <p:cNvSpPr txBox="1"/>
          <p:nvPr/>
        </p:nvSpPr>
        <p:spPr>
          <a:xfrm>
            <a:off x="874396" y="5180857"/>
            <a:ext cx="479067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spcBef>
                <a:spcPts val="600"/>
              </a:spcBef>
              <a:defRPr kumimoji="1"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面对开放性问题时，</a:t>
            </a:r>
            <a:r>
              <a:rPr lang="zh-CN" altLang="en-US" dirty="0"/>
              <a:t>我</a:t>
            </a:r>
            <a:r>
              <a:rPr lang="zh-CN" altLang="zh-CN" dirty="0"/>
              <a:t>前期探索范围有时仍然偏发散，问题边界的收敛速度还有提升空间。</a:t>
            </a:r>
            <a:endParaRPr lang="en-US" altLang="zh-CN" dirty="0"/>
          </a:p>
          <a:p>
            <a:r>
              <a:rPr lang="zh-CN" altLang="zh-CN" dirty="0"/>
              <a:t>针对这一不足，我</a:t>
            </a:r>
            <a:r>
              <a:rPr lang="zh-CN" altLang="en-US" dirty="0"/>
              <a:t>以后</a:t>
            </a:r>
            <a:r>
              <a:rPr lang="zh-CN" altLang="zh-CN" dirty="0"/>
              <a:t>会在任务开始阶段</a:t>
            </a:r>
            <a:r>
              <a:rPr lang="zh-CN" altLang="en-US" dirty="0"/>
              <a:t>快速</a:t>
            </a:r>
            <a:r>
              <a:rPr lang="zh-CN" altLang="zh-CN" dirty="0"/>
              <a:t>明确目标、边界，减少无效发散，提高工作效率。</a:t>
            </a:r>
          </a:p>
        </p:txBody>
      </p:sp>
      <p:sp>
        <p:nvSpPr>
          <p:cNvPr id="64" name="灯片编号占位符 63">
            <a:extLst>
              <a:ext uri="{FF2B5EF4-FFF2-40B4-BE49-F238E27FC236}">
                <a16:creationId xmlns:a16="http://schemas.microsoft.com/office/drawing/2014/main" id="{20A43305-9475-0303-5707-A46525F4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D6745-9EBB-A044-B42C-0E6AD00F43E4}" type="slidenum">
              <a:rPr kumimoji="1" lang="zh-CN" altLang="en-US" sz="1600" b="1" smtClean="0"/>
              <a:pPr/>
              <a:t>12</a:t>
            </a:fld>
            <a:r>
              <a:rPr kumimoji="1" lang="zh-CN" altLang="en-US" sz="1400"/>
              <a:t> </a:t>
            </a:r>
            <a:r>
              <a:rPr kumimoji="1" lang="en-US" altLang="zh-CN"/>
              <a:t>/</a:t>
            </a:r>
            <a:r>
              <a:rPr kumimoji="1" lang="zh-CN" altLang="en-US"/>
              <a:t> </a:t>
            </a:r>
            <a:r>
              <a:rPr kumimoji="1" lang="en-US" altLang="zh-CN"/>
              <a:t>15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04006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711"/>
    </mc:Choice>
    <mc:Fallback>
      <p:transition spd="slow" advTm="7371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C3E13-7F66-4268-BDF7-2BBB14FF7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4FC336FF-3C34-2709-DA82-91FA8411C36F}"/>
              </a:ext>
            </a:extLst>
          </p:cNvPr>
          <p:cNvSpPr txBox="1"/>
          <p:nvPr/>
        </p:nvSpPr>
        <p:spPr>
          <a:xfrm>
            <a:off x="-672929" y="2529904"/>
            <a:ext cx="3821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6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kumimoji="1" lang="zh-CN" altLang="en-US" sz="9600" b="1" dirty="0">
              <a:solidFill>
                <a:srgbClr val="FF7F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013F5E2-77E9-747E-8426-CF500B935A8F}"/>
              </a:ext>
            </a:extLst>
          </p:cNvPr>
          <p:cNvSpPr txBox="1"/>
          <p:nvPr/>
        </p:nvSpPr>
        <p:spPr>
          <a:xfrm>
            <a:off x="1891811" y="2529904"/>
            <a:ext cx="50617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7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未来规划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4E91B7F-DC69-39CD-0CFE-478C0C417F2B}"/>
              </a:ext>
            </a:extLst>
          </p:cNvPr>
          <p:cNvSpPr txBox="1"/>
          <p:nvPr/>
        </p:nvSpPr>
        <p:spPr>
          <a:xfrm>
            <a:off x="2218363" y="3683011"/>
            <a:ext cx="35808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Future Plan</a:t>
            </a:r>
            <a:endParaRPr kumimoji="1" lang="zh-CN" altLang="en-US" sz="4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08860FFA-0778-2063-E043-A76121C10EA6}"/>
              </a:ext>
            </a:extLst>
          </p:cNvPr>
          <p:cNvCxnSpPr>
            <a:cxnSpLocks/>
          </p:cNvCxnSpPr>
          <p:nvPr/>
        </p:nvCxnSpPr>
        <p:spPr>
          <a:xfrm>
            <a:off x="2188086" y="2836625"/>
            <a:ext cx="0" cy="871151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CA8E6FC-E901-3D5A-CE20-335CD27C709F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7A2D8DB-47B9-6EB2-F1F1-536945FB5C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44"/>
          <a:stretch>
            <a:fillRect/>
          </a:stretch>
        </p:blipFill>
        <p:spPr>
          <a:xfrm>
            <a:off x="160315" y="93820"/>
            <a:ext cx="2180279" cy="6923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C41BBEC-86F7-DC45-C934-FA8D07CF207F}"/>
              </a:ext>
            </a:extLst>
          </p:cNvPr>
          <p:cNvSpPr/>
          <p:nvPr/>
        </p:nvSpPr>
        <p:spPr>
          <a:xfrm>
            <a:off x="0" y="6233532"/>
            <a:ext cx="12192000" cy="624467"/>
          </a:xfrm>
          <a:prstGeom prst="rect">
            <a:avLst/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3298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32"/>
    </mc:Choice>
    <mc:Fallback>
      <p:transition spd="slow" advTm="223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11F96-DAF9-536B-F507-002A749B7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圆角矩形 63">
            <a:extLst>
              <a:ext uri="{FF2B5EF4-FFF2-40B4-BE49-F238E27FC236}">
                <a16:creationId xmlns:a16="http://schemas.microsoft.com/office/drawing/2014/main" id="{A05CA3B5-7BC0-6A07-D364-B392507167E7}"/>
              </a:ext>
            </a:extLst>
          </p:cNvPr>
          <p:cNvSpPr/>
          <p:nvPr/>
        </p:nvSpPr>
        <p:spPr>
          <a:xfrm>
            <a:off x="3152696" y="4401671"/>
            <a:ext cx="2737114" cy="890539"/>
          </a:xfrm>
          <a:prstGeom prst="roundRect">
            <a:avLst>
              <a:gd name="adj" fmla="val 2823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67FCF6DA-CFE3-F035-38A5-089B6B605193}"/>
              </a:ext>
            </a:extLst>
          </p:cNvPr>
          <p:cNvSpPr/>
          <p:nvPr/>
        </p:nvSpPr>
        <p:spPr>
          <a:xfrm>
            <a:off x="3152696" y="5298176"/>
            <a:ext cx="2737114" cy="352722"/>
          </a:xfrm>
          <a:prstGeom prst="roundRect">
            <a:avLst>
              <a:gd name="adj" fmla="val 28237"/>
            </a:avLst>
          </a:prstGeom>
          <a:solidFill>
            <a:srgbClr val="FF7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9DED60-3328-2613-7938-CDE161F17D00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BDFE0A-F508-3136-B6B5-893D2607ADD8}"/>
              </a:ext>
            </a:extLst>
          </p:cNvPr>
          <p:cNvSpPr txBox="1"/>
          <p:nvPr/>
        </p:nvSpPr>
        <p:spPr>
          <a:xfrm>
            <a:off x="335178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个人简介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32412E49-3077-0B77-7AEB-9DB2FA28A63C}"/>
              </a:ext>
            </a:extLst>
          </p:cNvPr>
          <p:cNvCxnSpPr>
            <a:cxnSpLocks/>
          </p:cNvCxnSpPr>
          <p:nvPr/>
        </p:nvCxnSpPr>
        <p:spPr>
          <a:xfrm>
            <a:off x="5285970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6062B1F-5F5B-B1E6-1CC6-99428A11B4C1}"/>
              </a:ext>
            </a:extLst>
          </p:cNvPr>
          <p:cNvSpPr txBox="1"/>
          <p:nvPr/>
        </p:nvSpPr>
        <p:spPr>
          <a:xfrm>
            <a:off x="5462810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工作汇报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7DC17CB1-1B8E-9B16-7946-3EF963FF4432}"/>
              </a:ext>
            </a:extLst>
          </p:cNvPr>
          <p:cNvCxnSpPr>
            <a:cxnSpLocks/>
          </p:cNvCxnSpPr>
          <p:nvPr/>
        </p:nvCxnSpPr>
        <p:spPr>
          <a:xfrm>
            <a:off x="739699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FD0DC7B0-DBD2-05D0-F6C4-FE94616C0E6A}"/>
              </a:ext>
            </a:extLst>
          </p:cNvPr>
          <p:cNvSpPr txBox="1"/>
          <p:nvPr/>
        </p:nvSpPr>
        <p:spPr>
          <a:xfrm>
            <a:off x="7621608" y="178398"/>
            <a:ext cx="202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总结与成长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3592B85C-787F-985D-CB28-C745150C01E2}"/>
              </a:ext>
            </a:extLst>
          </p:cNvPr>
          <p:cNvCxnSpPr>
            <a:cxnSpLocks/>
          </p:cNvCxnSpPr>
          <p:nvPr/>
        </p:nvCxnSpPr>
        <p:spPr>
          <a:xfrm>
            <a:off x="9885219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8455E18-5C24-15A9-B7A4-684329BA2692}"/>
              </a:ext>
            </a:extLst>
          </p:cNvPr>
          <p:cNvSpPr txBox="1"/>
          <p:nvPr/>
        </p:nvSpPr>
        <p:spPr>
          <a:xfrm>
            <a:off x="1008181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800" b="1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未来规划</a:t>
            </a: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B8C81F03-5CA2-070F-3574-3C55A01DA7BF}"/>
              </a:ext>
            </a:extLst>
          </p:cNvPr>
          <p:cNvCxnSpPr>
            <a:cxnSpLocks/>
          </p:cNvCxnSpPr>
          <p:nvPr/>
        </p:nvCxnSpPr>
        <p:spPr>
          <a:xfrm>
            <a:off x="10231526" y="755030"/>
            <a:ext cx="1489323" cy="13178"/>
          </a:xfrm>
          <a:prstGeom prst="line">
            <a:avLst/>
          </a:prstGeom>
          <a:ln w="31750">
            <a:solidFill>
              <a:srgbClr val="FF7F4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027C4015-F084-AB00-1F39-8EF3A262D2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44"/>
          <a:stretch>
            <a:fillRect/>
          </a:stretch>
        </p:blipFill>
        <p:spPr>
          <a:xfrm>
            <a:off x="160315" y="93820"/>
            <a:ext cx="2180279" cy="6923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09EC2E6-A1FE-ED72-145E-DF590F8284FB}"/>
              </a:ext>
            </a:extLst>
          </p:cNvPr>
          <p:cNvSpPr txBox="1"/>
          <p:nvPr/>
        </p:nvSpPr>
        <p:spPr>
          <a:xfrm>
            <a:off x="49788" y="1152862"/>
            <a:ext cx="7635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思考了正式入职之后从短期到长期的个人发展规划</a:t>
            </a: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9609FF0F-655E-8C5B-1E6A-856F50B8DDAA}"/>
              </a:ext>
            </a:extLst>
          </p:cNvPr>
          <p:cNvCxnSpPr>
            <a:cxnSpLocks/>
          </p:cNvCxnSpPr>
          <p:nvPr/>
        </p:nvCxnSpPr>
        <p:spPr>
          <a:xfrm flipV="1">
            <a:off x="1607511" y="2032000"/>
            <a:ext cx="0" cy="4508500"/>
          </a:xfrm>
          <a:prstGeom prst="straightConnector1">
            <a:avLst/>
          </a:prstGeom>
          <a:ln w="57150">
            <a:solidFill>
              <a:srgbClr val="FF7F42"/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8AEC58D0-5B04-CF83-573E-599ED1CA6DA1}"/>
              </a:ext>
            </a:extLst>
          </p:cNvPr>
          <p:cNvCxnSpPr>
            <a:cxnSpLocks/>
          </p:cNvCxnSpPr>
          <p:nvPr/>
        </p:nvCxnSpPr>
        <p:spPr>
          <a:xfrm>
            <a:off x="1055557" y="5956300"/>
            <a:ext cx="9700573" cy="0"/>
          </a:xfrm>
          <a:prstGeom prst="straightConnector1">
            <a:avLst/>
          </a:prstGeom>
          <a:ln w="57150">
            <a:solidFill>
              <a:srgbClr val="FF7F42"/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B2E6FF09-E617-8CDE-0A7C-F9FF90D11141}"/>
              </a:ext>
            </a:extLst>
          </p:cNvPr>
          <p:cNvSpPr txBox="1"/>
          <p:nvPr/>
        </p:nvSpPr>
        <p:spPr>
          <a:xfrm>
            <a:off x="1850984" y="6078835"/>
            <a:ext cx="2570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20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短期（</a:t>
            </a:r>
            <a:r>
              <a:rPr kumimoji="1" lang="en-US" altLang="zh-CN" sz="20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0-3</a:t>
            </a:r>
            <a:r>
              <a:rPr kumimoji="1" lang="zh-CN" altLang="en-US" sz="20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个月）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C4C46AE-BA02-E155-D77B-0F3FD6F66964}"/>
              </a:ext>
            </a:extLst>
          </p:cNvPr>
          <p:cNvSpPr txBox="1"/>
          <p:nvPr/>
        </p:nvSpPr>
        <p:spPr>
          <a:xfrm>
            <a:off x="4896784" y="6078835"/>
            <a:ext cx="2570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20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中期（</a:t>
            </a:r>
            <a:r>
              <a:rPr kumimoji="1" lang="en-US" altLang="zh-CN" sz="20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3-12</a:t>
            </a:r>
            <a:r>
              <a:rPr kumimoji="1" lang="zh-CN" altLang="en-US" sz="20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个月）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0A547E5-ACD2-7EFA-5E08-F74DAD68C2CA}"/>
              </a:ext>
            </a:extLst>
          </p:cNvPr>
          <p:cNvSpPr txBox="1"/>
          <p:nvPr/>
        </p:nvSpPr>
        <p:spPr>
          <a:xfrm>
            <a:off x="7741584" y="6078835"/>
            <a:ext cx="2570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20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长期（</a:t>
            </a:r>
            <a:r>
              <a:rPr kumimoji="1" lang="en-US" altLang="zh-CN" sz="20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1-3</a:t>
            </a:r>
            <a:r>
              <a:rPr kumimoji="1" lang="zh-CN" altLang="en-US" sz="20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年）</a:t>
            </a:r>
          </a:p>
        </p:txBody>
      </p:sp>
      <p:sp>
        <p:nvSpPr>
          <p:cNvPr id="32" name="任意形状 31">
            <a:extLst>
              <a:ext uri="{FF2B5EF4-FFF2-40B4-BE49-F238E27FC236}">
                <a16:creationId xmlns:a16="http://schemas.microsoft.com/office/drawing/2014/main" id="{A2B6D5BF-B95D-D6AE-8C5D-824433FF41EC}"/>
              </a:ext>
            </a:extLst>
          </p:cNvPr>
          <p:cNvSpPr/>
          <p:nvPr/>
        </p:nvSpPr>
        <p:spPr>
          <a:xfrm>
            <a:off x="1601657" y="2032000"/>
            <a:ext cx="7962900" cy="3759200"/>
          </a:xfrm>
          <a:custGeom>
            <a:avLst/>
            <a:gdLst>
              <a:gd name="csX0" fmla="*/ 0 w 7962900"/>
              <a:gd name="csY0" fmla="*/ 3759200 h 3759200"/>
              <a:gd name="csX1" fmla="*/ 292100 w 7962900"/>
              <a:gd name="csY1" fmla="*/ 2895600 h 3759200"/>
              <a:gd name="csX2" fmla="*/ 711200 w 7962900"/>
              <a:gd name="csY2" fmla="*/ 2705100 h 3759200"/>
              <a:gd name="csX3" fmla="*/ 1054100 w 7962900"/>
              <a:gd name="csY3" fmla="*/ 2857500 h 3759200"/>
              <a:gd name="csX4" fmla="*/ 1409700 w 7962900"/>
              <a:gd name="csY4" fmla="*/ 2641600 h 3759200"/>
              <a:gd name="csX5" fmla="*/ 1676400 w 7962900"/>
              <a:gd name="csY5" fmla="*/ 2222500 h 3759200"/>
              <a:gd name="csX6" fmla="*/ 2273300 w 7962900"/>
              <a:gd name="csY6" fmla="*/ 1917700 h 3759200"/>
              <a:gd name="csX7" fmla="*/ 3035300 w 7962900"/>
              <a:gd name="csY7" fmla="*/ 1828800 h 3759200"/>
              <a:gd name="csX8" fmla="*/ 3835400 w 7962900"/>
              <a:gd name="csY8" fmla="*/ 1460500 h 3759200"/>
              <a:gd name="csX9" fmla="*/ 4445000 w 7962900"/>
              <a:gd name="csY9" fmla="*/ 1016000 h 3759200"/>
              <a:gd name="csX10" fmla="*/ 5168900 w 7962900"/>
              <a:gd name="csY10" fmla="*/ 774700 h 3759200"/>
              <a:gd name="csX11" fmla="*/ 6210300 w 7962900"/>
              <a:gd name="csY11" fmla="*/ 241300 h 3759200"/>
              <a:gd name="csX12" fmla="*/ 7962900 w 7962900"/>
              <a:gd name="csY12" fmla="*/ 0 h 3759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7962900" h="3759200">
                <a:moveTo>
                  <a:pt x="0" y="3759200"/>
                </a:moveTo>
                <a:cubicBezTo>
                  <a:pt x="86783" y="3415241"/>
                  <a:pt x="173567" y="3071283"/>
                  <a:pt x="292100" y="2895600"/>
                </a:cubicBezTo>
                <a:cubicBezTo>
                  <a:pt x="410633" y="2719917"/>
                  <a:pt x="584200" y="2711450"/>
                  <a:pt x="711200" y="2705100"/>
                </a:cubicBezTo>
                <a:cubicBezTo>
                  <a:pt x="838200" y="2698750"/>
                  <a:pt x="937683" y="2868083"/>
                  <a:pt x="1054100" y="2857500"/>
                </a:cubicBezTo>
                <a:cubicBezTo>
                  <a:pt x="1170517" y="2846917"/>
                  <a:pt x="1305983" y="2747433"/>
                  <a:pt x="1409700" y="2641600"/>
                </a:cubicBezTo>
                <a:cubicBezTo>
                  <a:pt x="1513417" y="2535767"/>
                  <a:pt x="1532467" y="2343150"/>
                  <a:pt x="1676400" y="2222500"/>
                </a:cubicBezTo>
                <a:cubicBezTo>
                  <a:pt x="1820333" y="2101850"/>
                  <a:pt x="2046817" y="1983317"/>
                  <a:pt x="2273300" y="1917700"/>
                </a:cubicBezTo>
                <a:cubicBezTo>
                  <a:pt x="2499783" y="1852083"/>
                  <a:pt x="2774950" y="1905000"/>
                  <a:pt x="3035300" y="1828800"/>
                </a:cubicBezTo>
                <a:cubicBezTo>
                  <a:pt x="3295650" y="1752600"/>
                  <a:pt x="3600450" y="1595967"/>
                  <a:pt x="3835400" y="1460500"/>
                </a:cubicBezTo>
                <a:cubicBezTo>
                  <a:pt x="4070350" y="1325033"/>
                  <a:pt x="4222750" y="1130300"/>
                  <a:pt x="4445000" y="1016000"/>
                </a:cubicBezTo>
                <a:cubicBezTo>
                  <a:pt x="4667250" y="901700"/>
                  <a:pt x="4874683" y="903817"/>
                  <a:pt x="5168900" y="774700"/>
                </a:cubicBezTo>
                <a:cubicBezTo>
                  <a:pt x="5463117" y="645583"/>
                  <a:pt x="5744633" y="370417"/>
                  <a:pt x="6210300" y="241300"/>
                </a:cubicBezTo>
                <a:cubicBezTo>
                  <a:pt x="6675967" y="112183"/>
                  <a:pt x="7319433" y="56091"/>
                  <a:pt x="7962900" y="0"/>
                </a:cubicBezTo>
              </a:path>
            </a:pathLst>
          </a:custGeom>
          <a:noFill/>
          <a:ln w="38100"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6F22A304-EE9A-0941-AB9A-E4F3062BEC49}"/>
              </a:ext>
            </a:extLst>
          </p:cNvPr>
          <p:cNvSpPr/>
          <p:nvPr/>
        </p:nvSpPr>
        <p:spPr>
          <a:xfrm>
            <a:off x="2880384" y="4631812"/>
            <a:ext cx="156243" cy="156243"/>
          </a:xfrm>
          <a:prstGeom prst="ellipse">
            <a:avLst/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A57A321C-1C50-E822-B817-308CA646AA3A}"/>
              </a:ext>
            </a:extLst>
          </p:cNvPr>
          <p:cNvSpPr/>
          <p:nvPr/>
        </p:nvSpPr>
        <p:spPr>
          <a:xfrm>
            <a:off x="5803217" y="3102379"/>
            <a:ext cx="156243" cy="156243"/>
          </a:xfrm>
          <a:prstGeom prst="ellipse">
            <a:avLst/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FC99346F-4E20-581C-44A3-644F530C68D4}"/>
              </a:ext>
            </a:extLst>
          </p:cNvPr>
          <p:cNvSpPr/>
          <p:nvPr/>
        </p:nvSpPr>
        <p:spPr>
          <a:xfrm>
            <a:off x="8742765" y="2037316"/>
            <a:ext cx="156243" cy="156243"/>
          </a:xfrm>
          <a:prstGeom prst="ellipse">
            <a:avLst/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C57E32C-C520-B57E-A2D1-846B1806C6A6}"/>
              </a:ext>
            </a:extLst>
          </p:cNvPr>
          <p:cNvSpPr txBox="1"/>
          <p:nvPr/>
        </p:nvSpPr>
        <p:spPr>
          <a:xfrm>
            <a:off x="-229480" y="1749395"/>
            <a:ext cx="2570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20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专业能力</a:t>
            </a: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AD1AA84A-0693-E28E-A24D-ED47698AFA73}"/>
              </a:ext>
            </a:extLst>
          </p:cNvPr>
          <p:cNvGrpSpPr/>
          <p:nvPr/>
        </p:nvGrpSpPr>
        <p:grpSpPr>
          <a:xfrm>
            <a:off x="3231706" y="5029669"/>
            <a:ext cx="603785" cy="621228"/>
            <a:chOff x="3566987" y="4258864"/>
            <a:chExt cx="929744" cy="956603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48" name="任意形状 47">
              <a:extLst>
                <a:ext uri="{FF2B5EF4-FFF2-40B4-BE49-F238E27FC236}">
                  <a16:creationId xmlns:a16="http://schemas.microsoft.com/office/drawing/2014/main" id="{CF1D16B8-8034-AE7E-C2D2-B5FA1637C15A}"/>
                </a:ext>
              </a:extLst>
            </p:cNvPr>
            <p:cNvSpPr/>
            <p:nvPr/>
          </p:nvSpPr>
          <p:spPr>
            <a:xfrm>
              <a:off x="3566987" y="4559726"/>
              <a:ext cx="929744" cy="655741"/>
            </a:xfrm>
            <a:custGeom>
              <a:avLst/>
              <a:gdLst>
                <a:gd name="csX0" fmla="*/ 379372 w 929744"/>
                <a:gd name="csY0" fmla="*/ 0 h 655741"/>
                <a:gd name="csX1" fmla="*/ 551766 w 929744"/>
                <a:gd name="csY1" fmla="*/ 0 h 655741"/>
                <a:gd name="csX2" fmla="*/ 557341 w 929744"/>
                <a:gd name="csY2" fmla="*/ 74884 h 655741"/>
                <a:gd name="csX3" fmla="*/ 640732 w 929744"/>
                <a:gd name="csY3" fmla="*/ 334972 h 655741"/>
                <a:gd name="csX4" fmla="*/ 911972 w 929744"/>
                <a:gd name="csY4" fmla="*/ 647766 h 655741"/>
                <a:gd name="csX5" fmla="*/ 929744 w 929744"/>
                <a:gd name="csY5" fmla="*/ 654794 h 655741"/>
                <a:gd name="csX6" fmla="*/ 929744 w 929744"/>
                <a:gd name="csY6" fmla="*/ 655741 h 655741"/>
                <a:gd name="csX7" fmla="*/ 0 w 929744"/>
                <a:gd name="csY7" fmla="*/ 655741 h 655741"/>
                <a:gd name="csX8" fmla="*/ 0 w 929744"/>
                <a:gd name="csY8" fmla="*/ 655346 h 655741"/>
                <a:gd name="csX9" fmla="*/ 19166 w 929744"/>
                <a:gd name="csY9" fmla="*/ 647768 h 655741"/>
                <a:gd name="csX10" fmla="*/ 290405 w 929744"/>
                <a:gd name="csY10" fmla="*/ 334973 h 655741"/>
                <a:gd name="csX11" fmla="*/ 373797 w 929744"/>
                <a:gd name="csY11" fmla="*/ 74885 h 655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929744" h="655741">
                  <a:moveTo>
                    <a:pt x="379372" y="0"/>
                  </a:moveTo>
                  <a:lnTo>
                    <a:pt x="551766" y="0"/>
                  </a:lnTo>
                  <a:lnTo>
                    <a:pt x="557341" y="74884"/>
                  </a:lnTo>
                  <a:cubicBezTo>
                    <a:pt x="568588" y="155334"/>
                    <a:pt x="596394" y="245277"/>
                    <a:pt x="640732" y="334972"/>
                  </a:cubicBezTo>
                  <a:cubicBezTo>
                    <a:pt x="714629" y="484464"/>
                    <a:pt x="816956" y="597888"/>
                    <a:pt x="911972" y="647766"/>
                  </a:cubicBezTo>
                  <a:lnTo>
                    <a:pt x="929744" y="654794"/>
                  </a:lnTo>
                  <a:lnTo>
                    <a:pt x="929744" y="655741"/>
                  </a:lnTo>
                  <a:lnTo>
                    <a:pt x="0" y="655741"/>
                  </a:lnTo>
                  <a:lnTo>
                    <a:pt x="0" y="655346"/>
                  </a:lnTo>
                  <a:lnTo>
                    <a:pt x="19166" y="647768"/>
                  </a:lnTo>
                  <a:cubicBezTo>
                    <a:pt x="114181" y="597890"/>
                    <a:pt x="216509" y="484465"/>
                    <a:pt x="290405" y="334973"/>
                  </a:cubicBezTo>
                  <a:cubicBezTo>
                    <a:pt x="334743" y="245278"/>
                    <a:pt x="362549" y="155336"/>
                    <a:pt x="373797" y="74885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49" name="三角形 48">
              <a:extLst>
                <a:ext uri="{FF2B5EF4-FFF2-40B4-BE49-F238E27FC236}">
                  <a16:creationId xmlns:a16="http://schemas.microsoft.com/office/drawing/2014/main" id="{A5990BBA-BA6E-E8C2-5B68-4B42E4135B2E}"/>
                </a:ext>
              </a:extLst>
            </p:cNvPr>
            <p:cNvSpPr/>
            <p:nvPr/>
          </p:nvSpPr>
          <p:spPr>
            <a:xfrm>
              <a:off x="3820135" y="4258864"/>
              <a:ext cx="423447" cy="319119"/>
            </a:xfrm>
            <a:prstGeom prst="triangl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B33E9A9-D13C-86BC-7BB1-591CC0460114}"/>
              </a:ext>
            </a:extLst>
          </p:cNvPr>
          <p:cNvSpPr txBox="1"/>
          <p:nvPr/>
        </p:nvSpPr>
        <p:spPr>
          <a:xfrm>
            <a:off x="3671094" y="5349093"/>
            <a:ext cx="2288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zh-CN" sz="1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快速上手，具备独立交付能力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4B8B4C9D-7963-CE6E-64B4-E6FC100B91DC}"/>
              </a:ext>
            </a:extLst>
          </p:cNvPr>
          <p:cNvSpPr txBox="1"/>
          <p:nvPr/>
        </p:nvSpPr>
        <p:spPr>
          <a:xfrm>
            <a:off x="3231706" y="4456907"/>
            <a:ext cx="25881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</a:t>
            </a:r>
            <a:r>
              <a:rPr kumimoji="1" lang="zh-CN" altLang="en-US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：进一步熟悉</a:t>
            </a:r>
            <a:r>
              <a:rPr kumimoji="1" lang="zh-CN" altLang="zh-CN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业务、代码和开发流程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DF424C3-2E6C-0D68-E8DC-DFA752F45F11}"/>
              </a:ext>
            </a:extLst>
          </p:cNvPr>
          <p:cNvSpPr txBox="1"/>
          <p:nvPr/>
        </p:nvSpPr>
        <p:spPr>
          <a:xfrm>
            <a:off x="3231706" y="4743253"/>
            <a:ext cx="25881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KR</a:t>
            </a:r>
            <a:r>
              <a:rPr kumimoji="1" lang="zh-CN" altLang="en-US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zh-CN" altLang="zh-CN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能够独立定位问题，完成小型</a:t>
            </a:r>
            <a:r>
              <a:rPr kumimoji="1" lang="zh-CN" altLang="en-US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需</a:t>
            </a:r>
            <a:endParaRPr kumimoji="1" lang="en-US" altLang="zh-CN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</a:t>
            </a:r>
            <a:r>
              <a:rPr kumimoji="1" lang="zh-CN" altLang="zh-CN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求从开发到验证的闭环</a:t>
            </a:r>
          </a:p>
        </p:txBody>
      </p:sp>
      <p:sp>
        <p:nvSpPr>
          <p:cNvPr id="68" name="圆角矩形 67">
            <a:extLst>
              <a:ext uri="{FF2B5EF4-FFF2-40B4-BE49-F238E27FC236}">
                <a16:creationId xmlns:a16="http://schemas.microsoft.com/office/drawing/2014/main" id="{E59B80CB-776C-AFA8-9F92-1F8783B0576F}"/>
              </a:ext>
            </a:extLst>
          </p:cNvPr>
          <p:cNvSpPr/>
          <p:nvPr/>
        </p:nvSpPr>
        <p:spPr>
          <a:xfrm>
            <a:off x="2833390" y="1927871"/>
            <a:ext cx="2737114" cy="1070303"/>
          </a:xfrm>
          <a:prstGeom prst="roundRect">
            <a:avLst>
              <a:gd name="adj" fmla="val 2823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3F1872EB-EE19-7514-2CE1-570F3D37C01E}"/>
              </a:ext>
            </a:extLst>
          </p:cNvPr>
          <p:cNvSpPr/>
          <p:nvPr/>
        </p:nvSpPr>
        <p:spPr>
          <a:xfrm>
            <a:off x="2833390" y="3004140"/>
            <a:ext cx="2737114" cy="352722"/>
          </a:xfrm>
          <a:prstGeom prst="roundRect">
            <a:avLst>
              <a:gd name="adj" fmla="val 28237"/>
            </a:avLst>
          </a:prstGeom>
          <a:solidFill>
            <a:srgbClr val="FF7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C2A878E8-ED77-B576-5E66-863945840EAD}"/>
              </a:ext>
            </a:extLst>
          </p:cNvPr>
          <p:cNvGrpSpPr/>
          <p:nvPr/>
        </p:nvGrpSpPr>
        <p:grpSpPr>
          <a:xfrm>
            <a:off x="2912400" y="2735633"/>
            <a:ext cx="603785" cy="621228"/>
            <a:chOff x="3566987" y="4258864"/>
            <a:chExt cx="929744" cy="956603"/>
          </a:xfrm>
          <a:solidFill>
            <a:srgbClr val="F5AE3F"/>
          </a:solidFill>
        </p:grpSpPr>
        <p:sp>
          <p:nvSpPr>
            <p:cNvPr id="72" name="任意形状 71">
              <a:extLst>
                <a:ext uri="{FF2B5EF4-FFF2-40B4-BE49-F238E27FC236}">
                  <a16:creationId xmlns:a16="http://schemas.microsoft.com/office/drawing/2014/main" id="{00165E29-D4ED-65EB-A59D-404866BE3F93}"/>
                </a:ext>
              </a:extLst>
            </p:cNvPr>
            <p:cNvSpPr/>
            <p:nvPr/>
          </p:nvSpPr>
          <p:spPr>
            <a:xfrm>
              <a:off x="3566987" y="4559726"/>
              <a:ext cx="929744" cy="655741"/>
            </a:xfrm>
            <a:custGeom>
              <a:avLst/>
              <a:gdLst>
                <a:gd name="csX0" fmla="*/ 379372 w 929744"/>
                <a:gd name="csY0" fmla="*/ 0 h 655741"/>
                <a:gd name="csX1" fmla="*/ 551766 w 929744"/>
                <a:gd name="csY1" fmla="*/ 0 h 655741"/>
                <a:gd name="csX2" fmla="*/ 557341 w 929744"/>
                <a:gd name="csY2" fmla="*/ 74884 h 655741"/>
                <a:gd name="csX3" fmla="*/ 640732 w 929744"/>
                <a:gd name="csY3" fmla="*/ 334972 h 655741"/>
                <a:gd name="csX4" fmla="*/ 911972 w 929744"/>
                <a:gd name="csY4" fmla="*/ 647766 h 655741"/>
                <a:gd name="csX5" fmla="*/ 929744 w 929744"/>
                <a:gd name="csY5" fmla="*/ 654794 h 655741"/>
                <a:gd name="csX6" fmla="*/ 929744 w 929744"/>
                <a:gd name="csY6" fmla="*/ 655741 h 655741"/>
                <a:gd name="csX7" fmla="*/ 0 w 929744"/>
                <a:gd name="csY7" fmla="*/ 655741 h 655741"/>
                <a:gd name="csX8" fmla="*/ 0 w 929744"/>
                <a:gd name="csY8" fmla="*/ 655346 h 655741"/>
                <a:gd name="csX9" fmla="*/ 19166 w 929744"/>
                <a:gd name="csY9" fmla="*/ 647768 h 655741"/>
                <a:gd name="csX10" fmla="*/ 290405 w 929744"/>
                <a:gd name="csY10" fmla="*/ 334973 h 655741"/>
                <a:gd name="csX11" fmla="*/ 373797 w 929744"/>
                <a:gd name="csY11" fmla="*/ 74885 h 655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929744" h="655741">
                  <a:moveTo>
                    <a:pt x="379372" y="0"/>
                  </a:moveTo>
                  <a:lnTo>
                    <a:pt x="551766" y="0"/>
                  </a:lnTo>
                  <a:lnTo>
                    <a:pt x="557341" y="74884"/>
                  </a:lnTo>
                  <a:cubicBezTo>
                    <a:pt x="568588" y="155334"/>
                    <a:pt x="596394" y="245277"/>
                    <a:pt x="640732" y="334972"/>
                  </a:cubicBezTo>
                  <a:cubicBezTo>
                    <a:pt x="714629" y="484464"/>
                    <a:pt x="816956" y="597888"/>
                    <a:pt x="911972" y="647766"/>
                  </a:cubicBezTo>
                  <a:lnTo>
                    <a:pt x="929744" y="654794"/>
                  </a:lnTo>
                  <a:lnTo>
                    <a:pt x="929744" y="655741"/>
                  </a:lnTo>
                  <a:lnTo>
                    <a:pt x="0" y="655741"/>
                  </a:lnTo>
                  <a:lnTo>
                    <a:pt x="0" y="655346"/>
                  </a:lnTo>
                  <a:lnTo>
                    <a:pt x="19166" y="647768"/>
                  </a:lnTo>
                  <a:cubicBezTo>
                    <a:pt x="114181" y="597890"/>
                    <a:pt x="216509" y="484465"/>
                    <a:pt x="290405" y="334973"/>
                  </a:cubicBezTo>
                  <a:cubicBezTo>
                    <a:pt x="334743" y="245278"/>
                    <a:pt x="362549" y="155336"/>
                    <a:pt x="373797" y="74885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73" name="三角形 72">
              <a:extLst>
                <a:ext uri="{FF2B5EF4-FFF2-40B4-BE49-F238E27FC236}">
                  <a16:creationId xmlns:a16="http://schemas.microsoft.com/office/drawing/2014/main" id="{CAF7BD46-7C66-3F60-0770-7124F10BEBAE}"/>
                </a:ext>
              </a:extLst>
            </p:cNvPr>
            <p:cNvSpPr/>
            <p:nvPr/>
          </p:nvSpPr>
          <p:spPr>
            <a:xfrm>
              <a:off x="3820135" y="4258864"/>
              <a:ext cx="423447" cy="319119"/>
            </a:xfrm>
            <a:prstGeom prst="triangl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74" name="文本框 73">
            <a:extLst>
              <a:ext uri="{FF2B5EF4-FFF2-40B4-BE49-F238E27FC236}">
                <a16:creationId xmlns:a16="http://schemas.microsoft.com/office/drawing/2014/main" id="{CF5839C3-B81D-2209-2FCA-D2F9887B3CBB}"/>
              </a:ext>
            </a:extLst>
          </p:cNvPr>
          <p:cNvSpPr txBox="1"/>
          <p:nvPr/>
        </p:nvSpPr>
        <p:spPr>
          <a:xfrm>
            <a:off x="3351788" y="3055057"/>
            <a:ext cx="2288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zh-CN" sz="1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深入方向，负责一类业务问题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6AC74D1-6E84-AE17-7C4B-4DDB73D09478}"/>
              </a:ext>
            </a:extLst>
          </p:cNvPr>
          <p:cNvSpPr txBox="1"/>
          <p:nvPr/>
        </p:nvSpPr>
        <p:spPr>
          <a:xfrm>
            <a:off x="2912400" y="2028036"/>
            <a:ext cx="25881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11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/>
              <a:t>O</a:t>
            </a:r>
            <a:r>
              <a:rPr lang="zh-CN" altLang="en-US" dirty="0"/>
              <a:t>：</a:t>
            </a:r>
            <a:r>
              <a:rPr lang="zh-CN" altLang="zh-CN" dirty="0"/>
              <a:t>在路线</a:t>
            </a:r>
            <a:r>
              <a:rPr lang="zh-CN" altLang="en-US" dirty="0"/>
              <a:t>可解释性</a:t>
            </a:r>
            <a:r>
              <a:rPr lang="zh-CN" altLang="zh-CN" dirty="0"/>
              <a:t>、</a:t>
            </a:r>
            <a:r>
              <a:rPr lang="zh-CN" altLang="en-US" dirty="0"/>
              <a:t>规划安全性</a:t>
            </a:r>
            <a:r>
              <a:rPr lang="zh-CN" altLang="zh-CN" dirty="0"/>
              <a:t>等方向形成专项能力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38B683AE-278B-4734-08DD-E7C25EBADE1F}"/>
              </a:ext>
            </a:extLst>
          </p:cNvPr>
          <p:cNvSpPr txBox="1"/>
          <p:nvPr/>
        </p:nvSpPr>
        <p:spPr>
          <a:xfrm>
            <a:off x="2912400" y="2483868"/>
            <a:ext cx="25881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11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/>
              <a:t>KR</a:t>
            </a:r>
            <a:r>
              <a:rPr lang="zh-CN" altLang="en-US" dirty="0"/>
              <a:t>：</a:t>
            </a:r>
            <a:r>
              <a:rPr lang="zh-CN" altLang="zh-CN" dirty="0"/>
              <a:t>独立完成场景分析、方案设计和</a:t>
            </a:r>
            <a:endParaRPr lang="en-US" altLang="zh-CN" dirty="0"/>
          </a:p>
          <a:p>
            <a:r>
              <a:rPr lang="zh-CN" altLang="en-US" dirty="0"/>
              <a:t>           </a:t>
            </a:r>
            <a:r>
              <a:rPr lang="zh-CN" altLang="zh-CN" dirty="0"/>
              <a:t>效果评估，持续改善相关指标</a:t>
            </a:r>
          </a:p>
        </p:txBody>
      </p:sp>
      <p:sp>
        <p:nvSpPr>
          <p:cNvPr id="77" name="圆角矩形 76">
            <a:extLst>
              <a:ext uri="{FF2B5EF4-FFF2-40B4-BE49-F238E27FC236}">
                <a16:creationId xmlns:a16="http://schemas.microsoft.com/office/drawing/2014/main" id="{5D23534E-AAED-D3BD-FAC9-D8F1C25D99EC}"/>
              </a:ext>
            </a:extLst>
          </p:cNvPr>
          <p:cNvSpPr/>
          <p:nvPr/>
        </p:nvSpPr>
        <p:spPr>
          <a:xfrm>
            <a:off x="7962890" y="2648232"/>
            <a:ext cx="2737114" cy="1164903"/>
          </a:xfrm>
          <a:prstGeom prst="roundRect">
            <a:avLst>
              <a:gd name="adj" fmla="val 2823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238CDF1B-EC87-021F-A316-196FDE3DD4AB}"/>
              </a:ext>
            </a:extLst>
          </p:cNvPr>
          <p:cNvSpPr/>
          <p:nvPr/>
        </p:nvSpPr>
        <p:spPr>
          <a:xfrm>
            <a:off x="7962890" y="3819101"/>
            <a:ext cx="2737114" cy="352722"/>
          </a:xfrm>
          <a:prstGeom prst="roundRect">
            <a:avLst>
              <a:gd name="adj" fmla="val 28237"/>
            </a:avLst>
          </a:prstGeom>
          <a:solidFill>
            <a:srgbClr val="FF7F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654C76C0-0F9A-223D-BBFE-1F7BC7ED739B}"/>
              </a:ext>
            </a:extLst>
          </p:cNvPr>
          <p:cNvGrpSpPr/>
          <p:nvPr/>
        </p:nvGrpSpPr>
        <p:grpSpPr>
          <a:xfrm>
            <a:off x="8041900" y="3550594"/>
            <a:ext cx="603785" cy="621228"/>
            <a:chOff x="3566987" y="4258864"/>
            <a:chExt cx="929744" cy="956603"/>
          </a:xfrm>
          <a:solidFill>
            <a:srgbClr val="FF7F42"/>
          </a:solidFill>
        </p:grpSpPr>
        <p:sp>
          <p:nvSpPr>
            <p:cNvPr id="81" name="任意形状 80">
              <a:extLst>
                <a:ext uri="{FF2B5EF4-FFF2-40B4-BE49-F238E27FC236}">
                  <a16:creationId xmlns:a16="http://schemas.microsoft.com/office/drawing/2014/main" id="{EC2527D6-9A9C-A4AD-16CE-60FAEEC668CE}"/>
                </a:ext>
              </a:extLst>
            </p:cNvPr>
            <p:cNvSpPr/>
            <p:nvPr/>
          </p:nvSpPr>
          <p:spPr>
            <a:xfrm>
              <a:off x="3566987" y="4559726"/>
              <a:ext cx="929744" cy="655741"/>
            </a:xfrm>
            <a:custGeom>
              <a:avLst/>
              <a:gdLst>
                <a:gd name="csX0" fmla="*/ 379372 w 929744"/>
                <a:gd name="csY0" fmla="*/ 0 h 655741"/>
                <a:gd name="csX1" fmla="*/ 551766 w 929744"/>
                <a:gd name="csY1" fmla="*/ 0 h 655741"/>
                <a:gd name="csX2" fmla="*/ 557341 w 929744"/>
                <a:gd name="csY2" fmla="*/ 74884 h 655741"/>
                <a:gd name="csX3" fmla="*/ 640732 w 929744"/>
                <a:gd name="csY3" fmla="*/ 334972 h 655741"/>
                <a:gd name="csX4" fmla="*/ 911972 w 929744"/>
                <a:gd name="csY4" fmla="*/ 647766 h 655741"/>
                <a:gd name="csX5" fmla="*/ 929744 w 929744"/>
                <a:gd name="csY5" fmla="*/ 654794 h 655741"/>
                <a:gd name="csX6" fmla="*/ 929744 w 929744"/>
                <a:gd name="csY6" fmla="*/ 655741 h 655741"/>
                <a:gd name="csX7" fmla="*/ 0 w 929744"/>
                <a:gd name="csY7" fmla="*/ 655741 h 655741"/>
                <a:gd name="csX8" fmla="*/ 0 w 929744"/>
                <a:gd name="csY8" fmla="*/ 655346 h 655741"/>
                <a:gd name="csX9" fmla="*/ 19166 w 929744"/>
                <a:gd name="csY9" fmla="*/ 647768 h 655741"/>
                <a:gd name="csX10" fmla="*/ 290405 w 929744"/>
                <a:gd name="csY10" fmla="*/ 334973 h 655741"/>
                <a:gd name="csX11" fmla="*/ 373797 w 929744"/>
                <a:gd name="csY11" fmla="*/ 74885 h 655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929744" h="655741">
                  <a:moveTo>
                    <a:pt x="379372" y="0"/>
                  </a:moveTo>
                  <a:lnTo>
                    <a:pt x="551766" y="0"/>
                  </a:lnTo>
                  <a:lnTo>
                    <a:pt x="557341" y="74884"/>
                  </a:lnTo>
                  <a:cubicBezTo>
                    <a:pt x="568588" y="155334"/>
                    <a:pt x="596394" y="245277"/>
                    <a:pt x="640732" y="334972"/>
                  </a:cubicBezTo>
                  <a:cubicBezTo>
                    <a:pt x="714629" y="484464"/>
                    <a:pt x="816956" y="597888"/>
                    <a:pt x="911972" y="647766"/>
                  </a:cubicBezTo>
                  <a:lnTo>
                    <a:pt x="929744" y="654794"/>
                  </a:lnTo>
                  <a:lnTo>
                    <a:pt x="929744" y="655741"/>
                  </a:lnTo>
                  <a:lnTo>
                    <a:pt x="0" y="655741"/>
                  </a:lnTo>
                  <a:lnTo>
                    <a:pt x="0" y="655346"/>
                  </a:lnTo>
                  <a:lnTo>
                    <a:pt x="19166" y="647768"/>
                  </a:lnTo>
                  <a:cubicBezTo>
                    <a:pt x="114181" y="597890"/>
                    <a:pt x="216509" y="484465"/>
                    <a:pt x="290405" y="334973"/>
                  </a:cubicBezTo>
                  <a:cubicBezTo>
                    <a:pt x="334743" y="245278"/>
                    <a:pt x="362549" y="155336"/>
                    <a:pt x="373797" y="74885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82" name="三角形 81">
              <a:extLst>
                <a:ext uri="{FF2B5EF4-FFF2-40B4-BE49-F238E27FC236}">
                  <a16:creationId xmlns:a16="http://schemas.microsoft.com/office/drawing/2014/main" id="{AF714627-1B52-7921-8B60-6A32D93D72D3}"/>
                </a:ext>
              </a:extLst>
            </p:cNvPr>
            <p:cNvSpPr/>
            <p:nvPr/>
          </p:nvSpPr>
          <p:spPr>
            <a:xfrm>
              <a:off x="3820135" y="4258864"/>
              <a:ext cx="423447" cy="319119"/>
            </a:xfrm>
            <a:prstGeom prst="triangl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83" name="文本框 82">
            <a:extLst>
              <a:ext uri="{FF2B5EF4-FFF2-40B4-BE49-F238E27FC236}">
                <a16:creationId xmlns:a16="http://schemas.microsoft.com/office/drawing/2014/main" id="{DF4692E1-B7E4-E0A3-814B-45F605BCF4CE}"/>
              </a:ext>
            </a:extLst>
          </p:cNvPr>
          <p:cNvSpPr txBox="1"/>
          <p:nvPr/>
        </p:nvSpPr>
        <p:spPr>
          <a:xfrm>
            <a:off x="8481288" y="3870018"/>
            <a:ext cx="2288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zh-CN" sz="1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建立系统视角，承担完整模块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9EE753E6-9996-A58A-9DB9-3B5A99D9CBBB}"/>
              </a:ext>
            </a:extLst>
          </p:cNvPr>
          <p:cNvSpPr txBox="1"/>
          <p:nvPr/>
        </p:nvSpPr>
        <p:spPr>
          <a:xfrm>
            <a:off x="8041900" y="2723734"/>
            <a:ext cx="25881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11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/>
              <a:t>O</a:t>
            </a:r>
            <a:r>
              <a:rPr lang="zh-CN" altLang="en-US" dirty="0"/>
              <a:t>：</a:t>
            </a:r>
            <a:r>
              <a:rPr lang="zh-CN" altLang="zh-CN" dirty="0"/>
              <a:t>形成对 Routing</a:t>
            </a:r>
            <a:r>
              <a:rPr lang="zh-CN" altLang="en-US" dirty="0"/>
              <a:t> 模块</a:t>
            </a:r>
            <a:r>
              <a:rPr lang="zh-CN" altLang="zh-CN" dirty="0"/>
              <a:t>及上下游协作的</a:t>
            </a:r>
            <a:r>
              <a:rPr lang="zh-CN" altLang="en-US" dirty="0"/>
              <a:t>深入</a:t>
            </a:r>
            <a:r>
              <a:rPr lang="zh-CN" altLang="zh-CN" dirty="0"/>
              <a:t>理解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ACB556DB-B5F0-A22D-762D-DCD1F3307B28}"/>
              </a:ext>
            </a:extLst>
          </p:cNvPr>
          <p:cNvSpPr txBox="1"/>
          <p:nvPr/>
        </p:nvSpPr>
        <p:spPr>
          <a:xfrm>
            <a:off x="8041900" y="3129085"/>
            <a:ext cx="25881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11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/>
              <a:t>KR</a:t>
            </a:r>
            <a:r>
              <a:rPr lang="zh-CN" altLang="en-US" dirty="0"/>
              <a:t>：</a:t>
            </a:r>
            <a:r>
              <a:rPr lang="zh-CN" altLang="zh-CN" dirty="0"/>
              <a:t>能够负责模块演进和复杂问题治理，推动 Robotaxi 运行更加安全、稳</a:t>
            </a:r>
            <a:endParaRPr lang="en-US" altLang="zh-CN" dirty="0"/>
          </a:p>
          <a:p>
            <a:r>
              <a:rPr lang="zh-CN" altLang="en-US" dirty="0"/>
              <a:t>           </a:t>
            </a:r>
            <a:r>
              <a:rPr lang="zh-CN" altLang="zh-CN" dirty="0"/>
              <a:t>定、高效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4F898B63-42AC-AFA2-F39A-8FC666744AAC}"/>
              </a:ext>
            </a:extLst>
          </p:cNvPr>
          <p:cNvSpPr/>
          <p:nvPr/>
        </p:nvSpPr>
        <p:spPr>
          <a:xfrm>
            <a:off x="2880384" y="5861325"/>
            <a:ext cx="156243" cy="156243"/>
          </a:xfrm>
          <a:prstGeom prst="ellipse">
            <a:avLst/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B7D97776-0C0E-FB88-24C0-FA68E336C088}"/>
              </a:ext>
            </a:extLst>
          </p:cNvPr>
          <p:cNvSpPr/>
          <p:nvPr/>
        </p:nvSpPr>
        <p:spPr>
          <a:xfrm>
            <a:off x="5803217" y="5861325"/>
            <a:ext cx="156243" cy="156243"/>
          </a:xfrm>
          <a:prstGeom prst="ellipse">
            <a:avLst/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EAD1C3E0-CEF8-F5E7-769D-228DD6DEF8F2}"/>
              </a:ext>
            </a:extLst>
          </p:cNvPr>
          <p:cNvSpPr/>
          <p:nvPr/>
        </p:nvSpPr>
        <p:spPr>
          <a:xfrm>
            <a:off x="8742765" y="5878178"/>
            <a:ext cx="156243" cy="156243"/>
          </a:xfrm>
          <a:prstGeom prst="ellipse">
            <a:avLst/>
          </a:prstGeom>
          <a:solidFill>
            <a:srgbClr val="FF7F42"/>
          </a:solidFill>
          <a:ln>
            <a:solidFill>
              <a:srgbClr val="FF7F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593DFC7A-E204-13E8-D09C-F5F7673BF639}"/>
              </a:ext>
            </a:extLst>
          </p:cNvPr>
          <p:cNvSpPr txBox="1"/>
          <p:nvPr/>
        </p:nvSpPr>
        <p:spPr>
          <a:xfrm>
            <a:off x="2436214" y="4927668"/>
            <a:ext cx="732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16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短期目标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A97A0968-F98C-9636-1B2D-4921D2E2D909}"/>
              </a:ext>
            </a:extLst>
          </p:cNvPr>
          <p:cNvSpPr txBox="1"/>
          <p:nvPr/>
        </p:nvSpPr>
        <p:spPr>
          <a:xfrm>
            <a:off x="2124998" y="2534867"/>
            <a:ext cx="732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16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持续进步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AE7AED42-4D76-35BC-8821-F82F9788FA35}"/>
              </a:ext>
            </a:extLst>
          </p:cNvPr>
          <p:cNvSpPr txBox="1"/>
          <p:nvPr/>
        </p:nvSpPr>
        <p:spPr>
          <a:xfrm>
            <a:off x="7160842" y="3433109"/>
            <a:ext cx="732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1600" b="1" dirty="0">
                <a:solidFill>
                  <a:srgbClr val="FF7F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长期发展</a:t>
            </a:r>
          </a:p>
        </p:txBody>
      </p:sp>
      <p:sp>
        <p:nvSpPr>
          <p:cNvPr id="93" name="灯片编号占位符 92">
            <a:extLst>
              <a:ext uri="{FF2B5EF4-FFF2-40B4-BE49-F238E27FC236}">
                <a16:creationId xmlns:a16="http://schemas.microsoft.com/office/drawing/2014/main" id="{8C3C337D-1542-F7B6-2E1F-8A3C2C4BB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D6745-9EBB-A044-B42C-0E6AD00F43E4}" type="slidenum">
              <a:rPr kumimoji="1" lang="zh-CN" altLang="en-US" sz="1600" b="1" smtClean="0"/>
              <a:pPr/>
              <a:t>14</a:t>
            </a:fld>
            <a:r>
              <a:rPr kumimoji="1" lang="zh-CN" altLang="en-US" sz="1400"/>
              <a:t> </a:t>
            </a:r>
            <a:r>
              <a:rPr kumimoji="1" lang="en-US" altLang="zh-CN"/>
              <a:t>/</a:t>
            </a:r>
            <a:r>
              <a:rPr kumimoji="1" lang="zh-CN" altLang="en-US"/>
              <a:t> </a:t>
            </a:r>
            <a:r>
              <a:rPr kumimoji="1" lang="en-US" altLang="zh-CN"/>
              <a:t>15</a:t>
            </a:r>
            <a:endParaRPr kumimoji="1"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55651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012"/>
    </mc:Choice>
    <mc:Fallback>
      <p:transition spd="slow" advTm="440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3" grpId="0" animBg="1"/>
      <p:bldP spid="33" grpId="0" animBg="1"/>
      <p:bldP spid="34" grpId="0" animBg="1"/>
      <p:bldP spid="35" grpId="0" animBg="1"/>
      <p:bldP spid="65" grpId="0"/>
      <p:bldP spid="66" grpId="0"/>
      <p:bldP spid="67" grpId="0"/>
      <p:bldP spid="68" grpId="0" animBg="1"/>
      <p:bldP spid="69" grpId="0" animBg="1"/>
      <p:bldP spid="74" grpId="0"/>
      <p:bldP spid="75" grpId="0"/>
      <p:bldP spid="76" grpId="0"/>
      <p:bldP spid="77" grpId="0" animBg="1"/>
      <p:bldP spid="78" grpId="0" animBg="1"/>
      <p:bldP spid="83" grpId="0"/>
      <p:bldP spid="84" grpId="0"/>
      <p:bldP spid="85" grpId="0"/>
      <p:bldP spid="89" grpId="0"/>
      <p:bldP spid="90" grpId="0"/>
      <p:bldP spid="9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F2926-FC4F-494A-2D40-5DCEA551C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ACB4E08-AB4B-C6BF-B0E9-283E4DAFA4B9}"/>
              </a:ext>
            </a:extLst>
          </p:cNvPr>
          <p:cNvPicPr>
            <a:picLocks/>
          </p:cNvPicPr>
          <p:nvPr/>
        </p:nvPicPr>
        <p:blipFill>
          <a:blip r:embed="rId2"/>
          <a:srcRect t="46445" r="13259" b="16890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F089CF2-C83B-BD89-18B4-00DECFB9778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79248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320">
                  <a:extLst>
                    <a:ext uri="{9D8B030D-6E8A-4147-A177-3AD203B41FA5}">
                      <a16:colId xmlns:a16="http://schemas.microsoft.com/office/drawing/2014/main" val="2134695468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4268985309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964724770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3266032810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291577382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1523304723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2902023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685649018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1559324180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2215466828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384165439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799213464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88764510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1041261165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671009653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7F42">
                            <a:alpha val="94991"/>
                          </a:srgbClr>
                        </a:gs>
                        <a:gs pos="100000">
                          <a:srgbClr val="FF7F42"/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89000"/>
                          </a:srgbClr>
                        </a:gs>
                        <a:gs pos="100000">
                          <a:srgbClr val="FF7F42">
                            <a:alpha val="95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82000"/>
                          </a:srgbClr>
                        </a:gs>
                        <a:gs pos="99000">
                          <a:srgbClr val="FF7F42">
                            <a:alpha val="89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76000"/>
                          </a:srgbClr>
                        </a:gs>
                        <a:gs pos="99000">
                          <a:srgbClr val="FF7F42">
                            <a:alpha val="82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69000"/>
                          </a:srgbClr>
                        </a:gs>
                        <a:gs pos="99000">
                          <a:srgbClr val="FF7F42">
                            <a:alpha val="76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63000"/>
                          </a:srgbClr>
                        </a:gs>
                        <a:gs pos="99000">
                          <a:srgbClr val="FF7F42">
                            <a:alpha val="69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56000"/>
                          </a:srgbClr>
                        </a:gs>
                        <a:gs pos="99000">
                          <a:srgbClr val="FF7F42">
                            <a:alpha val="63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50000"/>
                          </a:srgbClr>
                        </a:gs>
                        <a:gs pos="99000">
                          <a:srgbClr val="FF7F42">
                            <a:alpha val="56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43000"/>
                          </a:srgbClr>
                        </a:gs>
                        <a:gs pos="99000">
                          <a:srgbClr val="FF7F42">
                            <a:alpha val="50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37000"/>
                          </a:srgbClr>
                        </a:gs>
                        <a:gs pos="99000">
                          <a:srgbClr val="FF7F42">
                            <a:alpha val="43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30000"/>
                          </a:srgbClr>
                        </a:gs>
                        <a:gs pos="99000">
                          <a:srgbClr val="FF7F42">
                            <a:alpha val="37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23000"/>
                          </a:srgbClr>
                        </a:gs>
                        <a:gs pos="99000">
                          <a:srgbClr val="FF7F42">
                            <a:alpha val="30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16000"/>
                          </a:srgbClr>
                        </a:gs>
                        <a:gs pos="99000">
                          <a:srgbClr val="FF7F42">
                            <a:alpha val="23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9000"/>
                          </a:srgbClr>
                        </a:gs>
                        <a:gs pos="99000">
                          <a:srgbClr val="FF7F42">
                            <a:alpha val="16000"/>
                          </a:srgbClr>
                        </a:gs>
                      </a:gsLst>
                      <a:lin ang="108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F7F42">
                            <a:alpha val="4000"/>
                          </a:srgbClr>
                        </a:gs>
                        <a:gs pos="99000">
                          <a:srgbClr val="FF7F42">
                            <a:alpha val="9000"/>
                          </a:srgbClr>
                        </a:gs>
                      </a:gsLst>
                      <a:lin ang="108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99259836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D6CF242-732E-EF5C-17BE-92DDE0345F44}"/>
              </a:ext>
            </a:extLst>
          </p:cNvPr>
          <p:cNvSpPr txBox="1"/>
          <p:nvPr/>
        </p:nvSpPr>
        <p:spPr>
          <a:xfrm>
            <a:off x="271670" y="1417320"/>
            <a:ext cx="716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秋储实习生转正述职答辩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CACC145-416F-4C16-0AE8-054378072B87}"/>
              </a:ext>
            </a:extLst>
          </p:cNvPr>
          <p:cNvSpPr txBox="1"/>
          <p:nvPr/>
        </p:nvSpPr>
        <p:spPr>
          <a:xfrm>
            <a:off x="213360" y="5285093"/>
            <a:ext cx="2644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汇报人：宋宇杰</a:t>
            </a:r>
            <a:endParaRPr kumimoji="1" lang="en-US" altLang="zh-CN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C63576E-3F29-6E77-B3DF-8D692C8BCB54}"/>
              </a:ext>
            </a:extLst>
          </p:cNvPr>
          <p:cNvSpPr txBox="1"/>
          <p:nvPr/>
        </p:nvSpPr>
        <p:spPr>
          <a:xfrm>
            <a:off x="213360" y="5758366"/>
            <a:ext cx="3032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</a:t>
            </a:r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kumimoji="1"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kumimoji="1"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endParaRPr kumimoji="1" lang="en-US" altLang="zh-CN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36E4F20-1BB9-3282-D13F-A69FF91F22DF}"/>
              </a:ext>
            </a:extLst>
          </p:cNvPr>
          <p:cNvSpPr txBox="1"/>
          <p:nvPr/>
        </p:nvSpPr>
        <p:spPr>
          <a:xfrm>
            <a:off x="271670" y="3053015"/>
            <a:ext cx="61225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4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谢谢！恳请批评指正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2828659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759"/>
    </mc:Choice>
    <mc:Fallback>
      <p:transition spd="slow" advTm="19759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2|54.9|10.7|15.5|16|7.3|3.9|9.4|7.7|0.4|2.8|42.5|0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5.1|0.3|36.8|33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|10.8|10.7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4434</TotalTime>
  <Words>1564</Words>
  <Application>Microsoft Macintosh PowerPoint</Application>
  <PresentationFormat>宽屏</PresentationFormat>
  <Paragraphs>283</Paragraphs>
  <Slides>15</Slides>
  <Notes>8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等线</vt:lpstr>
      <vt:lpstr>等线 Light</vt:lpstr>
      <vt:lpstr>SimHei</vt:lpstr>
      <vt:lpstr>Microsoft YaHei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didi</dc:creator>
  <cp:lastModifiedBy>didi</cp:lastModifiedBy>
  <cp:revision>22</cp:revision>
  <dcterms:created xsi:type="dcterms:W3CDTF">2026-08-28T08:13:25Z</dcterms:created>
  <dcterms:modified xsi:type="dcterms:W3CDTF">2026-08-31T10:07:40Z</dcterms:modified>
</cp:coreProperties>
</file>