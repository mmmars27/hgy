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68" r:id="rId2"/>
    <p:sldId id="280" r:id="rId3"/>
    <p:sldId id="294" r:id="rId4"/>
    <p:sldId id="374" r:id="rId5"/>
    <p:sldId id="330" r:id="rId6"/>
    <p:sldId id="335" r:id="rId7"/>
    <p:sldId id="375" r:id="rId8"/>
    <p:sldId id="376" r:id="rId9"/>
    <p:sldId id="377" r:id="rId10"/>
    <p:sldId id="370" r:id="rId11"/>
    <p:sldId id="336" r:id="rId12"/>
    <p:sldId id="378" r:id="rId13"/>
    <p:sldId id="379" r:id="rId14"/>
    <p:sldId id="380" r:id="rId15"/>
    <p:sldId id="381" r:id="rId16"/>
    <p:sldId id="277" r:id="rId17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5822"/>
    <a:srgbClr val="FF7518"/>
    <a:srgbClr val="EAB124"/>
    <a:srgbClr val="434242"/>
    <a:srgbClr val="2D322F"/>
    <a:srgbClr val="F6F9F6"/>
    <a:srgbClr val="DFEBE1"/>
    <a:srgbClr val="BDD6C0"/>
    <a:srgbClr val="014924"/>
    <a:srgbClr val="F7F8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91869" autoAdjust="0"/>
  </p:normalViewPr>
  <p:slideViewPr>
    <p:cSldViewPr snapToGrid="0" showGuides="1">
      <p:cViewPr varScale="1">
        <p:scale>
          <a:sx n="101" d="100"/>
          <a:sy n="101" d="100"/>
        </p:scale>
        <p:origin x="1308" y="114"/>
      </p:cViewPr>
      <p:guideLst/>
    </p:cSldViewPr>
  </p:slideViewPr>
  <p:notesTextViewPr>
    <p:cViewPr>
      <p:scale>
        <a:sx n="133" d="100"/>
        <a:sy n="133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552A8-ECE7-49AA-8726-BE90DBC1194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EAD77-486C-432B-9EE9-E6FD5C91EB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C2FF4-1AD5-D700-9B95-408093A35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1B7F54-E5AA-4D9A-1EEB-66BC53109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FA304B-1B7E-BB36-DF56-093BBDF61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613223-C09B-D801-6518-D454C2ADC8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108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8E7A-0CE9-B2EB-34D9-175CA234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670AA8-7B7D-B36C-1D46-7AEA480BB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803E1D-0603-98FC-2DB9-86AF2CC1D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84EE3-4448-E22E-A8A5-34B9DDF564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220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3B0EE-AB36-D772-5697-FE1804E5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2F2E36-A640-3153-1981-0317B7899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1F62AF-16FD-D49A-8D5E-529C6C203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348210-2243-B895-F536-9D18DA52CE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250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31313-6F18-2E63-EA1B-CA2BC7D37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D511A6-2968-B98F-EBFB-7C932E1BD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452E85-B51D-DAF3-E616-35CB05067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B85C2-C932-26C5-B668-0CDE93ACB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170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2E6D-4F69-73F1-FB8D-7A3CE3FF5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4E2C81-9C08-41B8-6847-C9E046E95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9B2E25-57B0-FB74-5625-FBE4C0FEE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8E366-7DFF-D284-5778-B771897CCA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912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8FFE-0C74-8B48-4E4F-299DBA1CE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C186F0-0D15-036D-9D9F-EAB4BF9B3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0656B3-6E9E-BDAF-4AFB-F945890E0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72C04F-7690-4272-8942-518A1CE84B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88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C1F8A-9A85-EAC3-C702-521C8D653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B4859F-04C6-D320-9365-A73416E66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D9797C-D854-8676-9E10-2C6B04EDA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E72BEF-DFAD-6279-9054-097A3943D5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077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4398B-5E0C-DADF-6256-5AFD3C1E8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1E52DA-9AF3-7A58-8881-57DB0E2DE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F8C989-6E9D-627E-DAB9-B32C9BFBA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7F58F3-B4FA-7112-3E84-BD38BED8D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897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DB7B3-0973-EDA8-5103-2A0325BC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4A7C98-F019-8159-0C29-61AED2373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49AAB2-7C9B-D123-8F15-AF1FFA64F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95572D-96B3-27FD-DE7D-FE87AABE5F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913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1AA59-1202-5177-F233-94300852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AFC6B3-586E-CF66-8966-51C7CD6DD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800A02-E41F-4364-E149-C53A151ED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C191B-8D35-F364-C791-1E443FD174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492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E1014-E9F7-34E6-03A4-11E11E125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10D33B-090F-EE7B-4A88-DC97589A0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7316FF-4BE2-AEB7-1419-471D5CE63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C0F28-52C0-B418-B135-93BDF383D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118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55D3E-BC99-D2B5-66EF-21CE50A48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8B9E31-75EA-574D-E9FC-1381A2EA0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119906-ECE2-2E65-EF83-2ABA7E67C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6A69B7-8667-A951-5233-F271C84DB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6502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5A1D-2A9D-4216-B633-CCD204708D02}" type="datetime1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C38E1-4ADD-4DCE-8598-512714CDE63B}" type="datetime1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48800" y="6538912"/>
            <a:ext cx="27432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01635508-54A0-4FB0-A4C5-6467DE85E924}" type="slidenum">
              <a:rPr lang="zh-CN" altLang="en-US" sz="1600" smtClean="0"/>
              <a:pPr/>
              <a:t>‹#›</a:t>
            </a:fld>
            <a:r>
              <a:rPr lang="en-US" altLang="zh-CN" dirty="0"/>
              <a:t>/21</a:t>
            </a:r>
            <a:endParaRPr lang="zh-CN" altLang="en-US" b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8261E-7643-4E77-BBB5-09E1EFC48138}" type="datetime1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E4C4-EAAA-4FA5-A13B-050CAA5E7710}" type="datetime1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F759-7A5F-4B0B-8593-8E9FC07CC171}" type="datetime1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5546C-FBC1-45EA-B884-2CDEB6A28DA8}" type="datetime1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E4644-2019-4451-ADA1-D14A9FDE52BB}" type="datetime1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0FF5D-8F73-4249-926E-B9CD6D3399E5}" type="datetime1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F7FE-5F34-498E-870A-8D7CA69711F3}" type="datetime1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3DD0-978B-494D-85E8-04403E213A5A}" type="datetime1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258B0-91E6-4D59-A1A2-B9C8CE65979C}" type="datetime1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82858-CDA0-479B-9ED6-84CFE2F45A70}" type="datetime1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12" Type="http://schemas.openxmlformats.org/officeDocument/2006/relationships/image" Target="../media/image8.sv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7.svg"/><Relationship Id="rId5" Type="http://schemas.openxmlformats.org/officeDocument/2006/relationships/image" Target="../media/image22.png"/><Relationship Id="rId15" Type="http://schemas.openxmlformats.org/officeDocument/2006/relationships/image" Target="../media/image29.png"/><Relationship Id="rId10" Type="http://schemas.openxmlformats.org/officeDocument/2006/relationships/image" Target="../media/image6.svg"/><Relationship Id="rId19" Type="http://schemas.openxmlformats.org/officeDocument/2006/relationships/image" Target="../media/image33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23" r="14726" b="48018"/>
          <a:stretch>
            <a:fillRect/>
          </a:stretch>
        </p:blipFill>
        <p:spPr>
          <a:xfrm>
            <a:off x="15050" y="5223309"/>
            <a:ext cx="5870824" cy="1634689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705866" y="0"/>
            <a:ext cx="2780268" cy="3063728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0" y="5223310"/>
            <a:ext cx="12192000" cy="1634689"/>
          </a:xfrm>
          <a:prstGeom prst="rect">
            <a:avLst/>
          </a:prstGeom>
          <a:gradFill flip="none" rotWithShape="1">
            <a:gsLst>
              <a:gs pos="0">
                <a:srgbClr val="014924"/>
              </a:gs>
              <a:gs pos="51000">
                <a:srgbClr val="014924"/>
              </a:gs>
              <a:gs pos="80000">
                <a:srgbClr val="014924">
                  <a:alpha val="80000"/>
                </a:srgbClr>
              </a:gs>
              <a:gs pos="100000">
                <a:srgbClr val="014924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10275" y="3304648"/>
            <a:ext cx="1154572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基于跨时域交互的自动驾驶条件轨迹预测</a:t>
            </a:r>
          </a:p>
          <a:p>
            <a:pPr algn="ctr"/>
            <a:r>
              <a:rPr lang="en-US" altLang="zh-CN" sz="28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Cross Time Domain Intention Interaction for Conditional Trajectory Prediction</a:t>
            </a:r>
            <a:endParaRPr lang="zh-CN" altLang="en-US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07512" y="5804729"/>
            <a:ext cx="263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院系：智能工程学院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776354" y="5804535"/>
            <a:ext cx="314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专业：交通运输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662790" y="5804535"/>
            <a:ext cx="27386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汇报人：宋宇杰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458325" y="5804535"/>
            <a:ext cx="302604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导师：黄玮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939" y="650634"/>
            <a:ext cx="1936392" cy="19308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16" name="矩形 15"/>
          <p:cNvSpPr/>
          <p:nvPr/>
        </p:nvSpPr>
        <p:spPr>
          <a:xfrm>
            <a:off x="2950339" y="3612031"/>
            <a:ext cx="2559475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F9F56C68-2E05-5EED-AEC0-6193DAB5C7F7}"/>
              </a:ext>
            </a:extLst>
          </p:cNvPr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3" name="圆角矩形 4">
              <a:extLst>
                <a:ext uri="{FF2B5EF4-FFF2-40B4-BE49-F238E27FC236}">
                  <a16:creationId xmlns:a16="http://schemas.microsoft.com/office/drawing/2014/main" id="{53BA09FD-1C48-C380-A4EF-4D5604479755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65CA94F-2DE4-07A7-77C9-51477E8AA981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9BDF2036-FFAE-571A-5D01-D5837D89A67F}"/>
              </a:ext>
            </a:extLst>
          </p:cNvPr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8AC883E-33CC-A554-D5E9-52CAF3437809}"/>
              </a:ext>
            </a:extLst>
          </p:cNvPr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7" name="圆角矩形 3">
              <a:extLst>
                <a:ext uri="{FF2B5EF4-FFF2-40B4-BE49-F238E27FC236}">
                  <a16:creationId xmlns:a16="http://schemas.microsoft.com/office/drawing/2014/main" id="{5083EC7A-9B2A-4981-A92D-A5A354F5E4BB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圆角矩形 7">
              <a:extLst>
                <a:ext uri="{FF2B5EF4-FFF2-40B4-BE49-F238E27FC236}">
                  <a16:creationId xmlns:a16="http://schemas.microsoft.com/office/drawing/2014/main" id="{B89D11C0-720A-F976-1B5F-15377EE143D2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2E1F67C-F86D-77E6-4B66-6B9B0D9BF24E}"/>
                </a:ext>
              </a:extLst>
            </p:cNvPr>
            <p:cNvSpPr/>
            <p:nvPr/>
          </p:nvSpPr>
          <p:spPr>
            <a:xfrm>
              <a:off x="2828484" y="239783"/>
              <a:ext cx="1760860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</a:t>
              </a: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793BADAA-35EB-C39B-FC93-0A8B05DA23D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A321338-D755-6868-7EB9-12EA62026688}"/>
              </a:ext>
            </a:extLst>
          </p:cNvPr>
          <p:cNvSpPr/>
          <p:nvPr/>
        </p:nvSpPr>
        <p:spPr>
          <a:xfrm>
            <a:off x="692687" y="950661"/>
            <a:ext cx="10685870" cy="44951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5000">
                <a:srgbClr val="00561F">
                  <a:alpha val="93000"/>
                </a:srgbClr>
              </a:gs>
              <a:gs pos="25000">
                <a:srgbClr val="00561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轨迹预测是自动驾驶安全规划与交互决策的重要前提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6CC87A-2A1B-5136-789D-AFBAA424E331}"/>
              </a:ext>
            </a:extLst>
          </p:cNvPr>
          <p:cNvSpPr txBox="1"/>
          <p:nvPr/>
        </p:nvSpPr>
        <p:spPr>
          <a:xfrm>
            <a:off x="533400" y="1621125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条件轨迹预测：自动驾驶交互决策的关键环节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4B12856-EFE4-2520-7D71-583D90CD7392}"/>
              </a:ext>
            </a:extLst>
          </p:cNvPr>
          <p:cNvCxnSpPr/>
          <p:nvPr/>
        </p:nvCxnSpPr>
        <p:spPr>
          <a:xfrm>
            <a:off x="637749" y="2040285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2B467EA-6988-A2FE-5520-A18DBDEFE669}"/>
              </a:ext>
            </a:extLst>
          </p:cNvPr>
          <p:cNvSpPr txBox="1"/>
          <p:nvPr/>
        </p:nvSpPr>
        <p:spPr>
          <a:xfrm>
            <a:off x="533399" y="2199315"/>
            <a:ext cx="11208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目标车辆的未来行为不仅受历史轨迹和当前状态影响，也与自车潜在动作密切相关</a:t>
            </a:r>
            <a:endParaRPr lang="zh-CN" altLang="en-US" dirty="0"/>
          </a:p>
        </p:txBody>
      </p:sp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22FBCDAB-A96F-909B-E892-C5AB47FBB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smtClean="0"/>
              <a:pPr/>
              <a:t>3</a:t>
            </a:fld>
            <a:r>
              <a:rPr lang="en-US" altLang="zh-CN" dirty="0"/>
              <a:t>/21</a:t>
            </a:r>
            <a:endParaRPr lang="zh-CN" altLang="en-US" b="1" dirty="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625ECB0-2D5E-F827-625C-671F278C88D7}"/>
              </a:ext>
            </a:extLst>
          </p:cNvPr>
          <p:cNvSpPr/>
          <p:nvPr/>
        </p:nvSpPr>
        <p:spPr>
          <a:xfrm>
            <a:off x="390525" y="2762250"/>
            <a:ext cx="7334250" cy="2676525"/>
          </a:xfrm>
          <a:prstGeom prst="roundRect">
            <a:avLst>
              <a:gd name="adj" fmla="val 5635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A4940FF-F2AA-CE31-6FB0-80098A04E459}"/>
              </a:ext>
            </a:extLst>
          </p:cNvPr>
          <p:cNvSpPr/>
          <p:nvPr/>
        </p:nvSpPr>
        <p:spPr>
          <a:xfrm>
            <a:off x="390525" y="5594087"/>
            <a:ext cx="11468100" cy="770426"/>
          </a:xfrm>
          <a:prstGeom prst="roundRect">
            <a:avLst>
              <a:gd name="adj" fmla="val 5635"/>
            </a:avLst>
          </a:prstGeom>
          <a:noFill/>
          <a:ln w="19050">
            <a:solidFill>
              <a:srgbClr val="008F4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6C253D79-0AEE-A518-7143-75D5FE78C7C7}"/>
              </a:ext>
            </a:extLst>
          </p:cNvPr>
          <p:cNvSpPr/>
          <p:nvPr/>
        </p:nvSpPr>
        <p:spPr>
          <a:xfrm>
            <a:off x="8410575" y="2762251"/>
            <a:ext cx="3448050" cy="77042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9D3F6571-E744-989D-3657-BC38D5C3A049}"/>
              </a:ext>
            </a:extLst>
          </p:cNvPr>
          <p:cNvSpPr/>
          <p:nvPr/>
        </p:nvSpPr>
        <p:spPr>
          <a:xfrm>
            <a:off x="8410575" y="3715299"/>
            <a:ext cx="3448050" cy="77042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4122719-8AE1-F0CC-02A7-9941E503D77F}"/>
              </a:ext>
            </a:extLst>
          </p:cNvPr>
          <p:cNvSpPr/>
          <p:nvPr/>
        </p:nvSpPr>
        <p:spPr>
          <a:xfrm>
            <a:off x="8410575" y="4668347"/>
            <a:ext cx="3448050" cy="770426"/>
          </a:xfrm>
          <a:prstGeom prst="roundRect">
            <a:avLst>
              <a:gd name="adj" fmla="val 5635"/>
            </a:avLst>
          </a:prstGeom>
          <a:solidFill>
            <a:srgbClr val="E8EFE7"/>
          </a:solidFill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E734543-CDCC-7E0F-C17C-C7505FDE01B2}"/>
              </a:ext>
            </a:extLst>
          </p:cNvPr>
          <p:cNvCxnSpPr/>
          <p:nvPr/>
        </p:nvCxnSpPr>
        <p:spPr>
          <a:xfrm>
            <a:off x="561858" y="3599352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366FA7C-212A-13CA-C61D-048CA2FB8C1E}"/>
              </a:ext>
            </a:extLst>
          </p:cNvPr>
          <p:cNvCxnSpPr/>
          <p:nvPr/>
        </p:nvCxnSpPr>
        <p:spPr>
          <a:xfrm>
            <a:off x="561858" y="4485725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A57C449-9593-0E99-C452-F5D572E83CCF}"/>
              </a:ext>
            </a:extLst>
          </p:cNvPr>
          <p:cNvCxnSpPr/>
          <p:nvPr/>
        </p:nvCxnSpPr>
        <p:spPr>
          <a:xfrm>
            <a:off x="1765953" y="3599352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D46B26B-2B5A-8FC8-5C23-CA9B3F52A677}"/>
              </a:ext>
            </a:extLst>
          </p:cNvPr>
          <p:cNvCxnSpPr/>
          <p:nvPr/>
        </p:nvCxnSpPr>
        <p:spPr>
          <a:xfrm>
            <a:off x="1765953" y="4485725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444C2D4-B8B6-976C-BB59-0002093A80A9}"/>
              </a:ext>
            </a:extLst>
          </p:cNvPr>
          <p:cNvCxnSpPr/>
          <p:nvPr/>
        </p:nvCxnSpPr>
        <p:spPr>
          <a:xfrm>
            <a:off x="3013728" y="3599352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0F2558DC-5086-5676-E9C7-34C80E39E11D}"/>
              </a:ext>
            </a:extLst>
          </p:cNvPr>
          <p:cNvCxnSpPr/>
          <p:nvPr/>
        </p:nvCxnSpPr>
        <p:spPr>
          <a:xfrm>
            <a:off x="3013728" y="4485725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2B58F91-9EB1-A553-7CCB-5F7F445CBEC2}"/>
              </a:ext>
            </a:extLst>
          </p:cNvPr>
          <p:cNvCxnSpPr/>
          <p:nvPr/>
        </p:nvCxnSpPr>
        <p:spPr>
          <a:xfrm>
            <a:off x="4261503" y="3599352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78FF421-B01D-3D7F-B57D-C59758F580B7}"/>
              </a:ext>
            </a:extLst>
          </p:cNvPr>
          <p:cNvCxnSpPr/>
          <p:nvPr/>
        </p:nvCxnSpPr>
        <p:spPr>
          <a:xfrm>
            <a:off x="4261503" y="4485725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3E9E646-5168-09F1-5F79-0E27C5E0F2DA}"/>
              </a:ext>
            </a:extLst>
          </p:cNvPr>
          <p:cNvCxnSpPr>
            <a:cxnSpLocks/>
          </p:cNvCxnSpPr>
          <p:nvPr/>
        </p:nvCxnSpPr>
        <p:spPr>
          <a:xfrm>
            <a:off x="5961516" y="3285607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E03946D7-8277-E794-FC27-A12DED6CB404}"/>
              </a:ext>
            </a:extLst>
          </p:cNvPr>
          <p:cNvCxnSpPr/>
          <p:nvPr/>
        </p:nvCxnSpPr>
        <p:spPr>
          <a:xfrm>
            <a:off x="5583126" y="4485725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3D2FC16-23F3-6FFA-EB7B-6EFC28C7C1E3}"/>
              </a:ext>
            </a:extLst>
          </p:cNvPr>
          <p:cNvCxnSpPr/>
          <p:nvPr/>
        </p:nvCxnSpPr>
        <p:spPr>
          <a:xfrm>
            <a:off x="6893631" y="3599352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3C1D900B-B4A3-AD83-1091-BA8271218239}"/>
              </a:ext>
            </a:extLst>
          </p:cNvPr>
          <p:cNvCxnSpPr/>
          <p:nvPr/>
        </p:nvCxnSpPr>
        <p:spPr>
          <a:xfrm>
            <a:off x="6893631" y="4485725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形 7">
            <a:extLst>
              <a:ext uri="{FF2B5EF4-FFF2-40B4-BE49-F238E27FC236}">
                <a16:creationId xmlns:a16="http://schemas.microsoft.com/office/drawing/2014/main" id="{0761E9BB-CC0B-3F19-7798-1638EAE60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58" r="17525"/>
          <a:stretch>
            <a:fillRect/>
          </a:stretch>
        </p:blipFill>
        <p:spPr>
          <a:xfrm rot="5400000">
            <a:off x="2567842" y="3537531"/>
            <a:ext cx="694221" cy="1042102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7B526E0E-7BE3-4959-BF4E-E96336716D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2618" r="23627"/>
          <a:stretch>
            <a:fillRect/>
          </a:stretch>
        </p:blipFill>
        <p:spPr>
          <a:xfrm rot="5400000">
            <a:off x="945919" y="2501324"/>
            <a:ext cx="721154" cy="1341549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2497F8FF-ECDA-A988-CD24-129DC99E51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2461" r="22469"/>
          <a:stretch>
            <a:fillRect/>
          </a:stretch>
        </p:blipFill>
        <p:spPr>
          <a:xfrm rot="5400000">
            <a:off x="1250695" y="4436429"/>
            <a:ext cx="568528" cy="1032364"/>
          </a:xfrm>
          <a:prstGeom prst="rect">
            <a:avLst/>
          </a:prstGeom>
        </p:spPr>
      </p:pic>
      <p:pic>
        <p:nvPicPr>
          <p:cNvPr id="52" name="图形 51">
            <a:extLst>
              <a:ext uri="{FF2B5EF4-FFF2-40B4-BE49-F238E27FC236}">
                <a16:creationId xmlns:a16="http://schemas.microsoft.com/office/drawing/2014/main" id="{A541D31D-0B1A-EBCC-6E1D-D9A8523F4C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2461" r="22469"/>
          <a:stretch>
            <a:fillRect/>
          </a:stretch>
        </p:blipFill>
        <p:spPr>
          <a:xfrm rot="5400000">
            <a:off x="3387117" y="4436429"/>
            <a:ext cx="568528" cy="1032364"/>
          </a:xfrm>
          <a:prstGeom prst="rect">
            <a:avLst/>
          </a:prstGeom>
        </p:spPr>
      </p:pic>
      <p:pic>
        <p:nvPicPr>
          <p:cNvPr id="53" name="图形 52">
            <a:extLst>
              <a:ext uri="{FF2B5EF4-FFF2-40B4-BE49-F238E27FC236}">
                <a16:creationId xmlns:a16="http://schemas.microsoft.com/office/drawing/2014/main" id="{B49C0FE9-1D8E-E376-BE56-CFB72548F2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2461" r="22469"/>
          <a:stretch>
            <a:fillRect/>
          </a:stretch>
        </p:blipFill>
        <p:spPr>
          <a:xfrm rot="5400000">
            <a:off x="4694283" y="3542400"/>
            <a:ext cx="568528" cy="1032364"/>
          </a:xfrm>
          <a:prstGeom prst="rect">
            <a:avLst/>
          </a:prstGeom>
        </p:spPr>
      </p:pic>
      <p:pic>
        <p:nvPicPr>
          <p:cNvPr id="54" name="图形 53">
            <a:extLst>
              <a:ext uri="{FF2B5EF4-FFF2-40B4-BE49-F238E27FC236}">
                <a16:creationId xmlns:a16="http://schemas.microsoft.com/office/drawing/2014/main" id="{0FF2C1CE-304B-25F7-0BA9-CE90D6CB17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2461" r="22469"/>
          <a:stretch>
            <a:fillRect/>
          </a:stretch>
        </p:blipFill>
        <p:spPr>
          <a:xfrm rot="5400000">
            <a:off x="1125876" y="3542400"/>
            <a:ext cx="568528" cy="1032364"/>
          </a:xfrm>
          <a:prstGeom prst="rect">
            <a:avLst/>
          </a:prstGeom>
        </p:spPr>
      </p:pic>
      <p:sp>
        <p:nvSpPr>
          <p:cNvPr id="55" name="等腰三角形 54">
            <a:extLst>
              <a:ext uri="{FF2B5EF4-FFF2-40B4-BE49-F238E27FC236}">
                <a16:creationId xmlns:a16="http://schemas.microsoft.com/office/drawing/2014/main" id="{EFE5E708-B808-54AE-C8FF-9AE9FAE8A329}"/>
              </a:ext>
            </a:extLst>
          </p:cNvPr>
          <p:cNvSpPr/>
          <p:nvPr/>
        </p:nvSpPr>
        <p:spPr>
          <a:xfrm rot="5400000">
            <a:off x="7155646" y="3898892"/>
            <a:ext cx="1905000" cy="424076"/>
          </a:xfrm>
          <a:prstGeom prst="triangle">
            <a:avLst/>
          </a:prstGeom>
          <a:gradFill>
            <a:gsLst>
              <a:gs pos="100000">
                <a:schemeClr val="bg1"/>
              </a:gs>
              <a:gs pos="12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5" name="任意多边形: 形状 1024">
            <a:extLst>
              <a:ext uri="{FF2B5EF4-FFF2-40B4-BE49-F238E27FC236}">
                <a16:creationId xmlns:a16="http://schemas.microsoft.com/office/drawing/2014/main" id="{2BFC9209-971B-ACD2-147D-DE2A3C05B94E}"/>
              </a:ext>
            </a:extLst>
          </p:cNvPr>
          <p:cNvSpPr/>
          <p:nvPr/>
        </p:nvSpPr>
        <p:spPr>
          <a:xfrm>
            <a:off x="3434649" y="3292475"/>
            <a:ext cx="1841500" cy="779678"/>
          </a:xfrm>
          <a:custGeom>
            <a:avLst/>
            <a:gdLst>
              <a:gd name="csX0" fmla="*/ 0 w 1841500"/>
              <a:gd name="csY0" fmla="*/ 777875 h 779678"/>
              <a:gd name="csX1" fmla="*/ 412750 w 1841500"/>
              <a:gd name="csY1" fmla="*/ 679450 h 779678"/>
              <a:gd name="csX2" fmla="*/ 1041400 w 1841500"/>
              <a:gd name="csY2" fmla="*/ 133350 h 779678"/>
              <a:gd name="csX3" fmla="*/ 1841500 w 1841500"/>
              <a:gd name="csY3" fmla="*/ 0 h 7796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41500" h="779678">
                <a:moveTo>
                  <a:pt x="0" y="777875"/>
                </a:moveTo>
                <a:cubicBezTo>
                  <a:pt x="119591" y="782373"/>
                  <a:pt x="239183" y="786871"/>
                  <a:pt x="412750" y="679450"/>
                </a:cubicBezTo>
                <a:cubicBezTo>
                  <a:pt x="586317" y="572029"/>
                  <a:pt x="803275" y="246592"/>
                  <a:pt x="1041400" y="133350"/>
                </a:cubicBezTo>
                <a:cubicBezTo>
                  <a:pt x="1279525" y="20108"/>
                  <a:pt x="1560512" y="10054"/>
                  <a:pt x="1841500" y="0"/>
                </a:cubicBezTo>
              </a:path>
            </a:pathLst>
          </a:custGeom>
          <a:noFill/>
          <a:ln w="28575">
            <a:solidFill>
              <a:srgbClr val="FF0000"/>
            </a:solidFill>
            <a:prstDash val="dash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29" name="直接箭头连接符 1028">
            <a:extLst>
              <a:ext uri="{FF2B5EF4-FFF2-40B4-BE49-F238E27FC236}">
                <a16:creationId xmlns:a16="http://schemas.microsoft.com/office/drawing/2014/main" id="{5ECEBAE0-4B75-8AD3-04B6-F33A2543A8B7}"/>
              </a:ext>
            </a:extLst>
          </p:cNvPr>
          <p:cNvCxnSpPr>
            <a:cxnSpLocks/>
          </p:cNvCxnSpPr>
          <p:nvPr/>
        </p:nvCxnSpPr>
        <p:spPr>
          <a:xfrm flipV="1">
            <a:off x="1805874" y="3166787"/>
            <a:ext cx="3007402" cy="5311"/>
          </a:xfrm>
          <a:prstGeom prst="straightConnector1">
            <a:avLst/>
          </a:prstGeom>
          <a:ln w="28575">
            <a:solidFill>
              <a:srgbClr val="008F4C"/>
            </a:solidFill>
            <a:prstDash val="lgDash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直接箭头连接符 1030">
            <a:extLst>
              <a:ext uri="{FF2B5EF4-FFF2-40B4-BE49-F238E27FC236}">
                <a16:creationId xmlns:a16="http://schemas.microsoft.com/office/drawing/2014/main" id="{1057B585-1C2C-3BC6-1ABF-65903D084ABC}"/>
              </a:ext>
            </a:extLst>
          </p:cNvPr>
          <p:cNvCxnSpPr>
            <a:cxnSpLocks/>
          </p:cNvCxnSpPr>
          <p:nvPr/>
        </p:nvCxnSpPr>
        <p:spPr>
          <a:xfrm>
            <a:off x="1805874" y="3172098"/>
            <a:ext cx="1109078" cy="0"/>
          </a:xfrm>
          <a:prstGeom prst="straightConnector1">
            <a:avLst/>
          </a:prstGeom>
          <a:ln w="28575">
            <a:solidFill>
              <a:srgbClr val="008F4C"/>
            </a:solidFill>
            <a:prstDash val="lgDash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任意多边形: 形状 1032">
            <a:extLst>
              <a:ext uri="{FF2B5EF4-FFF2-40B4-BE49-F238E27FC236}">
                <a16:creationId xmlns:a16="http://schemas.microsoft.com/office/drawing/2014/main" id="{F1422B77-6847-723E-59C7-F9D72A328588}"/>
              </a:ext>
            </a:extLst>
          </p:cNvPr>
          <p:cNvSpPr/>
          <p:nvPr/>
        </p:nvSpPr>
        <p:spPr>
          <a:xfrm>
            <a:off x="1805874" y="3175000"/>
            <a:ext cx="1060450" cy="800100"/>
          </a:xfrm>
          <a:custGeom>
            <a:avLst/>
            <a:gdLst>
              <a:gd name="csX0" fmla="*/ 0 w 1060450"/>
              <a:gd name="csY0" fmla="*/ 0 h 800100"/>
              <a:gd name="csX1" fmla="*/ 317500 w 1060450"/>
              <a:gd name="csY1" fmla="*/ 184150 h 800100"/>
              <a:gd name="csX2" fmla="*/ 514350 w 1060450"/>
              <a:gd name="csY2" fmla="*/ 641350 h 800100"/>
              <a:gd name="csX3" fmla="*/ 1060450 w 1060450"/>
              <a:gd name="csY3" fmla="*/ 800100 h 800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60450" h="800100">
                <a:moveTo>
                  <a:pt x="0" y="0"/>
                </a:moveTo>
                <a:cubicBezTo>
                  <a:pt x="115887" y="38629"/>
                  <a:pt x="231775" y="77258"/>
                  <a:pt x="317500" y="184150"/>
                </a:cubicBezTo>
                <a:cubicBezTo>
                  <a:pt x="403225" y="291042"/>
                  <a:pt x="390525" y="538692"/>
                  <a:pt x="514350" y="641350"/>
                </a:cubicBezTo>
                <a:cubicBezTo>
                  <a:pt x="638175" y="744008"/>
                  <a:pt x="849312" y="772054"/>
                  <a:pt x="1060450" y="800100"/>
                </a:cubicBezTo>
              </a:path>
            </a:pathLst>
          </a:custGeom>
          <a:noFill/>
          <a:ln w="28575">
            <a:solidFill>
              <a:srgbClr val="008F4C"/>
            </a:solidFill>
            <a:prstDash val="lgDashDot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4" name="椭圆 1033">
            <a:extLst>
              <a:ext uri="{FF2B5EF4-FFF2-40B4-BE49-F238E27FC236}">
                <a16:creationId xmlns:a16="http://schemas.microsoft.com/office/drawing/2014/main" id="{5F7EE193-A235-0E1D-D187-3E920DFB9B69}"/>
              </a:ext>
            </a:extLst>
          </p:cNvPr>
          <p:cNvSpPr/>
          <p:nvPr/>
        </p:nvSpPr>
        <p:spPr>
          <a:xfrm>
            <a:off x="2694874" y="2811521"/>
            <a:ext cx="243148" cy="243148"/>
          </a:xfrm>
          <a:prstGeom prst="ellipse">
            <a:avLst/>
          </a:prstGeom>
          <a:solidFill>
            <a:srgbClr val="008F4C"/>
          </a:solidFill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035" name="椭圆 1034">
            <a:extLst>
              <a:ext uri="{FF2B5EF4-FFF2-40B4-BE49-F238E27FC236}">
                <a16:creationId xmlns:a16="http://schemas.microsoft.com/office/drawing/2014/main" id="{D77A11CA-2016-03F2-9969-162ADFB3034B}"/>
              </a:ext>
            </a:extLst>
          </p:cNvPr>
          <p:cNvSpPr/>
          <p:nvPr/>
        </p:nvSpPr>
        <p:spPr>
          <a:xfrm>
            <a:off x="4656763" y="2811521"/>
            <a:ext cx="243148" cy="243148"/>
          </a:xfrm>
          <a:prstGeom prst="ellipse">
            <a:avLst/>
          </a:prstGeom>
          <a:solidFill>
            <a:srgbClr val="008F4C"/>
          </a:solidFill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036" name="椭圆 1035">
            <a:extLst>
              <a:ext uri="{FF2B5EF4-FFF2-40B4-BE49-F238E27FC236}">
                <a16:creationId xmlns:a16="http://schemas.microsoft.com/office/drawing/2014/main" id="{82F8DD45-5909-A86E-0026-066DB360AE63}"/>
              </a:ext>
            </a:extLst>
          </p:cNvPr>
          <p:cNvSpPr/>
          <p:nvPr/>
        </p:nvSpPr>
        <p:spPr>
          <a:xfrm>
            <a:off x="2694874" y="3589897"/>
            <a:ext cx="243148" cy="243148"/>
          </a:xfrm>
          <a:prstGeom prst="ellipse">
            <a:avLst/>
          </a:prstGeom>
          <a:solidFill>
            <a:srgbClr val="008F4C"/>
          </a:solidFill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cxnSp>
        <p:nvCxnSpPr>
          <p:cNvPr id="1038" name="直接连接符 1037">
            <a:extLst>
              <a:ext uri="{FF2B5EF4-FFF2-40B4-BE49-F238E27FC236}">
                <a16:creationId xmlns:a16="http://schemas.microsoft.com/office/drawing/2014/main" id="{68F8AE57-7AE2-A6D0-D5E8-72AC971FF486}"/>
              </a:ext>
            </a:extLst>
          </p:cNvPr>
          <p:cNvCxnSpPr>
            <a:stCxn id="52" idx="2"/>
          </p:cNvCxnSpPr>
          <p:nvPr/>
        </p:nvCxnSpPr>
        <p:spPr>
          <a:xfrm flipH="1">
            <a:off x="2062276" y="4952611"/>
            <a:ext cx="1092923" cy="0"/>
          </a:xfrm>
          <a:prstGeom prst="line">
            <a:avLst/>
          </a:prstGeom>
          <a:ln w="28575">
            <a:solidFill>
              <a:srgbClr val="1A6FD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直接连接符 1038">
            <a:extLst>
              <a:ext uri="{FF2B5EF4-FFF2-40B4-BE49-F238E27FC236}">
                <a16:creationId xmlns:a16="http://schemas.microsoft.com/office/drawing/2014/main" id="{6226A458-B4DE-6BFD-D5C8-18B6E86101E1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390525" y="4952611"/>
            <a:ext cx="628252" cy="0"/>
          </a:xfrm>
          <a:prstGeom prst="line">
            <a:avLst/>
          </a:prstGeom>
          <a:ln w="28575">
            <a:solidFill>
              <a:srgbClr val="1A6FD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任意多边形: 形状 1039">
            <a:extLst>
              <a:ext uri="{FF2B5EF4-FFF2-40B4-BE49-F238E27FC236}">
                <a16:creationId xmlns:a16="http://schemas.microsoft.com/office/drawing/2014/main" id="{82C5CBC2-E7DA-C750-5CFB-95313537CBDC}"/>
              </a:ext>
            </a:extLst>
          </p:cNvPr>
          <p:cNvSpPr/>
          <p:nvPr/>
        </p:nvSpPr>
        <p:spPr>
          <a:xfrm>
            <a:off x="381000" y="3219255"/>
            <a:ext cx="501650" cy="852368"/>
          </a:xfrm>
          <a:custGeom>
            <a:avLst/>
            <a:gdLst>
              <a:gd name="csX0" fmla="*/ 0 w 501650"/>
              <a:gd name="csY0" fmla="*/ 195 h 852368"/>
              <a:gd name="csX1" fmla="*/ 196850 w 501650"/>
              <a:gd name="csY1" fmla="*/ 120845 h 852368"/>
              <a:gd name="csX2" fmla="*/ 266700 w 501650"/>
              <a:gd name="csY2" fmla="*/ 736795 h 852368"/>
              <a:gd name="csX3" fmla="*/ 501650 w 501650"/>
              <a:gd name="csY3" fmla="*/ 851095 h 8523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01650" h="852368">
                <a:moveTo>
                  <a:pt x="0" y="195"/>
                </a:moveTo>
                <a:cubicBezTo>
                  <a:pt x="76200" y="-864"/>
                  <a:pt x="152400" y="-1922"/>
                  <a:pt x="196850" y="120845"/>
                </a:cubicBezTo>
                <a:cubicBezTo>
                  <a:pt x="241300" y="243612"/>
                  <a:pt x="215900" y="615087"/>
                  <a:pt x="266700" y="736795"/>
                </a:cubicBezTo>
                <a:cubicBezTo>
                  <a:pt x="317500" y="858503"/>
                  <a:pt x="409575" y="854799"/>
                  <a:pt x="501650" y="851095"/>
                </a:cubicBezTo>
              </a:path>
            </a:pathLst>
          </a:custGeom>
          <a:noFill/>
          <a:ln w="28575">
            <a:solidFill>
              <a:srgbClr val="1A6FD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1" name="任意多边形: 形状 1040">
            <a:extLst>
              <a:ext uri="{FF2B5EF4-FFF2-40B4-BE49-F238E27FC236}">
                <a16:creationId xmlns:a16="http://schemas.microsoft.com/office/drawing/2014/main" id="{E4859529-95BC-225A-7FCB-AB2086EAFE94}"/>
              </a:ext>
            </a:extLst>
          </p:cNvPr>
          <p:cNvSpPr/>
          <p:nvPr/>
        </p:nvSpPr>
        <p:spPr>
          <a:xfrm>
            <a:off x="3463663" y="4070350"/>
            <a:ext cx="1066800" cy="698761"/>
          </a:xfrm>
          <a:custGeom>
            <a:avLst/>
            <a:gdLst>
              <a:gd name="csX0" fmla="*/ 0 w 1066800"/>
              <a:gd name="csY0" fmla="*/ 679450 h 698761"/>
              <a:gd name="csX1" fmla="*/ 361950 w 1066800"/>
              <a:gd name="csY1" fmla="*/ 635000 h 698761"/>
              <a:gd name="csX2" fmla="*/ 647700 w 1066800"/>
              <a:gd name="csY2" fmla="*/ 152400 h 698761"/>
              <a:gd name="csX3" fmla="*/ 1066800 w 1066800"/>
              <a:gd name="csY3" fmla="*/ 0 h 6987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66800" h="698761">
                <a:moveTo>
                  <a:pt x="0" y="679450"/>
                </a:moveTo>
                <a:cubicBezTo>
                  <a:pt x="127000" y="701146"/>
                  <a:pt x="254000" y="722842"/>
                  <a:pt x="361950" y="635000"/>
                </a:cubicBezTo>
                <a:cubicBezTo>
                  <a:pt x="469900" y="547158"/>
                  <a:pt x="530225" y="258233"/>
                  <a:pt x="647700" y="152400"/>
                </a:cubicBezTo>
                <a:cubicBezTo>
                  <a:pt x="765175" y="46567"/>
                  <a:pt x="915987" y="23283"/>
                  <a:pt x="1066800" y="0"/>
                </a:cubicBezTo>
              </a:path>
            </a:pathLst>
          </a:custGeom>
          <a:noFill/>
          <a:ln w="28575">
            <a:solidFill>
              <a:srgbClr val="1A6FD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3" name="矩形: 圆角 1042">
            <a:extLst>
              <a:ext uri="{FF2B5EF4-FFF2-40B4-BE49-F238E27FC236}">
                <a16:creationId xmlns:a16="http://schemas.microsoft.com/office/drawing/2014/main" id="{4EA4838C-4775-BF47-BC89-72DF7945BBA6}"/>
              </a:ext>
            </a:extLst>
          </p:cNvPr>
          <p:cNvSpPr/>
          <p:nvPr/>
        </p:nvSpPr>
        <p:spPr>
          <a:xfrm>
            <a:off x="5580514" y="2874587"/>
            <a:ext cx="2077628" cy="2441162"/>
          </a:xfrm>
          <a:prstGeom prst="roundRect">
            <a:avLst>
              <a:gd name="adj" fmla="val 5635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44" name="直接连接符 1043">
            <a:extLst>
              <a:ext uri="{FF2B5EF4-FFF2-40B4-BE49-F238E27FC236}">
                <a16:creationId xmlns:a16="http://schemas.microsoft.com/office/drawing/2014/main" id="{D5A91B8B-5DBE-1B54-394A-576806195322}"/>
              </a:ext>
            </a:extLst>
          </p:cNvPr>
          <p:cNvCxnSpPr>
            <a:cxnSpLocks/>
          </p:cNvCxnSpPr>
          <p:nvPr/>
        </p:nvCxnSpPr>
        <p:spPr>
          <a:xfrm flipH="1">
            <a:off x="5717062" y="3158430"/>
            <a:ext cx="654959" cy="0"/>
          </a:xfrm>
          <a:prstGeom prst="line">
            <a:avLst/>
          </a:prstGeom>
          <a:ln w="28575">
            <a:solidFill>
              <a:srgbClr val="1A6FD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直接箭头连接符 1044">
            <a:extLst>
              <a:ext uri="{FF2B5EF4-FFF2-40B4-BE49-F238E27FC236}">
                <a16:creationId xmlns:a16="http://schemas.microsoft.com/office/drawing/2014/main" id="{F096D682-E354-7408-6CBC-A254E3FBC467}"/>
              </a:ext>
            </a:extLst>
          </p:cNvPr>
          <p:cNvCxnSpPr>
            <a:cxnSpLocks/>
          </p:cNvCxnSpPr>
          <p:nvPr/>
        </p:nvCxnSpPr>
        <p:spPr>
          <a:xfrm>
            <a:off x="5717062" y="3460573"/>
            <a:ext cx="693059" cy="0"/>
          </a:xfrm>
          <a:prstGeom prst="straightConnector1">
            <a:avLst/>
          </a:prstGeom>
          <a:ln w="28575">
            <a:solidFill>
              <a:srgbClr val="008F4C"/>
            </a:solidFill>
            <a:prstDash val="lgDashDot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直接连接符 1045">
            <a:extLst>
              <a:ext uri="{FF2B5EF4-FFF2-40B4-BE49-F238E27FC236}">
                <a16:creationId xmlns:a16="http://schemas.microsoft.com/office/drawing/2014/main" id="{41999DCA-00FA-FC62-7B44-005406AD2D58}"/>
              </a:ext>
            </a:extLst>
          </p:cNvPr>
          <p:cNvCxnSpPr>
            <a:cxnSpLocks/>
          </p:cNvCxnSpPr>
          <p:nvPr/>
        </p:nvCxnSpPr>
        <p:spPr>
          <a:xfrm flipH="1">
            <a:off x="5717062" y="3774318"/>
            <a:ext cx="650197" cy="948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0" name="图形 1059">
            <a:extLst>
              <a:ext uri="{FF2B5EF4-FFF2-40B4-BE49-F238E27FC236}">
                <a16:creationId xmlns:a16="http://schemas.microsoft.com/office/drawing/2014/main" id="{89C5F3B5-BF2E-4C82-9705-F1F04B9B4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58" r="17525"/>
          <a:stretch>
            <a:fillRect/>
          </a:stretch>
        </p:blipFill>
        <p:spPr>
          <a:xfrm rot="5400000">
            <a:off x="5836365" y="4331594"/>
            <a:ext cx="397656" cy="596925"/>
          </a:xfrm>
          <a:prstGeom prst="rect">
            <a:avLst/>
          </a:prstGeom>
        </p:spPr>
      </p:pic>
      <p:pic>
        <p:nvPicPr>
          <p:cNvPr id="1061" name="图形 1060">
            <a:extLst>
              <a:ext uri="{FF2B5EF4-FFF2-40B4-BE49-F238E27FC236}">
                <a16:creationId xmlns:a16="http://schemas.microsoft.com/office/drawing/2014/main" id="{501F9EF8-E4CF-2B4B-E392-8AE778CA7F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2618" r="23627"/>
          <a:stretch>
            <a:fillRect/>
          </a:stretch>
        </p:blipFill>
        <p:spPr>
          <a:xfrm rot="5400000">
            <a:off x="5824004" y="3791185"/>
            <a:ext cx="413083" cy="768451"/>
          </a:xfrm>
          <a:prstGeom prst="rect">
            <a:avLst/>
          </a:prstGeom>
        </p:spPr>
      </p:pic>
      <p:pic>
        <p:nvPicPr>
          <p:cNvPr id="1062" name="图形 1061">
            <a:extLst>
              <a:ext uri="{FF2B5EF4-FFF2-40B4-BE49-F238E27FC236}">
                <a16:creationId xmlns:a16="http://schemas.microsoft.com/office/drawing/2014/main" id="{C17859A5-C9DB-C668-58E9-955CADDAFD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2461" r="22469"/>
          <a:stretch>
            <a:fillRect/>
          </a:stretch>
        </p:blipFill>
        <p:spPr>
          <a:xfrm rot="5400000">
            <a:off x="5869574" y="4744233"/>
            <a:ext cx="325658" cy="591347"/>
          </a:xfrm>
          <a:prstGeom prst="rect">
            <a:avLst/>
          </a:prstGeom>
        </p:spPr>
      </p:pic>
      <p:sp>
        <p:nvSpPr>
          <p:cNvPr id="1063" name="文本框 1062">
            <a:extLst>
              <a:ext uri="{FF2B5EF4-FFF2-40B4-BE49-F238E27FC236}">
                <a16:creationId xmlns:a16="http://schemas.microsoft.com/office/drawing/2014/main" id="{6F4EF250-59CF-22A1-3495-47BCE8BBC248}"/>
              </a:ext>
            </a:extLst>
          </p:cNvPr>
          <p:cNvSpPr txBox="1"/>
          <p:nvPr/>
        </p:nvSpPr>
        <p:spPr>
          <a:xfrm>
            <a:off x="6429091" y="3000472"/>
            <a:ext cx="1273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历史轨迹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4" name="文本框 1063">
            <a:extLst>
              <a:ext uri="{FF2B5EF4-FFF2-40B4-BE49-F238E27FC236}">
                <a16:creationId xmlns:a16="http://schemas.microsoft.com/office/drawing/2014/main" id="{A29F81A3-92E3-F0A6-C8B4-15B7AFBD9410}"/>
              </a:ext>
            </a:extLst>
          </p:cNvPr>
          <p:cNvSpPr txBox="1"/>
          <p:nvPr/>
        </p:nvSpPr>
        <p:spPr>
          <a:xfrm>
            <a:off x="6429091" y="3312898"/>
            <a:ext cx="1273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目标车预测轨迹</a:t>
            </a:r>
          </a:p>
        </p:txBody>
      </p:sp>
      <p:sp>
        <p:nvSpPr>
          <p:cNvPr id="1065" name="文本框 1064">
            <a:extLst>
              <a:ext uri="{FF2B5EF4-FFF2-40B4-BE49-F238E27FC236}">
                <a16:creationId xmlns:a16="http://schemas.microsoft.com/office/drawing/2014/main" id="{096389B8-4ED9-7800-8778-6126DC3AE089}"/>
              </a:ext>
            </a:extLst>
          </p:cNvPr>
          <p:cNvSpPr txBox="1"/>
          <p:nvPr/>
        </p:nvSpPr>
        <p:spPr>
          <a:xfrm>
            <a:off x="6429091" y="3635818"/>
            <a:ext cx="1273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自车候选意图</a:t>
            </a:r>
          </a:p>
        </p:txBody>
      </p:sp>
      <p:sp>
        <p:nvSpPr>
          <p:cNvPr id="1066" name="文本框 1065">
            <a:extLst>
              <a:ext uri="{FF2B5EF4-FFF2-40B4-BE49-F238E27FC236}">
                <a16:creationId xmlns:a16="http://schemas.microsoft.com/office/drawing/2014/main" id="{E027C35B-177C-05BD-580F-76B3333AFD97}"/>
              </a:ext>
            </a:extLst>
          </p:cNvPr>
          <p:cNvSpPr txBox="1"/>
          <p:nvPr/>
        </p:nvSpPr>
        <p:spPr>
          <a:xfrm>
            <a:off x="6429091" y="4035143"/>
            <a:ext cx="1273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目标车辆（</a:t>
            </a:r>
            <a:r>
              <a:rPr lang="en-US" altLang="zh-CN" dirty="0"/>
              <a:t>Tar</a:t>
            </a:r>
            <a:r>
              <a:rPr lang="zh-CN" altLang="en-US" dirty="0"/>
              <a:t>）</a:t>
            </a:r>
          </a:p>
        </p:txBody>
      </p:sp>
      <p:sp>
        <p:nvSpPr>
          <p:cNvPr id="1067" name="文本框 1066">
            <a:extLst>
              <a:ext uri="{FF2B5EF4-FFF2-40B4-BE49-F238E27FC236}">
                <a16:creationId xmlns:a16="http://schemas.microsoft.com/office/drawing/2014/main" id="{AC2A792D-5F50-6EBE-288D-3296FC3E01E2}"/>
              </a:ext>
            </a:extLst>
          </p:cNvPr>
          <p:cNvSpPr txBox="1"/>
          <p:nvPr/>
        </p:nvSpPr>
        <p:spPr>
          <a:xfrm>
            <a:off x="6429091" y="4485239"/>
            <a:ext cx="1273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自车（</a:t>
            </a:r>
            <a:r>
              <a:rPr lang="en-US" altLang="zh-CN" dirty="0"/>
              <a:t>Ego</a:t>
            </a:r>
            <a:r>
              <a:rPr lang="zh-CN" altLang="en-US" dirty="0"/>
              <a:t>）</a:t>
            </a:r>
          </a:p>
        </p:txBody>
      </p:sp>
      <p:sp>
        <p:nvSpPr>
          <p:cNvPr id="1068" name="文本框 1067">
            <a:extLst>
              <a:ext uri="{FF2B5EF4-FFF2-40B4-BE49-F238E27FC236}">
                <a16:creationId xmlns:a16="http://schemas.microsoft.com/office/drawing/2014/main" id="{7560DD2F-B3D9-E451-F98E-442B5013FF1A}"/>
              </a:ext>
            </a:extLst>
          </p:cNvPr>
          <p:cNvSpPr txBox="1"/>
          <p:nvPr/>
        </p:nvSpPr>
        <p:spPr>
          <a:xfrm>
            <a:off x="6429091" y="4911677"/>
            <a:ext cx="1273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周围车辆（</a:t>
            </a:r>
            <a:r>
              <a:rPr lang="en-US" altLang="zh-CN" dirty="0"/>
              <a:t>Sur</a:t>
            </a:r>
            <a:r>
              <a:rPr lang="zh-CN" altLang="en-US" dirty="0"/>
              <a:t>）</a:t>
            </a:r>
          </a:p>
        </p:txBody>
      </p:sp>
      <p:pic>
        <p:nvPicPr>
          <p:cNvPr id="1069" name="图片 1068">
            <a:extLst>
              <a:ext uri="{FF2B5EF4-FFF2-40B4-BE49-F238E27FC236}">
                <a16:creationId xmlns:a16="http://schemas.microsoft.com/office/drawing/2014/main" id="{F70B97F6-4D2B-7D5F-1FDC-1137466E77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154" y="2807651"/>
            <a:ext cx="645780" cy="654167"/>
          </a:xfrm>
          <a:prstGeom prst="rect">
            <a:avLst/>
          </a:prstGeom>
        </p:spPr>
      </p:pic>
      <p:pic>
        <p:nvPicPr>
          <p:cNvPr id="1070" name="图片 1069">
            <a:extLst>
              <a:ext uri="{FF2B5EF4-FFF2-40B4-BE49-F238E27FC236}">
                <a16:creationId xmlns:a16="http://schemas.microsoft.com/office/drawing/2014/main" id="{CD22EB96-E657-06BC-7DCE-296D9776CB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154" y="3781159"/>
            <a:ext cx="654167" cy="637393"/>
          </a:xfrm>
          <a:prstGeom prst="rect">
            <a:avLst/>
          </a:prstGeom>
        </p:spPr>
      </p:pic>
      <p:pic>
        <p:nvPicPr>
          <p:cNvPr id="1071" name="图片 1070">
            <a:extLst>
              <a:ext uri="{FF2B5EF4-FFF2-40B4-BE49-F238E27FC236}">
                <a16:creationId xmlns:a16="http://schemas.microsoft.com/office/drawing/2014/main" id="{46D78079-4604-087D-0FC2-B2A68DDC05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1541" y="4762238"/>
            <a:ext cx="645780" cy="603846"/>
          </a:xfrm>
          <a:prstGeom prst="rect">
            <a:avLst/>
          </a:prstGeom>
        </p:spPr>
      </p:pic>
      <p:cxnSp>
        <p:nvCxnSpPr>
          <p:cNvPr id="1073" name="直接连接符 1072">
            <a:extLst>
              <a:ext uri="{FF2B5EF4-FFF2-40B4-BE49-F238E27FC236}">
                <a16:creationId xmlns:a16="http://schemas.microsoft.com/office/drawing/2014/main" id="{DD22D64D-EE1F-6817-E726-8DB716436739}"/>
              </a:ext>
            </a:extLst>
          </p:cNvPr>
          <p:cNvCxnSpPr/>
          <p:nvPr/>
        </p:nvCxnSpPr>
        <p:spPr>
          <a:xfrm>
            <a:off x="9239250" y="2891125"/>
            <a:ext cx="0" cy="495905"/>
          </a:xfrm>
          <a:prstGeom prst="line">
            <a:avLst/>
          </a:prstGeom>
          <a:ln w="12700">
            <a:solidFill>
              <a:srgbClr val="008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直接连接符 1073">
            <a:extLst>
              <a:ext uri="{FF2B5EF4-FFF2-40B4-BE49-F238E27FC236}">
                <a16:creationId xmlns:a16="http://schemas.microsoft.com/office/drawing/2014/main" id="{995403D5-A5DD-9D0D-C852-3478D9554C90}"/>
              </a:ext>
            </a:extLst>
          </p:cNvPr>
          <p:cNvCxnSpPr/>
          <p:nvPr/>
        </p:nvCxnSpPr>
        <p:spPr>
          <a:xfrm>
            <a:off x="9239250" y="3846941"/>
            <a:ext cx="0" cy="495905"/>
          </a:xfrm>
          <a:prstGeom prst="line">
            <a:avLst/>
          </a:prstGeom>
          <a:ln w="12700">
            <a:solidFill>
              <a:srgbClr val="008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直接连接符 1074">
            <a:extLst>
              <a:ext uri="{FF2B5EF4-FFF2-40B4-BE49-F238E27FC236}">
                <a16:creationId xmlns:a16="http://schemas.microsoft.com/office/drawing/2014/main" id="{F6422ADB-3E61-B5F5-0BD9-6C019F3DE77B}"/>
              </a:ext>
            </a:extLst>
          </p:cNvPr>
          <p:cNvCxnSpPr/>
          <p:nvPr/>
        </p:nvCxnSpPr>
        <p:spPr>
          <a:xfrm>
            <a:off x="9239250" y="4810892"/>
            <a:ext cx="0" cy="495905"/>
          </a:xfrm>
          <a:prstGeom prst="line">
            <a:avLst/>
          </a:prstGeom>
          <a:ln w="12700">
            <a:solidFill>
              <a:srgbClr val="008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6" name="文本框 1075">
            <a:extLst>
              <a:ext uri="{FF2B5EF4-FFF2-40B4-BE49-F238E27FC236}">
                <a16:creationId xmlns:a16="http://schemas.microsoft.com/office/drawing/2014/main" id="{45DB8B5F-15EA-4571-D411-DD561816E9DE}"/>
              </a:ext>
            </a:extLst>
          </p:cNvPr>
          <p:cNvSpPr txBox="1"/>
          <p:nvPr/>
        </p:nvSpPr>
        <p:spPr>
          <a:xfrm>
            <a:off x="9258287" y="2826676"/>
            <a:ext cx="1969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复杂车辆交互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7" name="文本框 1076">
            <a:extLst>
              <a:ext uri="{FF2B5EF4-FFF2-40B4-BE49-F238E27FC236}">
                <a16:creationId xmlns:a16="http://schemas.microsoft.com/office/drawing/2014/main" id="{6EFF8FEA-41C9-0C77-81EC-F808E6BD9893}"/>
              </a:ext>
            </a:extLst>
          </p:cNvPr>
          <p:cNvSpPr txBox="1"/>
          <p:nvPr/>
        </p:nvSpPr>
        <p:spPr>
          <a:xfrm>
            <a:off x="9258287" y="3781159"/>
            <a:ext cx="1969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现有方法不足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8" name="文本框 1077">
            <a:extLst>
              <a:ext uri="{FF2B5EF4-FFF2-40B4-BE49-F238E27FC236}">
                <a16:creationId xmlns:a16="http://schemas.microsoft.com/office/drawing/2014/main" id="{67127E38-AD5C-4A13-F67D-D35876A35533}"/>
              </a:ext>
            </a:extLst>
          </p:cNvPr>
          <p:cNvSpPr txBox="1"/>
          <p:nvPr/>
        </p:nvSpPr>
        <p:spPr>
          <a:xfrm>
            <a:off x="9258287" y="4722216"/>
            <a:ext cx="1969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研究目标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9" name="文本框 1078">
            <a:extLst>
              <a:ext uri="{FF2B5EF4-FFF2-40B4-BE49-F238E27FC236}">
                <a16:creationId xmlns:a16="http://schemas.microsoft.com/office/drawing/2014/main" id="{304D3DDC-943B-1E97-B81F-5F624C7B9FF2}"/>
              </a:ext>
            </a:extLst>
          </p:cNvPr>
          <p:cNvSpPr txBox="1"/>
          <p:nvPr/>
        </p:nvSpPr>
        <p:spPr>
          <a:xfrm>
            <a:off x="9239251" y="3168966"/>
            <a:ext cx="27590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周围车辆轨迹受多主体互动影响</a:t>
            </a:r>
            <a:endParaRPr lang="zh-CN" altLang="en-US" sz="1400" dirty="0"/>
          </a:p>
        </p:txBody>
      </p:sp>
      <p:sp>
        <p:nvSpPr>
          <p:cNvPr id="1080" name="文本框 1079">
            <a:extLst>
              <a:ext uri="{FF2B5EF4-FFF2-40B4-BE49-F238E27FC236}">
                <a16:creationId xmlns:a16="http://schemas.microsoft.com/office/drawing/2014/main" id="{64899123-8761-161C-4749-04127684F371}"/>
              </a:ext>
            </a:extLst>
          </p:cNvPr>
          <p:cNvSpPr txBox="1"/>
          <p:nvPr/>
        </p:nvSpPr>
        <p:spPr>
          <a:xfrm>
            <a:off x="9239251" y="4110930"/>
            <a:ext cx="27590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多依赖静态信息，难刻画意图</a:t>
            </a:r>
            <a:endParaRPr lang="zh-CN" altLang="en-US" sz="1400" dirty="0"/>
          </a:p>
        </p:txBody>
      </p:sp>
      <p:sp>
        <p:nvSpPr>
          <p:cNvPr id="1081" name="文本框 1080">
            <a:extLst>
              <a:ext uri="{FF2B5EF4-FFF2-40B4-BE49-F238E27FC236}">
                <a16:creationId xmlns:a16="http://schemas.microsoft.com/office/drawing/2014/main" id="{3A6069BE-9B62-A42B-053E-C7169EF9D408}"/>
              </a:ext>
            </a:extLst>
          </p:cNvPr>
          <p:cNvSpPr txBox="1"/>
          <p:nvPr/>
        </p:nvSpPr>
        <p:spPr>
          <a:xfrm>
            <a:off x="9239251" y="5043096"/>
            <a:ext cx="27590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结合自车潜在意图进行轨迹预测</a:t>
            </a:r>
            <a:endParaRPr lang="zh-CN" altLang="en-US" sz="1400" dirty="0"/>
          </a:p>
        </p:txBody>
      </p:sp>
      <p:pic>
        <p:nvPicPr>
          <p:cNvPr id="1082" name="图片 1081">
            <a:extLst>
              <a:ext uri="{FF2B5EF4-FFF2-40B4-BE49-F238E27FC236}">
                <a16:creationId xmlns:a16="http://schemas.microsoft.com/office/drawing/2014/main" id="{37F70ACC-8BE1-574B-EF3F-D7D408BBEB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650" y="5649523"/>
            <a:ext cx="678618" cy="670240"/>
          </a:xfrm>
          <a:prstGeom prst="rect">
            <a:avLst/>
          </a:prstGeom>
        </p:spPr>
      </p:pic>
      <p:pic>
        <p:nvPicPr>
          <p:cNvPr id="1083" name="图片 1082">
            <a:extLst>
              <a:ext uri="{FF2B5EF4-FFF2-40B4-BE49-F238E27FC236}">
                <a16:creationId xmlns:a16="http://schemas.microsoft.com/office/drawing/2014/main" id="{F7203C2F-D34B-B884-5531-AB6F4623D0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7515" y="5640821"/>
            <a:ext cx="703752" cy="686996"/>
          </a:xfrm>
          <a:prstGeom prst="rect">
            <a:avLst/>
          </a:prstGeom>
        </p:spPr>
      </p:pic>
      <p:pic>
        <p:nvPicPr>
          <p:cNvPr id="1084" name="图片 1083">
            <a:extLst>
              <a:ext uri="{FF2B5EF4-FFF2-40B4-BE49-F238E27FC236}">
                <a16:creationId xmlns:a16="http://schemas.microsoft.com/office/drawing/2014/main" id="{3B7BD558-A65B-BDD1-303D-57F8E173FCA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64081" y="5644180"/>
            <a:ext cx="686996" cy="670240"/>
          </a:xfrm>
          <a:prstGeom prst="rect">
            <a:avLst/>
          </a:prstGeom>
        </p:spPr>
      </p:pic>
      <p:sp>
        <p:nvSpPr>
          <p:cNvPr id="1085" name="文本框 1084">
            <a:extLst>
              <a:ext uri="{FF2B5EF4-FFF2-40B4-BE49-F238E27FC236}">
                <a16:creationId xmlns:a16="http://schemas.microsoft.com/office/drawing/2014/main" id="{F6E45BB0-A563-2F3D-1A42-125FE4A95E4D}"/>
              </a:ext>
            </a:extLst>
          </p:cNvPr>
          <p:cNvSpPr txBox="1"/>
          <p:nvPr/>
        </p:nvSpPr>
        <p:spPr>
          <a:xfrm>
            <a:off x="1761880" y="5669696"/>
            <a:ext cx="1969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</a:t>
            </a:r>
            <a:r>
              <a:rPr lang="en-US" altLang="zh-CN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EC57534F-B969-47F7-35F9-952EE94FF137}"/>
              </a:ext>
            </a:extLst>
          </p:cNvPr>
          <p:cNvSpPr txBox="1"/>
          <p:nvPr/>
        </p:nvSpPr>
        <p:spPr>
          <a:xfrm>
            <a:off x="1742844" y="5985693"/>
            <a:ext cx="27590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未显式考虑自车潜在运动</a:t>
            </a:r>
            <a:endParaRPr lang="zh-CN" altLang="en-US" sz="1400" dirty="0"/>
          </a:p>
        </p:txBody>
      </p:sp>
      <p:sp>
        <p:nvSpPr>
          <p:cNvPr id="1087" name="文本框 1086">
            <a:extLst>
              <a:ext uri="{FF2B5EF4-FFF2-40B4-BE49-F238E27FC236}">
                <a16:creationId xmlns:a16="http://schemas.microsoft.com/office/drawing/2014/main" id="{E088BA6D-DB0D-D6CA-CF56-B5A823AB0512}"/>
              </a:ext>
            </a:extLst>
          </p:cNvPr>
          <p:cNvSpPr txBox="1"/>
          <p:nvPr/>
        </p:nvSpPr>
        <p:spPr>
          <a:xfrm>
            <a:off x="5470303" y="5669696"/>
            <a:ext cx="1969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</a:t>
            </a:r>
            <a:r>
              <a:rPr lang="en-US" altLang="zh-CN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8" name="文本框 1087">
            <a:extLst>
              <a:ext uri="{FF2B5EF4-FFF2-40B4-BE49-F238E27FC236}">
                <a16:creationId xmlns:a16="http://schemas.microsoft.com/office/drawing/2014/main" id="{5D1CB070-F063-0876-E5A9-15AB93532FD7}"/>
              </a:ext>
            </a:extLst>
          </p:cNvPr>
          <p:cNvSpPr txBox="1"/>
          <p:nvPr/>
        </p:nvSpPr>
        <p:spPr>
          <a:xfrm>
            <a:off x="5451267" y="5985693"/>
            <a:ext cx="27590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跨时域意图建模不足</a:t>
            </a:r>
            <a:endParaRPr lang="zh-CN" altLang="en-US" sz="1400" dirty="0"/>
          </a:p>
        </p:txBody>
      </p:sp>
      <p:sp>
        <p:nvSpPr>
          <p:cNvPr id="1089" name="文本框 1088">
            <a:extLst>
              <a:ext uri="{FF2B5EF4-FFF2-40B4-BE49-F238E27FC236}">
                <a16:creationId xmlns:a16="http://schemas.microsoft.com/office/drawing/2014/main" id="{AB2943EF-5DEA-3F5E-7AB4-6049AF123C92}"/>
              </a:ext>
            </a:extLst>
          </p:cNvPr>
          <p:cNvSpPr txBox="1"/>
          <p:nvPr/>
        </p:nvSpPr>
        <p:spPr>
          <a:xfrm>
            <a:off x="9002336" y="5669696"/>
            <a:ext cx="1969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</a:t>
            </a:r>
            <a:r>
              <a:rPr lang="en-US" altLang="zh-CN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0" name="文本框 1089">
            <a:extLst>
              <a:ext uri="{FF2B5EF4-FFF2-40B4-BE49-F238E27FC236}">
                <a16:creationId xmlns:a16="http://schemas.microsoft.com/office/drawing/2014/main" id="{10EA9FB6-C3BE-0231-9E67-A1E8341FA15E}"/>
              </a:ext>
            </a:extLst>
          </p:cNvPr>
          <p:cNvSpPr txBox="1"/>
          <p:nvPr/>
        </p:nvSpPr>
        <p:spPr>
          <a:xfrm>
            <a:off x="8983300" y="5985693"/>
            <a:ext cx="27590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与规划控制衔接不紧密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33" grpId="0" animBg="1"/>
      <p:bldP spid="35" grpId="0" animBg="1"/>
      <p:bldP spid="36" grpId="0" animBg="1"/>
      <p:bldP spid="37" grpId="0" animBg="1"/>
      <p:bldP spid="38" grpId="0" animBg="1"/>
      <p:bldP spid="55" grpId="0" animBg="1"/>
      <p:bldP spid="1025" grpId="0" animBg="1"/>
      <p:bldP spid="1033" grpId="0" animBg="1"/>
      <p:bldP spid="1034" grpId="0" animBg="1"/>
      <p:bldP spid="1035" grpId="0" animBg="1"/>
      <p:bldP spid="1036" grpId="0" animBg="1"/>
      <p:bldP spid="1040" grpId="0" animBg="1"/>
      <p:bldP spid="1041" grpId="0" animBg="1"/>
      <p:bldP spid="1043" grpId="0" animBg="1"/>
      <p:bldP spid="1063" grpId="0"/>
      <p:bldP spid="1064" grpId="0"/>
      <p:bldP spid="1065" grpId="0"/>
      <p:bldP spid="1066" grpId="0"/>
      <p:bldP spid="1067" grpId="0"/>
      <p:bldP spid="1068" grpId="0"/>
      <p:bldP spid="1076" grpId="0"/>
      <p:bldP spid="1077" grpId="0"/>
      <p:bldP spid="1078" grpId="0"/>
      <p:bldP spid="1079" grpId="0"/>
      <p:bldP spid="1080" grpId="0"/>
      <p:bldP spid="1081" grpId="0"/>
      <p:bldP spid="1085" grpId="0"/>
      <p:bldP spid="1086" grpId="0"/>
      <p:bldP spid="1087" grpId="0"/>
      <p:bldP spid="1088" grpId="0"/>
      <p:bldP spid="1089" grpId="0"/>
      <p:bldP spid="109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66D5EB-C0DA-2330-6850-F3AA8903F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A45768F6-8E8D-9FD7-3310-84BF32CB246E}"/>
              </a:ext>
            </a:extLst>
          </p:cNvPr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3" name="圆角矩形 4">
              <a:extLst>
                <a:ext uri="{FF2B5EF4-FFF2-40B4-BE49-F238E27FC236}">
                  <a16:creationId xmlns:a16="http://schemas.microsoft.com/office/drawing/2014/main" id="{7B93CE58-4C24-78E6-CF21-8B93C3900D1B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AE56F60-9D6F-1AC1-4AF6-9ECCDA561C2E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9B8D7D3C-2ABD-11B6-DB7C-B876127EC966}"/>
              </a:ext>
            </a:extLst>
          </p:cNvPr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5E15B6D-2808-B053-609B-169F584417D5}"/>
              </a:ext>
            </a:extLst>
          </p:cNvPr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7" name="圆角矩形 3">
              <a:extLst>
                <a:ext uri="{FF2B5EF4-FFF2-40B4-BE49-F238E27FC236}">
                  <a16:creationId xmlns:a16="http://schemas.microsoft.com/office/drawing/2014/main" id="{F11C5F3D-A667-A075-5C79-019A15A9C8EB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圆角矩形 7">
              <a:extLst>
                <a:ext uri="{FF2B5EF4-FFF2-40B4-BE49-F238E27FC236}">
                  <a16:creationId xmlns:a16="http://schemas.microsoft.com/office/drawing/2014/main" id="{79913223-C718-50F1-F71C-7704A609DF73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89D1623-1728-C1E2-9449-98C50B563B6F}"/>
                </a:ext>
              </a:extLst>
            </p:cNvPr>
            <p:cNvSpPr/>
            <p:nvPr/>
          </p:nvSpPr>
          <p:spPr>
            <a:xfrm>
              <a:off x="2828484" y="239783"/>
              <a:ext cx="1760860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</a:t>
              </a: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275CF835-B92C-FB91-1D34-E58D25A66B8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004E7AB-9365-D93E-DCB0-93C8B81222F1}"/>
              </a:ext>
            </a:extLst>
          </p:cNvPr>
          <p:cNvSpPr txBox="1"/>
          <p:nvPr/>
        </p:nvSpPr>
        <p:spPr>
          <a:xfrm>
            <a:off x="533400" y="926332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现有研究与本文定位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80775B3-7BC2-E808-4BEB-86BADD324D09}"/>
              </a:ext>
            </a:extLst>
          </p:cNvPr>
          <p:cNvCxnSpPr/>
          <p:nvPr/>
        </p:nvCxnSpPr>
        <p:spPr>
          <a:xfrm>
            <a:off x="637749" y="1345492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AA268829-5477-6D04-7F1F-0A0012FB5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smtClean="0"/>
              <a:pPr/>
              <a:t>4</a:t>
            </a:fld>
            <a:r>
              <a:rPr lang="en-US" altLang="zh-CN" dirty="0"/>
              <a:t>/21</a:t>
            </a:r>
            <a:endParaRPr lang="zh-CN" altLang="en-US" b="1" dirty="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22E3799-0FF7-1E33-E40E-EDB840348FD3}"/>
              </a:ext>
            </a:extLst>
          </p:cNvPr>
          <p:cNvSpPr/>
          <p:nvPr/>
        </p:nvSpPr>
        <p:spPr>
          <a:xfrm>
            <a:off x="390525" y="5594087"/>
            <a:ext cx="11468100" cy="770426"/>
          </a:xfrm>
          <a:prstGeom prst="roundRect">
            <a:avLst>
              <a:gd name="adj" fmla="val 5635"/>
            </a:avLst>
          </a:prstGeom>
          <a:solidFill>
            <a:srgbClr val="F5F7F5"/>
          </a:solidFill>
          <a:ln w="19050"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81FE8B5-1B29-F4B1-C024-715C0EF7A3E0}"/>
              </a:ext>
            </a:extLst>
          </p:cNvPr>
          <p:cNvSpPr/>
          <p:nvPr/>
        </p:nvSpPr>
        <p:spPr>
          <a:xfrm>
            <a:off x="8410575" y="2688553"/>
            <a:ext cx="3448050" cy="77042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A4C70C0-90A6-8638-B6A1-48FFBB0F2294}"/>
              </a:ext>
            </a:extLst>
          </p:cNvPr>
          <p:cNvSpPr/>
          <p:nvPr/>
        </p:nvSpPr>
        <p:spPr>
          <a:xfrm>
            <a:off x="8410575" y="3661687"/>
            <a:ext cx="3448050" cy="77042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6" name="文本框 1075">
            <a:extLst>
              <a:ext uri="{FF2B5EF4-FFF2-40B4-BE49-F238E27FC236}">
                <a16:creationId xmlns:a16="http://schemas.microsoft.com/office/drawing/2014/main" id="{C64E1990-4240-D540-AB65-9EDBC10B8DEA}"/>
              </a:ext>
            </a:extLst>
          </p:cNvPr>
          <p:cNvSpPr txBox="1"/>
          <p:nvPr/>
        </p:nvSpPr>
        <p:spPr>
          <a:xfrm>
            <a:off x="9149695" y="2893142"/>
            <a:ext cx="2903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构建当前</a:t>
            </a:r>
            <a:r>
              <a:rPr lang="en-US" altLang="zh-CN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未来双时域意图图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7" name="文本框 1076">
            <a:extLst>
              <a:ext uri="{FF2B5EF4-FFF2-40B4-BE49-F238E27FC236}">
                <a16:creationId xmlns:a16="http://schemas.microsoft.com/office/drawing/2014/main" id="{894969CB-5B58-5407-6CF7-414B474B2707}"/>
              </a:ext>
            </a:extLst>
          </p:cNvPr>
          <p:cNvSpPr txBox="1"/>
          <p:nvPr/>
        </p:nvSpPr>
        <p:spPr>
          <a:xfrm>
            <a:off x="9149696" y="3865706"/>
            <a:ext cx="2759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跨时域交互实现特征校正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3500725-D29A-D921-4963-9F4C909A1FA4}"/>
              </a:ext>
            </a:extLst>
          </p:cNvPr>
          <p:cNvSpPr/>
          <p:nvPr/>
        </p:nvSpPr>
        <p:spPr>
          <a:xfrm>
            <a:off x="637749" y="1664496"/>
            <a:ext cx="7526332" cy="77042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4BCFB8E-03F1-699C-B7AE-6D9CE5FF32D5}"/>
              </a:ext>
            </a:extLst>
          </p:cNvPr>
          <p:cNvSpPr/>
          <p:nvPr/>
        </p:nvSpPr>
        <p:spPr>
          <a:xfrm>
            <a:off x="8410575" y="1664496"/>
            <a:ext cx="3448050" cy="77042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ADDBD7-2E17-1BBD-EAC3-21B42A3433A0}"/>
              </a:ext>
            </a:extLst>
          </p:cNvPr>
          <p:cNvSpPr txBox="1"/>
          <p:nvPr/>
        </p:nvSpPr>
        <p:spPr>
          <a:xfrm>
            <a:off x="1449546" y="1726554"/>
            <a:ext cx="1493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社会交互预测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748616E-F4AE-61F7-FDB9-1B7147B1F512}"/>
              </a:ext>
            </a:extLst>
          </p:cNvPr>
          <p:cNvSpPr txBox="1"/>
          <p:nvPr/>
        </p:nvSpPr>
        <p:spPr>
          <a:xfrm>
            <a:off x="1430510" y="2068844"/>
            <a:ext cx="1641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sz="1400" dirty="0">
                <a:ea typeface="黑体" panose="02010609060101010101" pitchFamily="49" charset="-122"/>
                <a:cs typeface="Times New Roman" panose="02020603050405020304" pitchFamily="18" charset="0"/>
              </a:rPr>
              <a:t>sur-sur</a:t>
            </a: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交互为主</a:t>
            </a:r>
            <a:endParaRPr lang="zh-CN" altLang="en-US" sz="1400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2E83020-BA9A-AE66-4F71-D0A3993F0574}"/>
              </a:ext>
            </a:extLst>
          </p:cNvPr>
          <p:cNvSpPr/>
          <p:nvPr/>
        </p:nvSpPr>
        <p:spPr>
          <a:xfrm>
            <a:off x="8410575" y="4634251"/>
            <a:ext cx="3448050" cy="77042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E90ADF-28F7-E154-F740-1AB4127E7BF8}"/>
              </a:ext>
            </a:extLst>
          </p:cNvPr>
          <p:cNvSpPr txBox="1"/>
          <p:nvPr/>
        </p:nvSpPr>
        <p:spPr>
          <a:xfrm>
            <a:off x="9149696" y="4869626"/>
            <a:ext cx="28468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影响评估与多模态轨迹解码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A9A8840-6DC4-2FBB-E126-977A93C349B9}"/>
              </a:ext>
            </a:extLst>
          </p:cNvPr>
          <p:cNvSpPr/>
          <p:nvPr/>
        </p:nvSpPr>
        <p:spPr>
          <a:xfrm>
            <a:off x="637749" y="2685075"/>
            <a:ext cx="7526332" cy="271960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91EA23C8-7912-FCFF-CE2E-2DEF211E0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63" y="1738446"/>
            <a:ext cx="685800" cy="638175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61754B02-71A8-C09F-8CE3-C26979ACFF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2141" y="1752155"/>
            <a:ext cx="647700" cy="628650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8746230E-1361-26C3-E4C8-8D5C7641BA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9891" y="1752155"/>
            <a:ext cx="619125" cy="64770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5AF61342-7515-B81A-4961-78B1703040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7786" y="1909317"/>
            <a:ext cx="333375" cy="333375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81BE3563-C82D-87B5-EBCE-F2B003A310CC}"/>
              </a:ext>
            </a:extLst>
          </p:cNvPr>
          <p:cNvSpPr txBox="1"/>
          <p:nvPr/>
        </p:nvSpPr>
        <p:spPr>
          <a:xfrm>
            <a:off x="4008877" y="1726554"/>
            <a:ext cx="1493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条件预测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9A6D447-EA5A-52A7-C795-1C8EA95D239A}"/>
              </a:ext>
            </a:extLst>
          </p:cNvPr>
          <p:cNvSpPr txBox="1"/>
          <p:nvPr/>
        </p:nvSpPr>
        <p:spPr>
          <a:xfrm>
            <a:off x="3989841" y="2068844"/>
            <a:ext cx="1641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引入</a:t>
            </a:r>
            <a:r>
              <a:rPr lang="en-US" altLang="zh-CN" sz="1400" dirty="0">
                <a:ea typeface="黑体" panose="02010609060101010101" pitchFamily="49" charset="-122"/>
                <a:cs typeface="Times New Roman" panose="02020603050405020304" pitchFamily="18" charset="0"/>
              </a:rPr>
              <a:t>sur-tar</a:t>
            </a: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交互</a:t>
            </a:r>
            <a:endParaRPr lang="zh-CN" altLang="en-US" sz="1400" dirty="0"/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C72DE8C3-271A-C5CD-7461-524A2F926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9520" y="1909317"/>
            <a:ext cx="333375" cy="333375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0FF6203B-28E0-4230-FE81-E7F923427CD3}"/>
              </a:ext>
            </a:extLst>
          </p:cNvPr>
          <p:cNvSpPr txBox="1"/>
          <p:nvPr/>
        </p:nvSpPr>
        <p:spPr>
          <a:xfrm>
            <a:off x="6298052" y="1726554"/>
            <a:ext cx="17942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跨时域意图交互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BD8435F-A7FE-3D8D-ACC6-7C63EA655851}"/>
              </a:ext>
            </a:extLst>
          </p:cNvPr>
          <p:cNvSpPr txBox="1"/>
          <p:nvPr/>
        </p:nvSpPr>
        <p:spPr>
          <a:xfrm>
            <a:off x="6279016" y="2068844"/>
            <a:ext cx="19717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时域扩展与语义交互</a:t>
            </a:r>
            <a:endParaRPr lang="zh-CN" altLang="en-US" sz="1400" dirty="0"/>
          </a:p>
        </p:txBody>
      </p: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42AEF40A-0583-CEB5-EB3A-64AAC2F1797D}"/>
              </a:ext>
            </a:extLst>
          </p:cNvPr>
          <p:cNvSpPr txBox="1"/>
          <p:nvPr/>
        </p:nvSpPr>
        <p:spPr>
          <a:xfrm>
            <a:off x="3498184" y="2487472"/>
            <a:ext cx="180546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相关方法对比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26" name="表格 1025">
            <a:extLst>
              <a:ext uri="{FF2B5EF4-FFF2-40B4-BE49-F238E27FC236}">
                <a16:creationId xmlns:a16="http://schemas.microsoft.com/office/drawing/2014/main" id="{B6C45D7D-646B-D2DC-EAC2-0C390B67F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979804"/>
              </p:ext>
            </p:extLst>
          </p:nvPr>
        </p:nvGraphicFramePr>
        <p:xfrm>
          <a:off x="743064" y="2998944"/>
          <a:ext cx="7309949" cy="21945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22696">
                  <a:extLst>
                    <a:ext uri="{9D8B030D-6E8A-4147-A177-3AD203B41FA5}">
                      <a16:colId xmlns:a16="http://schemas.microsoft.com/office/drawing/2014/main" val="1635275196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44704566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97103502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3098329867"/>
                    </a:ext>
                  </a:extLst>
                </a:gridCol>
                <a:gridCol w="1634353">
                  <a:extLst>
                    <a:ext uri="{9D8B030D-6E8A-4147-A177-3AD203B41FA5}">
                      <a16:colId xmlns:a16="http://schemas.microsoft.com/office/drawing/2014/main" val="3098646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Tar-Sur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Sur-Sur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Consider Dynamics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Ego’s motion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541193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S-LSTM (CVPR)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072126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PiP</a:t>
                      </a:r>
                      <a:r>
                        <a:rPr lang="en-US" altLang="zh-CN" sz="1800" dirty="0"/>
                        <a:t> (ECCV)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4731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WSiP</a:t>
                      </a:r>
                      <a:r>
                        <a:rPr lang="en-US" altLang="zh-CN" sz="1800" dirty="0"/>
                        <a:t> (AAAI)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281179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C2F-TP (AAAI)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65266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/>
                        <a:t>CiT</a:t>
                      </a:r>
                      <a:r>
                        <a:rPr lang="en-US" altLang="zh-CN" sz="1800" b="1" dirty="0"/>
                        <a:t> (Ours)</a:t>
                      </a:r>
                      <a:endParaRPr lang="zh-CN" altLang="en-US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491885"/>
                  </a:ext>
                </a:extLst>
              </a:tr>
            </a:tbl>
          </a:graphicData>
        </a:graphic>
      </p:graphicFrame>
      <p:sp>
        <p:nvSpPr>
          <p:cNvPr id="1027" name="矩形: 圆角 1026">
            <a:extLst>
              <a:ext uri="{FF2B5EF4-FFF2-40B4-BE49-F238E27FC236}">
                <a16:creationId xmlns:a16="http://schemas.microsoft.com/office/drawing/2014/main" id="{9730D14A-5773-4A05-3774-AD4D458E5051}"/>
              </a:ext>
            </a:extLst>
          </p:cNvPr>
          <p:cNvSpPr/>
          <p:nvPr/>
        </p:nvSpPr>
        <p:spPr>
          <a:xfrm>
            <a:off x="8536773" y="1794572"/>
            <a:ext cx="538717" cy="538717"/>
          </a:xfrm>
          <a:prstGeom prst="roundRect">
            <a:avLst/>
          </a:prstGeom>
          <a:solidFill>
            <a:srgbClr val="0149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1</a:t>
            </a:r>
            <a:endParaRPr lang="zh-CN" altLang="en-US" sz="2800" b="1" dirty="0"/>
          </a:p>
        </p:txBody>
      </p:sp>
      <p:sp>
        <p:nvSpPr>
          <p:cNvPr id="1028" name="矩形: 圆角 1027">
            <a:extLst>
              <a:ext uri="{FF2B5EF4-FFF2-40B4-BE49-F238E27FC236}">
                <a16:creationId xmlns:a16="http://schemas.microsoft.com/office/drawing/2014/main" id="{16B98286-2B91-499C-836E-88F7FE315D4A}"/>
              </a:ext>
            </a:extLst>
          </p:cNvPr>
          <p:cNvSpPr/>
          <p:nvPr/>
        </p:nvSpPr>
        <p:spPr>
          <a:xfrm>
            <a:off x="8536773" y="2804317"/>
            <a:ext cx="538717" cy="538717"/>
          </a:xfrm>
          <a:prstGeom prst="roundRect">
            <a:avLst/>
          </a:prstGeom>
          <a:solidFill>
            <a:srgbClr val="0149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2</a:t>
            </a:r>
            <a:endParaRPr lang="zh-CN" altLang="en-US" sz="2800" b="1" dirty="0"/>
          </a:p>
        </p:txBody>
      </p:sp>
      <p:sp>
        <p:nvSpPr>
          <p:cNvPr id="1030" name="矩形: 圆角 1029">
            <a:extLst>
              <a:ext uri="{FF2B5EF4-FFF2-40B4-BE49-F238E27FC236}">
                <a16:creationId xmlns:a16="http://schemas.microsoft.com/office/drawing/2014/main" id="{EC9BF6E4-8301-FC67-F4A6-1BDD4E667744}"/>
              </a:ext>
            </a:extLst>
          </p:cNvPr>
          <p:cNvSpPr/>
          <p:nvPr/>
        </p:nvSpPr>
        <p:spPr>
          <a:xfrm>
            <a:off x="8536773" y="3783906"/>
            <a:ext cx="538717" cy="538717"/>
          </a:xfrm>
          <a:prstGeom prst="roundRect">
            <a:avLst/>
          </a:prstGeom>
          <a:solidFill>
            <a:srgbClr val="0149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3</a:t>
            </a:r>
            <a:endParaRPr lang="zh-CN" altLang="en-US" sz="2800" b="1" dirty="0"/>
          </a:p>
        </p:txBody>
      </p:sp>
      <p:sp>
        <p:nvSpPr>
          <p:cNvPr id="1032" name="矩形: 圆角 1031">
            <a:extLst>
              <a:ext uri="{FF2B5EF4-FFF2-40B4-BE49-F238E27FC236}">
                <a16:creationId xmlns:a16="http://schemas.microsoft.com/office/drawing/2014/main" id="{D3CCE4F0-780A-70C2-919E-EAC509ACEF6A}"/>
              </a:ext>
            </a:extLst>
          </p:cNvPr>
          <p:cNvSpPr/>
          <p:nvPr/>
        </p:nvSpPr>
        <p:spPr>
          <a:xfrm>
            <a:off x="8536773" y="4768763"/>
            <a:ext cx="538717" cy="538717"/>
          </a:xfrm>
          <a:prstGeom prst="roundRect">
            <a:avLst/>
          </a:prstGeom>
          <a:solidFill>
            <a:srgbClr val="0149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4</a:t>
            </a:r>
            <a:endParaRPr lang="zh-CN" altLang="en-US" sz="2800" b="1" dirty="0"/>
          </a:p>
        </p:txBody>
      </p:sp>
      <p:sp>
        <p:nvSpPr>
          <p:cNvPr id="1037" name="文本框 1036">
            <a:extLst>
              <a:ext uri="{FF2B5EF4-FFF2-40B4-BE49-F238E27FC236}">
                <a16:creationId xmlns:a16="http://schemas.microsoft.com/office/drawing/2014/main" id="{DCBF0ACA-746F-BEDC-EFF1-2BE5FEA2A17B}"/>
              </a:ext>
            </a:extLst>
          </p:cNvPr>
          <p:cNvSpPr txBox="1"/>
          <p:nvPr/>
        </p:nvSpPr>
        <p:spPr>
          <a:xfrm>
            <a:off x="9149696" y="1894653"/>
            <a:ext cx="26003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引入自车粗粒度潜在轨迹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7" name="箭头: 五边形 1046">
            <a:extLst>
              <a:ext uri="{FF2B5EF4-FFF2-40B4-BE49-F238E27FC236}">
                <a16:creationId xmlns:a16="http://schemas.microsoft.com/office/drawing/2014/main" id="{36833849-921C-6B05-58B2-1480909DC2E7}"/>
              </a:ext>
            </a:extLst>
          </p:cNvPr>
          <p:cNvSpPr/>
          <p:nvPr/>
        </p:nvSpPr>
        <p:spPr>
          <a:xfrm>
            <a:off x="396863" y="5602280"/>
            <a:ext cx="1616966" cy="753198"/>
          </a:xfrm>
          <a:prstGeom prst="homePlate">
            <a:avLst>
              <a:gd name="adj" fmla="val 27237"/>
            </a:avLst>
          </a:prstGeom>
          <a:solidFill>
            <a:srgbClr val="0149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" name="文本框 1047">
            <a:extLst>
              <a:ext uri="{FF2B5EF4-FFF2-40B4-BE49-F238E27FC236}">
                <a16:creationId xmlns:a16="http://schemas.microsoft.com/office/drawing/2014/main" id="{A14E0A19-62E9-E4F2-2EB8-E6B373A14D17}"/>
              </a:ext>
            </a:extLst>
          </p:cNvPr>
          <p:cNvSpPr txBox="1"/>
          <p:nvPr/>
        </p:nvSpPr>
        <p:spPr>
          <a:xfrm>
            <a:off x="461198" y="5733961"/>
            <a:ext cx="1552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本文定位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9" name="文本框 1048">
            <a:extLst>
              <a:ext uri="{FF2B5EF4-FFF2-40B4-BE49-F238E27FC236}">
                <a16:creationId xmlns:a16="http://schemas.microsoft.com/office/drawing/2014/main" id="{4279371D-7125-CC5D-5027-4384A2F85243}"/>
              </a:ext>
            </a:extLst>
          </p:cNvPr>
          <p:cNvSpPr txBox="1"/>
          <p:nvPr/>
        </p:nvSpPr>
        <p:spPr>
          <a:xfrm>
            <a:off x="2315200" y="5802518"/>
            <a:ext cx="47526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14924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面向条件轨迹预测，兼顾交互建模与系统可部署性</a:t>
            </a:r>
            <a:endParaRPr lang="zh-CN" altLang="en-US" sz="1600" dirty="0">
              <a:solidFill>
                <a:srgbClr val="01492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E295D2F2-9BE0-3728-5AE6-05994273E2C0}"/>
              </a:ext>
            </a:extLst>
          </p:cNvPr>
          <p:cNvSpPr txBox="1"/>
          <p:nvPr/>
        </p:nvSpPr>
        <p:spPr>
          <a:xfrm>
            <a:off x="7300847" y="5802518"/>
            <a:ext cx="47526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14924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sz="1600" dirty="0" err="1">
                <a:solidFill>
                  <a:srgbClr val="014924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CiT</a:t>
            </a:r>
            <a:r>
              <a:rPr lang="zh-CN" altLang="en-US" sz="1600" dirty="0">
                <a:solidFill>
                  <a:srgbClr val="014924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实现更准确的未来意图表达与轨迹预测生成</a:t>
            </a:r>
            <a:endParaRPr lang="zh-CN" altLang="en-US" sz="1600" dirty="0">
              <a:solidFill>
                <a:srgbClr val="01492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51" name="图片 1050">
            <a:extLst>
              <a:ext uri="{FF2B5EF4-FFF2-40B4-BE49-F238E27FC236}">
                <a16:creationId xmlns:a16="http://schemas.microsoft.com/office/drawing/2014/main" id="{3DA973BE-D022-5F31-6546-349CF4F827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7235" y="5792993"/>
            <a:ext cx="342900" cy="361950"/>
          </a:xfrm>
          <a:prstGeom prst="rect">
            <a:avLst/>
          </a:prstGeom>
        </p:spPr>
      </p:pic>
      <p:pic>
        <p:nvPicPr>
          <p:cNvPr id="1052" name="图片 1051">
            <a:extLst>
              <a:ext uri="{FF2B5EF4-FFF2-40B4-BE49-F238E27FC236}">
                <a16:creationId xmlns:a16="http://schemas.microsoft.com/office/drawing/2014/main" id="{A397DCB2-BA27-910F-E675-6D71FB4DB7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9423" y="5792993"/>
            <a:ext cx="34290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50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047" grpId="0" animBg="1"/>
      <p:bldP spid="1048" grpId="0"/>
      <p:bldP spid="1049" grpId="0"/>
      <p:bldP spid="10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7616C-3815-E74C-1BEE-D593E340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28B48607-A048-E57C-B05B-CEC817A039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BED13BC-F71A-6EBA-189E-AA33B88CA5A8}"/>
              </a:ext>
            </a:extLst>
          </p:cNvPr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BD5F217-64FD-8EAC-0E90-FC9AC7B55C65}"/>
              </a:ext>
            </a:extLst>
          </p:cNvPr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B223EEF-5C92-97D9-B6EB-A9B8A5E221B9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DA1D435-A9DD-F8E0-3741-46EDD0BB62F4}"/>
                </a:ext>
              </a:extLst>
            </p:cNvPr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17DF63F0-EDBE-26ED-7A76-D18D5EE83E31}"/>
              </a:ext>
            </a:extLst>
          </p:cNvPr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8F9424-3439-3D6A-60DA-3BF5D54B255E}"/>
              </a:ext>
            </a:extLst>
          </p:cNvPr>
          <p:cNvSpPr/>
          <p:nvPr/>
        </p:nvSpPr>
        <p:spPr>
          <a:xfrm>
            <a:off x="3033718" y="3612031"/>
            <a:ext cx="2128139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Content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E3D6EB9-273C-1D37-572A-BC7FEEED98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33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86A90-4A2E-9B5B-C2D5-FB438AA10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55F54FB-02A3-B8F7-7EE7-8CC0AAEFD218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8BA0FEE-A441-6F7A-2830-DD8A82D1F8B1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1C782CC1-759A-298C-FE12-D0166188F4C2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C2DEF3FD-0F39-EDA3-A299-881178B10E24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1D2E7CD-8CAA-8C6A-72FB-2F1951F17500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53CD5A64-7E14-6AC5-CFA6-2358521BAA1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87D9E869-65C6-6698-922C-9C35904783B3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AD58CFAF-23D4-C189-3CDB-44A175A2F72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D6F23D4C-EBA6-2CD8-C8B0-C588A36D2763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823928E1-95F7-EAD2-AF3B-9FE7A6FF2274}"/>
              </a:ext>
            </a:extLst>
          </p:cNvPr>
          <p:cNvSpPr txBox="1"/>
          <p:nvPr/>
        </p:nvSpPr>
        <p:spPr>
          <a:xfrm>
            <a:off x="403901" y="797534"/>
            <a:ext cx="1956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CiT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总体框架</a:t>
            </a: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D97A76DC-EAC9-FD5D-85FF-9A2562BBCB9F}"/>
              </a:ext>
            </a:extLst>
          </p:cNvPr>
          <p:cNvCxnSpPr/>
          <p:nvPr/>
        </p:nvCxnSpPr>
        <p:spPr>
          <a:xfrm>
            <a:off x="508249" y="121669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灯片编号占位符 96">
            <a:extLst>
              <a:ext uri="{FF2B5EF4-FFF2-40B4-BE49-F238E27FC236}">
                <a16:creationId xmlns:a16="http://schemas.microsoft.com/office/drawing/2014/main" id="{FF5B0EE9-C5C9-2D27-CD2B-78299540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smtClean="0"/>
              <a:pPr/>
              <a:t>6</a:t>
            </a:fld>
            <a:r>
              <a:rPr lang="en-US" altLang="zh-CN"/>
              <a:t>/21</a:t>
            </a:r>
            <a:endParaRPr lang="zh-CN" alt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2A439F-2217-81B0-B80F-37A181347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167" y="1496706"/>
            <a:ext cx="10785930" cy="500620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538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AB12B-866C-86D2-3F26-FDDD52676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2E0BFC0-FE74-CAF9-6AAE-3964AE91BAEC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358C7F9-83C8-B2E6-FA1C-9AD19FEF5836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95276585-C3AC-2F2C-5A4C-68D6460856F0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C01FD339-F08E-43EF-B85C-4CE7552480EB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43D327B-C598-4F8E-86B3-82503C139471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60BF4BF9-C86D-D08E-F0F6-DF6B373710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4E68175C-952F-1489-074A-3B9BB6A41BDF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42FF0E44-3DF5-C10F-6823-38D6306FEE35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D7CC6E8-2AF8-1089-0921-A6785DF9BC99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A2D83CA7-870F-004A-BDA7-706A1DB17E50}"/>
              </a:ext>
            </a:extLst>
          </p:cNvPr>
          <p:cNvSpPr txBox="1"/>
          <p:nvPr/>
        </p:nvSpPr>
        <p:spPr>
          <a:xfrm>
            <a:off x="403901" y="797534"/>
            <a:ext cx="29012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模块一：意图图构建</a:t>
            </a: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057A16AC-8E68-E108-20CE-2A24BDD2DE01}"/>
              </a:ext>
            </a:extLst>
          </p:cNvPr>
          <p:cNvCxnSpPr/>
          <p:nvPr/>
        </p:nvCxnSpPr>
        <p:spPr>
          <a:xfrm>
            <a:off x="508249" y="121669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灯片编号占位符 96">
            <a:extLst>
              <a:ext uri="{FF2B5EF4-FFF2-40B4-BE49-F238E27FC236}">
                <a16:creationId xmlns:a16="http://schemas.microsoft.com/office/drawing/2014/main" id="{59A76086-C9FC-A49D-2CDC-C4B7C9A06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smtClean="0"/>
              <a:pPr/>
              <a:t>7</a:t>
            </a:fld>
            <a:r>
              <a:rPr lang="en-US" altLang="zh-CN"/>
              <a:t>/21</a:t>
            </a:r>
            <a:endParaRPr lang="zh-CN" altLang="en-US" b="1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72B7E21-8C81-866B-D554-B6DFDEA860DA}"/>
              </a:ext>
            </a:extLst>
          </p:cNvPr>
          <p:cNvSpPr/>
          <p:nvPr/>
        </p:nvSpPr>
        <p:spPr>
          <a:xfrm>
            <a:off x="403901" y="1419624"/>
            <a:ext cx="3339424" cy="3809601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500631B-7769-35EF-233A-5CA6CC6BB580}"/>
              </a:ext>
            </a:extLst>
          </p:cNvPr>
          <p:cNvSpPr/>
          <p:nvPr/>
        </p:nvSpPr>
        <p:spPr>
          <a:xfrm>
            <a:off x="3947506" y="1419624"/>
            <a:ext cx="4381153" cy="3809601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26B1EC4-5500-620D-20BB-5BCE063517F8}"/>
              </a:ext>
            </a:extLst>
          </p:cNvPr>
          <p:cNvSpPr/>
          <p:nvPr/>
        </p:nvSpPr>
        <p:spPr>
          <a:xfrm>
            <a:off x="8528726" y="1419624"/>
            <a:ext cx="3339424" cy="3809601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CF0ECD4-1794-9C40-35B2-340ED6B3E354}"/>
              </a:ext>
            </a:extLst>
          </p:cNvPr>
          <p:cNvSpPr/>
          <p:nvPr/>
        </p:nvSpPr>
        <p:spPr>
          <a:xfrm>
            <a:off x="403901" y="5451205"/>
            <a:ext cx="3339424" cy="97817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F5B5B2-771F-B7FA-16B6-05E83F1B95E1}"/>
              </a:ext>
            </a:extLst>
          </p:cNvPr>
          <p:cNvSpPr txBox="1"/>
          <p:nvPr/>
        </p:nvSpPr>
        <p:spPr>
          <a:xfrm>
            <a:off x="785210" y="1524876"/>
            <a:ext cx="29012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输入与编码（多时域感知）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2E410AC-1F17-F3D2-B808-2EF462D90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5200" y="1971243"/>
            <a:ext cx="352425" cy="8477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A914570-61CE-3053-2278-5F7FFCF286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962" y="3075195"/>
            <a:ext cx="342900" cy="86677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52047F2-0A74-2073-7B02-6751B78631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1934" y="4163950"/>
            <a:ext cx="352425" cy="838200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9372D7F-D4F0-8AC7-B42F-80900D123FC2}"/>
              </a:ext>
            </a:extLst>
          </p:cNvPr>
          <p:cNvSpPr/>
          <p:nvPr/>
        </p:nvSpPr>
        <p:spPr>
          <a:xfrm>
            <a:off x="508250" y="1986854"/>
            <a:ext cx="1501526" cy="84772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4C20FCA-3111-E746-68C1-2101DC6D82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880" y="4249525"/>
            <a:ext cx="400503" cy="23187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D7DF253-84D9-ED10-3DDB-98E58B0A03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6612" y="2056947"/>
            <a:ext cx="422774" cy="21956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80FEF70-1A8E-77A8-D94D-1327BEA011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3440" y="3181446"/>
            <a:ext cx="409575" cy="205849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14A92566-7DF9-D316-E60B-723122D887AE}"/>
              </a:ext>
            </a:extLst>
          </p:cNvPr>
          <p:cNvSpPr txBox="1"/>
          <p:nvPr/>
        </p:nvSpPr>
        <p:spPr>
          <a:xfrm>
            <a:off x="496125" y="1993263"/>
            <a:ext cx="767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目标车</a:t>
            </a:r>
          </a:p>
        </p:txBody>
      </p:sp>
      <p:pic>
        <p:nvPicPr>
          <p:cNvPr id="23" name="图形 22">
            <a:extLst>
              <a:ext uri="{FF2B5EF4-FFF2-40B4-BE49-F238E27FC236}">
                <a16:creationId xmlns:a16="http://schemas.microsoft.com/office/drawing/2014/main" id="{FD2D128A-E2EB-D8AF-B39D-B40BC3D890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5858" r="17525"/>
          <a:stretch>
            <a:fillRect/>
          </a:stretch>
        </p:blipFill>
        <p:spPr>
          <a:xfrm rot="5152690">
            <a:off x="705321" y="4451026"/>
            <a:ext cx="397656" cy="596925"/>
          </a:xfrm>
          <a:prstGeom prst="rect">
            <a:avLst/>
          </a:prstGeom>
        </p:spPr>
      </p:pic>
      <p:pic>
        <p:nvPicPr>
          <p:cNvPr id="24" name="图形 23">
            <a:extLst>
              <a:ext uri="{FF2B5EF4-FFF2-40B4-BE49-F238E27FC236}">
                <a16:creationId xmlns:a16="http://schemas.microsoft.com/office/drawing/2014/main" id="{7CFF71B5-9036-74D4-622C-D5D9EB8CE1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22618" r="23627"/>
          <a:stretch>
            <a:fillRect/>
          </a:stretch>
        </p:blipFill>
        <p:spPr>
          <a:xfrm rot="4675157">
            <a:off x="1400630" y="2152360"/>
            <a:ext cx="413083" cy="768451"/>
          </a:xfrm>
          <a:prstGeom prst="rect">
            <a:avLst/>
          </a:prstGeom>
        </p:spPr>
      </p:pic>
      <p:pic>
        <p:nvPicPr>
          <p:cNvPr id="25" name="图形 24">
            <a:extLst>
              <a:ext uri="{FF2B5EF4-FFF2-40B4-BE49-F238E27FC236}">
                <a16:creationId xmlns:a16="http://schemas.microsoft.com/office/drawing/2014/main" id="{49EFD45B-7C65-9A67-5603-AFC11DB52D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2461" r="22469"/>
          <a:stretch>
            <a:fillRect/>
          </a:stretch>
        </p:blipFill>
        <p:spPr>
          <a:xfrm rot="4814262">
            <a:off x="1441602" y="3299937"/>
            <a:ext cx="325658" cy="591347"/>
          </a:xfrm>
          <a:prstGeom prst="rect">
            <a:avLst/>
          </a:prstGeom>
        </p:spPr>
      </p:pic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3DC7375-CF39-0CAA-95D6-EE7E84CEB8C9}"/>
              </a:ext>
            </a:extLst>
          </p:cNvPr>
          <p:cNvSpPr/>
          <p:nvPr/>
        </p:nvSpPr>
        <p:spPr>
          <a:xfrm>
            <a:off x="2287140" y="1986854"/>
            <a:ext cx="793771" cy="847725"/>
          </a:xfrm>
          <a:prstGeom prst="roundRect">
            <a:avLst>
              <a:gd name="adj" fmla="val 5635"/>
            </a:avLst>
          </a:prstGeom>
          <a:solidFill>
            <a:srgbClr val="86BA81">
              <a:alpha val="20000"/>
            </a:srgbClr>
          </a:solidFill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5637899-D430-981D-B958-1BBA57A1C6ED}"/>
              </a:ext>
            </a:extLst>
          </p:cNvPr>
          <p:cNvSpPr/>
          <p:nvPr/>
        </p:nvSpPr>
        <p:spPr>
          <a:xfrm>
            <a:off x="508250" y="3094245"/>
            <a:ext cx="1501526" cy="84772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75D12D0-310A-3D53-6D8D-AC4F4F4DF2BE}"/>
              </a:ext>
            </a:extLst>
          </p:cNvPr>
          <p:cNvSpPr/>
          <p:nvPr/>
        </p:nvSpPr>
        <p:spPr>
          <a:xfrm>
            <a:off x="2287140" y="3094245"/>
            <a:ext cx="793771" cy="847725"/>
          </a:xfrm>
          <a:prstGeom prst="roundRect">
            <a:avLst>
              <a:gd name="adj" fmla="val 5635"/>
            </a:avLst>
          </a:prstGeom>
          <a:solidFill>
            <a:srgbClr val="FAAC68">
              <a:alpha val="20000"/>
            </a:srgbClr>
          </a:solidFill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A85C8E5F-28F3-5B7C-9DE8-A618A1913F27}"/>
              </a:ext>
            </a:extLst>
          </p:cNvPr>
          <p:cNvSpPr/>
          <p:nvPr/>
        </p:nvSpPr>
        <p:spPr>
          <a:xfrm>
            <a:off x="508250" y="4197605"/>
            <a:ext cx="1501526" cy="84772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1FF45155-CBD4-975A-5995-0255A4D5C4F1}"/>
              </a:ext>
            </a:extLst>
          </p:cNvPr>
          <p:cNvSpPr/>
          <p:nvPr/>
        </p:nvSpPr>
        <p:spPr>
          <a:xfrm>
            <a:off x="2287140" y="4197605"/>
            <a:ext cx="793771" cy="847725"/>
          </a:xfrm>
          <a:prstGeom prst="roundRect">
            <a:avLst>
              <a:gd name="adj" fmla="val 5635"/>
            </a:avLst>
          </a:prstGeom>
          <a:solidFill>
            <a:srgbClr val="83B7F9">
              <a:alpha val="20000"/>
            </a:srgbClr>
          </a:solidFill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20DE67CD-6E2F-A78E-C4EF-1BB4BDDD69A3}"/>
              </a:ext>
            </a:extLst>
          </p:cNvPr>
          <p:cNvSpPr txBox="1"/>
          <p:nvPr/>
        </p:nvSpPr>
        <p:spPr>
          <a:xfrm>
            <a:off x="496125" y="3108560"/>
            <a:ext cx="767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邻车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F116BC2-0D14-7879-D13C-A4EE6BA8DB42}"/>
              </a:ext>
            </a:extLst>
          </p:cNvPr>
          <p:cNvSpPr txBox="1"/>
          <p:nvPr/>
        </p:nvSpPr>
        <p:spPr>
          <a:xfrm>
            <a:off x="496125" y="4197605"/>
            <a:ext cx="767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自车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E57DA8D-952E-1ED0-36CF-3A37D23FB99D}"/>
              </a:ext>
            </a:extLst>
          </p:cNvPr>
          <p:cNvSpPr txBox="1"/>
          <p:nvPr/>
        </p:nvSpPr>
        <p:spPr>
          <a:xfrm>
            <a:off x="2248306" y="2056947"/>
            <a:ext cx="8714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1D-CNN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LSTM</a:t>
            </a:r>
            <a:endParaRPr lang="zh-CN" altLang="en-US" sz="1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A256E9D-9D60-4550-B11E-6B407BA6DD41}"/>
              </a:ext>
            </a:extLst>
          </p:cNvPr>
          <p:cNvSpPr txBox="1"/>
          <p:nvPr/>
        </p:nvSpPr>
        <p:spPr>
          <a:xfrm>
            <a:off x="2248306" y="3148775"/>
            <a:ext cx="8714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1D-CNN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LSTM</a:t>
            </a:r>
            <a:endParaRPr lang="zh-CN" altLang="en-US" sz="1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EA74134-7FA0-375E-BF50-1B1214731226}"/>
              </a:ext>
            </a:extLst>
          </p:cNvPr>
          <p:cNvSpPr txBox="1"/>
          <p:nvPr/>
        </p:nvSpPr>
        <p:spPr>
          <a:xfrm>
            <a:off x="2248306" y="4256166"/>
            <a:ext cx="8714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1D-CNN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LSTM</a:t>
            </a:r>
            <a:endParaRPr lang="zh-CN" altLang="en-US" sz="1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F6F877B5-F52E-192D-2C95-7D7A620BCD2C}"/>
              </a:ext>
            </a:extLst>
          </p:cNvPr>
          <p:cNvSpPr/>
          <p:nvPr/>
        </p:nvSpPr>
        <p:spPr>
          <a:xfrm>
            <a:off x="561975" y="2582904"/>
            <a:ext cx="785813" cy="150771"/>
          </a:xfrm>
          <a:custGeom>
            <a:avLst/>
            <a:gdLst>
              <a:gd name="csX0" fmla="*/ 0 w 785813"/>
              <a:gd name="csY0" fmla="*/ 150771 h 150771"/>
              <a:gd name="csX1" fmla="*/ 252413 w 785813"/>
              <a:gd name="csY1" fmla="*/ 7896 h 150771"/>
              <a:gd name="csX2" fmla="*/ 600075 w 785813"/>
              <a:gd name="csY2" fmla="*/ 17421 h 150771"/>
              <a:gd name="csX3" fmla="*/ 785813 w 785813"/>
              <a:gd name="csY3" fmla="*/ 7896 h 1507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85813" h="150771">
                <a:moveTo>
                  <a:pt x="0" y="150771"/>
                </a:moveTo>
                <a:cubicBezTo>
                  <a:pt x="76200" y="90446"/>
                  <a:pt x="152401" y="30121"/>
                  <a:pt x="252413" y="7896"/>
                </a:cubicBezTo>
                <a:cubicBezTo>
                  <a:pt x="352425" y="-14329"/>
                  <a:pt x="511175" y="17421"/>
                  <a:pt x="600075" y="17421"/>
                </a:cubicBezTo>
                <a:cubicBezTo>
                  <a:pt x="688975" y="17421"/>
                  <a:pt x="737394" y="12658"/>
                  <a:pt x="785813" y="7896"/>
                </a:cubicBezTo>
              </a:path>
            </a:pathLst>
          </a:custGeom>
          <a:noFill/>
          <a:ln w="28575">
            <a:solidFill>
              <a:srgbClr val="52A05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5F96A54D-7DAA-B119-3313-5825B15337D1}"/>
              </a:ext>
            </a:extLst>
          </p:cNvPr>
          <p:cNvSpPr/>
          <p:nvPr/>
        </p:nvSpPr>
        <p:spPr>
          <a:xfrm>
            <a:off x="590550" y="3667125"/>
            <a:ext cx="723900" cy="78311"/>
          </a:xfrm>
          <a:custGeom>
            <a:avLst/>
            <a:gdLst>
              <a:gd name="csX0" fmla="*/ 0 w 723900"/>
              <a:gd name="csY0" fmla="*/ 71438 h 78311"/>
              <a:gd name="csX1" fmla="*/ 361950 w 723900"/>
              <a:gd name="csY1" fmla="*/ 71438 h 78311"/>
              <a:gd name="csX2" fmla="*/ 723900 w 723900"/>
              <a:gd name="csY2" fmla="*/ 0 h 78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23900" h="78311">
                <a:moveTo>
                  <a:pt x="0" y="71438"/>
                </a:moveTo>
                <a:cubicBezTo>
                  <a:pt x="120650" y="77391"/>
                  <a:pt x="241300" y="83344"/>
                  <a:pt x="361950" y="71438"/>
                </a:cubicBezTo>
                <a:cubicBezTo>
                  <a:pt x="482600" y="59532"/>
                  <a:pt x="603250" y="29766"/>
                  <a:pt x="723900" y="0"/>
                </a:cubicBezTo>
              </a:path>
            </a:pathLst>
          </a:custGeom>
          <a:noFill/>
          <a:ln w="28575">
            <a:solidFill>
              <a:srgbClr val="F1944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1F8637A6-B00A-E61F-99EF-F4D99750B27D}"/>
              </a:ext>
            </a:extLst>
          </p:cNvPr>
          <p:cNvSpPr/>
          <p:nvPr/>
        </p:nvSpPr>
        <p:spPr>
          <a:xfrm>
            <a:off x="1200150" y="4576763"/>
            <a:ext cx="747713" cy="158749"/>
          </a:xfrm>
          <a:custGeom>
            <a:avLst/>
            <a:gdLst>
              <a:gd name="csX0" fmla="*/ 0 w 747713"/>
              <a:gd name="csY0" fmla="*/ 157162 h 158749"/>
              <a:gd name="csX1" fmla="*/ 142875 w 747713"/>
              <a:gd name="csY1" fmla="*/ 142875 h 158749"/>
              <a:gd name="csX2" fmla="*/ 466725 w 747713"/>
              <a:gd name="csY2" fmla="*/ 42862 h 158749"/>
              <a:gd name="csX3" fmla="*/ 747713 w 747713"/>
              <a:gd name="csY3" fmla="*/ 0 h 158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7713" h="158749">
                <a:moveTo>
                  <a:pt x="0" y="157162"/>
                </a:moveTo>
                <a:cubicBezTo>
                  <a:pt x="32544" y="159543"/>
                  <a:pt x="65088" y="161925"/>
                  <a:pt x="142875" y="142875"/>
                </a:cubicBezTo>
                <a:cubicBezTo>
                  <a:pt x="220662" y="123825"/>
                  <a:pt x="365919" y="66674"/>
                  <a:pt x="466725" y="42862"/>
                </a:cubicBezTo>
                <a:cubicBezTo>
                  <a:pt x="567531" y="19050"/>
                  <a:pt x="657622" y="9525"/>
                  <a:pt x="747713" y="0"/>
                </a:cubicBezTo>
              </a:path>
            </a:pathLst>
          </a:custGeom>
          <a:noFill/>
          <a:ln w="28575">
            <a:solidFill>
              <a:srgbClr val="7CABF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35A6B780-DA72-66F7-A2A8-997A8AD2C0FA}"/>
              </a:ext>
            </a:extLst>
          </p:cNvPr>
          <p:cNvCxnSpPr>
            <a:cxnSpLocks/>
          </p:cNvCxnSpPr>
          <p:nvPr/>
        </p:nvCxnSpPr>
        <p:spPr>
          <a:xfrm>
            <a:off x="2026115" y="2410716"/>
            <a:ext cx="23812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9E88D118-2916-9ABB-813A-4F6603979E2C}"/>
              </a:ext>
            </a:extLst>
          </p:cNvPr>
          <p:cNvCxnSpPr>
            <a:cxnSpLocks/>
          </p:cNvCxnSpPr>
          <p:nvPr/>
        </p:nvCxnSpPr>
        <p:spPr>
          <a:xfrm>
            <a:off x="3119743" y="2410716"/>
            <a:ext cx="23812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F9B16AB1-0E49-684D-8FEE-9AB5E7FFCCEF}"/>
              </a:ext>
            </a:extLst>
          </p:cNvPr>
          <p:cNvCxnSpPr>
            <a:cxnSpLocks/>
          </p:cNvCxnSpPr>
          <p:nvPr/>
        </p:nvCxnSpPr>
        <p:spPr>
          <a:xfrm>
            <a:off x="2026115" y="3518107"/>
            <a:ext cx="23812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CCF3EC16-A396-F875-FAE7-845FEB0A372C}"/>
              </a:ext>
            </a:extLst>
          </p:cNvPr>
          <p:cNvCxnSpPr>
            <a:cxnSpLocks/>
          </p:cNvCxnSpPr>
          <p:nvPr/>
        </p:nvCxnSpPr>
        <p:spPr>
          <a:xfrm>
            <a:off x="3119743" y="3518107"/>
            <a:ext cx="23812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92319489-F5C4-E88D-1582-145AC02CF7DB}"/>
              </a:ext>
            </a:extLst>
          </p:cNvPr>
          <p:cNvCxnSpPr>
            <a:cxnSpLocks/>
          </p:cNvCxnSpPr>
          <p:nvPr/>
        </p:nvCxnSpPr>
        <p:spPr>
          <a:xfrm>
            <a:off x="2026115" y="4627230"/>
            <a:ext cx="23812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42A08E12-5DC9-5961-6B0B-7EB691B007CF}"/>
              </a:ext>
            </a:extLst>
          </p:cNvPr>
          <p:cNvCxnSpPr>
            <a:cxnSpLocks/>
          </p:cNvCxnSpPr>
          <p:nvPr/>
        </p:nvCxnSpPr>
        <p:spPr>
          <a:xfrm>
            <a:off x="3119743" y="4627230"/>
            <a:ext cx="23812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5332CBAB-FF26-DC63-9509-D2EBE044CD1F}"/>
              </a:ext>
            </a:extLst>
          </p:cNvPr>
          <p:cNvSpPr txBox="1"/>
          <p:nvPr/>
        </p:nvSpPr>
        <p:spPr>
          <a:xfrm>
            <a:off x="4926677" y="1469780"/>
            <a:ext cx="24228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特定时域的意图图表示</a:t>
            </a:r>
            <a:endParaRPr lang="en-US" altLang="zh-CN" sz="16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（目标中心栅格张量）</a:t>
            </a: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988A922D-B659-2D29-B8EB-862BF252E8CB}"/>
              </a:ext>
            </a:extLst>
          </p:cNvPr>
          <p:cNvSpPr/>
          <p:nvPr/>
        </p:nvSpPr>
        <p:spPr>
          <a:xfrm>
            <a:off x="4073824" y="2115332"/>
            <a:ext cx="4171016" cy="1464728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2F00F765-79BE-BC0D-DB3E-D87AB7CD3BA3}"/>
              </a:ext>
            </a:extLst>
          </p:cNvPr>
          <p:cNvSpPr/>
          <p:nvPr/>
        </p:nvSpPr>
        <p:spPr>
          <a:xfrm>
            <a:off x="4073824" y="3667125"/>
            <a:ext cx="4171016" cy="147503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88E4B3C7-3361-D2E0-9CE4-988F9242F17B}"/>
                  </a:ext>
                </a:extLst>
              </p:cNvPr>
              <p:cNvSpPr txBox="1"/>
              <p:nvPr/>
            </p:nvSpPr>
            <p:spPr>
              <a:xfrm>
                <a:off x="4951075" y="2166728"/>
                <a:ext cx="24228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rgbClr val="01492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当前时域意图图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 smtClean="0">
                            <a:solidFill>
                              <a:srgbClr val="01492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 smtClean="0">
                            <a:solidFill>
                              <a:srgbClr val="01492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1400" b="1" i="1" smtClean="0">
                            <a:solidFill>
                              <a:srgbClr val="014924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𝒄</m:t>
                        </m:r>
                      </m:sup>
                    </m:sSup>
                  </m:oMath>
                </a14:m>
                <a:endParaRPr lang="zh-CN" altLang="en-US" sz="1400" b="1" dirty="0">
                  <a:solidFill>
                    <a:srgbClr val="0149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88E4B3C7-3361-D2E0-9CE4-988F9242F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075" y="2166728"/>
                <a:ext cx="2422810" cy="307777"/>
              </a:xfrm>
              <a:prstGeom prst="rect">
                <a:avLst/>
              </a:prstGeom>
              <a:blipFill>
                <a:blip r:embed="rId13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3F76E89C-DB2E-C9C7-6B72-AF088788AF8C}"/>
                  </a:ext>
                </a:extLst>
              </p:cNvPr>
              <p:cNvSpPr txBox="1"/>
              <p:nvPr/>
            </p:nvSpPr>
            <p:spPr>
              <a:xfrm>
                <a:off x="4951075" y="3679723"/>
                <a:ext cx="2422810" cy="326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未来时域意图图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𝒇</m:t>
                        </m:r>
                      </m:sup>
                    </m:sSup>
                  </m:oMath>
                </a14:m>
                <a:endParaRPr lang="zh-CN" altLang="en-US" sz="1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3F76E89C-DB2E-C9C7-6B72-AF088788A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075" y="3679723"/>
                <a:ext cx="2422810" cy="326180"/>
              </a:xfrm>
              <a:prstGeom prst="rect">
                <a:avLst/>
              </a:prstGeom>
              <a:blipFill>
                <a:blip r:embed="rId14"/>
                <a:stretch>
                  <a:fillRect b="-169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" name="图片 91">
            <a:extLst>
              <a:ext uri="{FF2B5EF4-FFF2-40B4-BE49-F238E27FC236}">
                <a16:creationId xmlns:a16="http://schemas.microsoft.com/office/drawing/2014/main" id="{08400387-0378-5F2E-09BE-69824A87CFD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4973" y="2474505"/>
            <a:ext cx="1406007" cy="1060531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2120E952-AE72-19F0-9DF3-A8E3001CAF5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89789" y="3974993"/>
            <a:ext cx="1496087" cy="1109458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20A0A83C-5A0B-BF5C-DDD0-5ABFBAB47CB0}"/>
              </a:ext>
            </a:extLst>
          </p:cNvPr>
          <p:cNvSpPr txBox="1"/>
          <p:nvPr/>
        </p:nvSpPr>
        <p:spPr>
          <a:xfrm>
            <a:off x="5631527" y="2622081"/>
            <a:ext cx="266107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36000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zh-CN" altLang="en-US" sz="13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由目标车与邻车历史轨迹共同构建</a:t>
            </a:r>
            <a:endParaRPr lang="en-US" altLang="zh-CN" sz="13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3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聚焦当前局部社会交互场景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570CEAF7-5D1A-882C-C5D8-816CC775D4B1}"/>
              </a:ext>
            </a:extLst>
          </p:cNvPr>
          <p:cNvSpPr txBox="1"/>
          <p:nvPr/>
        </p:nvSpPr>
        <p:spPr>
          <a:xfrm>
            <a:off x="5649823" y="4109598"/>
            <a:ext cx="266107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36000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zh-CN" altLang="en-US" sz="13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由目标车与自车未来候选轨迹共同构建</a:t>
            </a:r>
            <a:endParaRPr lang="en-US" altLang="zh-CN" sz="13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3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刻画未来时域下的潜在交互分布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3779E11C-D4FC-9C28-0807-790032F52457}"/>
              </a:ext>
            </a:extLst>
          </p:cNvPr>
          <p:cNvSpPr txBox="1"/>
          <p:nvPr/>
        </p:nvSpPr>
        <p:spPr>
          <a:xfrm>
            <a:off x="8987033" y="1552647"/>
            <a:ext cx="24228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为什么需要构建意图图？</a:t>
            </a: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EE645052-5689-40C7-F6B6-3294397906C3}"/>
              </a:ext>
            </a:extLst>
          </p:cNvPr>
          <p:cNvSpPr/>
          <p:nvPr/>
        </p:nvSpPr>
        <p:spPr>
          <a:xfrm>
            <a:off x="8620124" y="2115332"/>
            <a:ext cx="3167975" cy="86599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77DF1F7B-1779-0B1F-3FB5-072B6D3574FF}"/>
              </a:ext>
            </a:extLst>
          </p:cNvPr>
          <p:cNvSpPr/>
          <p:nvPr/>
        </p:nvSpPr>
        <p:spPr>
          <a:xfrm>
            <a:off x="8620124" y="3181446"/>
            <a:ext cx="3167975" cy="86599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83163AAD-838A-F73F-E64F-4C10288C89E2}"/>
              </a:ext>
            </a:extLst>
          </p:cNvPr>
          <p:cNvSpPr/>
          <p:nvPr/>
        </p:nvSpPr>
        <p:spPr>
          <a:xfrm>
            <a:off x="8620124" y="4256166"/>
            <a:ext cx="3167975" cy="86599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5" name="图片 104">
            <a:extLst>
              <a:ext uri="{FF2B5EF4-FFF2-40B4-BE49-F238E27FC236}">
                <a16:creationId xmlns:a16="http://schemas.microsoft.com/office/drawing/2014/main" id="{2942C6AD-771C-0FBF-EF86-897C8CC82C0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03250" y="2177882"/>
            <a:ext cx="719569" cy="737119"/>
          </a:xfrm>
          <a:prstGeom prst="rect">
            <a:avLst/>
          </a:prstGeom>
        </p:spPr>
      </p:pic>
      <p:pic>
        <p:nvPicPr>
          <p:cNvPr id="106" name="图片 105">
            <a:extLst>
              <a:ext uri="{FF2B5EF4-FFF2-40B4-BE49-F238E27FC236}">
                <a16:creationId xmlns:a16="http://schemas.microsoft.com/office/drawing/2014/main" id="{AB97D56A-8317-B035-75B1-C3D69CDBDBE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03250" y="3251063"/>
            <a:ext cx="719569" cy="719569"/>
          </a:xfrm>
          <a:prstGeom prst="rect">
            <a:avLst/>
          </a:prstGeom>
        </p:spPr>
      </p:pic>
      <p:pic>
        <p:nvPicPr>
          <p:cNvPr id="107" name="图片 106">
            <a:extLst>
              <a:ext uri="{FF2B5EF4-FFF2-40B4-BE49-F238E27FC236}">
                <a16:creationId xmlns:a16="http://schemas.microsoft.com/office/drawing/2014/main" id="{4378D729-55E2-C811-688A-178F8B6B4FA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94475" y="4365460"/>
            <a:ext cx="728344" cy="702018"/>
          </a:xfrm>
          <a:prstGeom prst="rect">
            <a:avLst/>
          </a:prstGeom>
        </p:spPr>
      </p:pic>
      <p:sp>
        <p:nvSpPr>
          <p:cNvPr id="108" name="文本框 107">
            <a:extLst>
              <a:ext uri="{FF2B5EF4-FFF2-40B4-BE49-F238E27FC236}">
                <a16:creationId xmlns:a16="http://schemas.microsoft.com/office/drawing/2014/main" id="{DA0307FF-2126-8D88-0330-BE2DA5A0E0A5}"/>
              </a:ext>
            </a:extLst>
          </p:cNvPr>
          <p:cNvSpPr txBox="1"/>
          <p:nvPr/>
        </p:nvSpPr>
        <p:spPr>
          <a:xfrm>
            <a:off x="9422819" y="2210604"/>
            <a:ext cx="1856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保留空间位置信息</a:t>
            </a:r>
            <a:endParaRPr lang="zh-CN" altLang="en-US" sz="1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7C3EE295-D0D8-B587-8D26-9524A9AFC3BD}"/>
              </a:ext>
            </a:extLst>
          </p:cNvPr>
          <p:cNvSpPr txBox="1"/>
          <p:nvPr/>
        </p:nvSpPr>
        <p:spPr>
          <a:xfrm>
            <a:off x="9422817" y="2504581"/>
            <a:ext cx="24326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ea typeface="黑体" panose="02010609060101010101" pitchFamily="49" charset="-122"/>
                <a:cs typeface="Times New Roman" panose="02020603050405020304" pitchFamily="18" charset="0"/>
              </a:rPr>
              <a:t>以目标为中心的栅格张量，显示保留邻域的空间布局与相对位置</a:t>
            </a:r>
            <a:endParaRPr lang="zh-CN" altLang="en-US" sz="1200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16882028-7249-C0C8-1C64-3F865BE23FC7}"/>
              </a:ext>
            </a:extLst>
          </p:cNvPr>
          <p:cNvSpPr txBox="1"/>
          <p:nvPr/>
        </p:nvSpPr>
        <p:spPr>
          <a:xfrm>
            <a:off x="9422819" y="3257339"/>
            <a:ext cx="1856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捕获局部社会交互</a:t>
            </a:r>
            <a:endParaRPr lang="zh-CN" altLang="en-US" sz="1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4027E3A-18DF-6447-65E2-B53C94B67D9D}"/>
              </a:ext>
            </a:extLst>
          </p:cNvPr>
          <p:cNvSpPr txBox="1"/>
          <p:nvPr/>
        </p:nvSpPr>
        <p:spPr>
          <a:xfrm>
            <a:off x="9422817" y="3551316"/>
            <a:ext cx="24326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ea typeface="黑体" panose="02010609060101010101" pitchFamily="49" charset="-122"/>
                <a:cs typeface="Times New Roman" panose="02020603050405020304" pitchFamily="18" charset="0"/>
              </a:rPr>
              <a:t>将邻车</a:t>
            </a:r>
            <a:r>
              <a:rPr lang="en-US" altLang="zh-CN" sz="1200" dirty="0"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200" dirty="0">
                <a:ea typeface="黑体" panose="02010609060101010101" pitchFamily="49" charset="-122"/>
                <a:cs typeface="Times New Roman" panose="02020603050405020304" pitchFamily="18" charset="0"/>
              </a:rPr>
              <a:t>自车潜在运动映射到统一空间，便于建模局部社会交互</a:t>
            </a:r>
            <a:endParaRPr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7E42B9EA-E3F0-4B7B-2883-052576400043}"/>
              </a:ext>
            </a:extLst>
          </p:cNvPr>
          <p:cNvSpPr txBox="1"/>
          <p:nvPr/>
        </p:nvSpPr>
        <p:spPr>
          <a:xfrm>
            <a:off x="9422818" y="4323453"/>
            <a:ext cx="20341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表征不同时域意图图</a:t>
            </a:r>
            <a:endParaRPr lang="zh-CN" altLang="en-US" sz="1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FE70AFA2-FED5-BFD7-7EAE-D6EF0E4CE8A8}"/>
              </a:ext>
            </a:extLst>
          </p:cNvPr>
          <p:cNvSpPr txBox="1"/>
          <p:nvPr/>
        </p:nvSpPr>
        <p:spPr>
          <a:xfrm>
            <a:off x="9422817" y="4617430"/>
            <a:ext cx="24326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ea typeface="黑体" panose="02010609060101010101" pitchFamily="49" charset="-122"/>
                <a:cs typeface="Times New Roman" panose="02020603050405020304" pitchFamily="18" charset="0"/>
              </a:rPr>
              <a:t>构建双时域意图图，用于区分当前状态与未来趋势</a:t>
            </a:r>
            <a:endParaRPr lang="zh-CN" altLang="en-US" sz="1200" dirty="0"/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7E5DAD82-6570-D87D-2DBF-163B15A96E85}"/>
              </a:ext>
            </a:extLst>
          </p:cNvPr>
          <p:cNvSpPr/>
          <p:nvPr/>
        </p:nvSpPr>
        <p:spPr>
          <a:xfrm>
            <a:off x="4131731" y="5451205"/>
            <a:ext cx="2999592" cy="97817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8034C307-9E87-8BA1-A753-A9BDC699D0D7}"/>
              </a:ext>
            </a:extLst>
          </p:cNvPr>
          <p:cNvSpPr/>
          <p:nvPr/>
        </p:nvSpPr>
        <p:spPr>
          <a:xfrm>
            <a:off x="7505929" y="5451205"/>
            <a:ext cx="4381153" cy="97817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9FD16CA-B5A3-62A3-5669-2652FB973230}"/>
              </a:ext>
            </a:extLst>
          </p:cNvPr>
          <p:cNvSpPr txBox="1"/>
          <p:nvPr/>
        </p:nvSpPr>
        <p:spPr>
          <a:xfrm>
            <a:off x="428765" y="5519984"/>
            <a:ext cx="3264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输入：</a:t>
            </a:r>
            <a:r>
              <a:rPr lang="en-US" altLang="zh-CN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3s</a:t>
            </a:r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历史轨迹</a:t>
            </a:r>
            <a:r>
              <a:rPr lang="en-US" altLang="zh-CN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自车候选未来轨迹</a:t>
            </a:r>
            <a:endParaRPr lang="zh-CN" altLang="en-US" sz="1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26AC1457-B112-955C-14EA-FAA3355F18AA}"/>
              </a:ext>
            </a:extLst>
          </p:cNvPr>
          <p:cNvSpPr txBox="1"/>
          <p:nvPr/>
        </p:nvSpPr>
        <p:spPr>
          <a:xfrm>
            <a:off x="447057" y="5851863"/>
            <a:ext cx="24326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目标车、邻车的历史轨迹；</a:t>
            </a:r>
            <a:endParaRPr lang="en-US" altLang="zh-CN" sz="14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自车的候选未来轨迹</a:t>
            </a:r>
            <a:endParaRPr lang="zh-CN" altLang="en-US" sz="14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32B46EF-CAD2-E33A-7215-8715CAB8C816}"/>
              </a:ext>
            </a:extLst>
          </p:cNvPr>
          <p:cNvSpPr txBox="1"/>
          <p:nvPr/>
        </p:nvSpPr>
        <p:spPr>
          <a:xfrm>
            <a:off x="4187001" y="5519984"/>
            <a:ext cx="3264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区域设置：目标中心区域内构图</a:t>
            </a:r>
            <a:endParaRPr lang="zh-CN" altLang="en-US" sz="1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00F60891-83D9-3373-A512-0D3DF10F1A15}"/>
              </a:ext>
            </a:extLst>
          </p:cNvPr>
          <p:cNvSpPr txBox="1"/>
          <p:nvPr/>
        </p:nvSpPr>
        <p:spPr>
          <a:xfrm>
            <a:off x="4205293" y="5851863"/>
            <a:ext cx="2999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以目标车为中心，构建固定尺寸的空间栅格网络</a:t>
            </a:r>
            <a:endParaRPr lang="zh-CN" altLang="en-US" sz="1400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E071BBD8-59F5-EFDE-08F8-A5552A2E72BC}"/>
              </a:ext>
            </a:extLst>
          </p:cNvPr>
          <p:cNvSpPr txBox="1"/>
          <p:nvPr/>
        </p:nvSpPr>
        <p:spPr>
          <a:xfrm>
            <a:off x="7615540" y="5519984"/>
            <a:ext cx="43322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输出：双时域意图表示，为后续跨时域交互提供基础</a:t>
            </a:r>
            <a:endParaRPr lang="zh-CN" altLang="en-US" sz="1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0B236A7A-A682-8BCE-B556-66F887E787E9}"/>
                  </a:ext>
                </a:extLst>
              </p:cNvPr>
              <p:cNvSpPr txBox="1"/>
              <p:nvPr/>
            </p:nvSpPr>
            <p:spPr>
              <a:xfrm>
                <a:off x="7633831" y="5851863"/>
                <a:ext cx="3800587" cy="5315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得到当前时域意图</a:t>
                </a:r>
                <a:r>
                  <a:rPr lang="zh-CN" altLang="en-US" sz="1400" dirty="0">
                    <a:solidFill>
                      <a:schemeClr val="tx1"/>
                    </a:solidFill>
                    <a:ea typeface="黑体" panose="02010609060101010101" pitchFamily="49" charset="-122"/>
                    <a:cs typeface="Times New Roman" panose="02020603050405020304" pitchFamily="18" charset="0"/>
                  </a:rPr>
                  <a:t>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𝒄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ea typeface="黑体" panose="02010609060101010101" pitchFamily="49" charset="-122"/>
                    <a:cs typeface="Times New Roman" panose="02020603050405020304" pitchFamily="18" charset="0"/>
                  </a:rPr>
                  <a:t> 与未来时域意图图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𝒇</m:t>
                        </m:r>
                      </m:sup>
                    </m:sSup>
                    <m:r>
                      <a:rPr lang="en-US" altLang="zh-CN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ea typeface="黑体" panose="02010609060101010101" pitchFamily="49" charset="-122"/>
                    <a:cs typeface="Times New Roman" panose="02020603050405020304" pitchFamily="18" charset="0"/>
                  </a:rPr>
                  <a:t>，作为跨时域交互</a:t>
                </a:r>
                <a:r>
                  <a:rPr lang="zh-CN" altLang="en-US" sz="1400" dirty="0">
                    <a:ea typeface="黑体" panose="02010609060101010101" pitchFamily="49" charset="-122"/>
                    <a:cs typeface="Times New Roman" panose="02020603050405020304" pitchFamily="18" charset="0"/>
                  </a:rPr>
                  <a:t>建模的输入表示</a:t>
                </a:r>
                <a:endParaRPr lang="zh-CN" altLang="en-US" sz="1400" dirty="0"/>
              </a:p>
            </p:txBody>
          </p:sp>
        </mc:Choice>
        <mc:Fallback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0B236A7A-A682-8BCE-B556-66F887E78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3831" y="5851863"/>
                <a:ext cx="3800587" cy="531556"/>
              </a:xfrm>
              <a:prstGeom prst="rect">
                <a:avLst/>
              </a:prstGeom>
              <a:blipFill>
                <a:blip r:embed="rId20"/>
                <a:stretch>
                  <a:fillRect l="-481" t="-3448" r="-4968" b="-8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E5B73F13-6AC4-25B0-5BBF-24CC7FCC9602}"/>
              </a:ext>
            </a:extLst>
          </p:cNvPr>
          <p:cNvCxnSpPr>
            <a:stCxn id="11" idx="3"/>
            <a:endCxn id="114" idx="1"/>
          </p:cNvCxnSpPr>
          <p:nvPr/>
        </p:nvCxnSpPr>
        <p:spPr>
          <a:xfrm>
            <a:off x="3743325" y="5940290"/>
            <a:ext cx="388406" cy="0"/>
          </a:xfrm>
          <a:prstGeom prst="line">
            <a:avLst/>
          </a:prstGeom>
          <a:ln>
            <a:solidFill>
              <a:srgbClr val="DBE6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1EB449AC-9642-1243-FA40-844992EC7BDB}"/>
              </a:ext>
            </a:extLst>
          </p:cNvPr>
          <p:cNvCxnSpPr/>
          <p:nvPr/>
        </p:nvCxnSpPr>
        <p:spPr>
          <a:xfrm>
            <a:off x="7131323" y="5940290"/>
            <a:ext cx="388406" cy="0"/>
          </a:xfrm>
          <a:prstGeom prst="line">
            <a:avLst/>
          </a:prstGeom>
          <a:ln>
            <a:solidFill>
              <a:srgbClr val="DBE6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椭圆 124">
            <a:extLst>
              <a:ext uri="{FF2B5EF4-FFF2-40B4-BE49-F238E27FC236}">
                <a16:creationId xmlns:a16="http://schemas.microsoft.com/office/drawing/2014/main" id="{E5DD9BD4-F428-27D8-E919-5CFBEA42B433}"/>
              </a:ext>
            </a:extLst>
          </p:cNvPr>
          <p:cNvSpPr/>
          <p:nvPr/>
        </p:nvSpPr>
        <p:spPr>
          <a:xfrm>
            <a:off x="3901810" y="5904572"/>
            <a:ext cx="71436" cy="71436"/>
          </a:xfrm>
          <a:prstGeom prst="ellipse">
            <a:avLst/>
          </a:prstGeom>
          <a:solidFill>
            <a:srgbClr val="014924"/>
          </a:solidFill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F787E351-FCF0-D2BD-3C88-A3617E1F3AFA}"/>
              </a:ext>
            </a:extLst>
          </p:cNvPr>
          <p:cNvSpPr/>
          <p:nvPr/>
        </p:nvSpPr>
        <p:spPr>
          <a:xfrm>
            <a:off x="7273479" y="5904572"/>
            <a:ext cx="71436" cy="71436"/>
          </a:xfrm>
          <a:prstGeom prst="ellipse">
            <a:avLst/>
          </a:prstGeom>
          <a:solidFill>
            <a:srgbClr val="014924"/>
          </a:solidFill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41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  <p:bldP spid="11" grpId="0" animBg="1"/>
      <p:bldP spid="12" grpId="0"/>
      <p:bldP spid="17" grpId="0" animBg="1"/>
      <p:bldP spid="22" grpId="0"/>
      <p:bldP spid="27" grpId="0" animBg="1"/>
      <p:bldP spid="30" grpId="0" animBg="1"/>
      <p:bldP spid="31" grpId="0" animBg="1"/>
      <p:bldP spid="64" grpId="0" animBg="1"/>
      <p:bldP spid="65" grpId="0" animBg="1"/>
      <p:bldP spid="71" grpId="0"/>
      <p:bldP spid="72" grpId="0"/>
      <p:bldP spid="73" grpId="0"/>
      <p:bldP spid="74" grpId="0"/>
      <p:bldP spid="75" grpId="0"/>
      <p:bldP spid="76" grpId="0" animBg="1"/>
      <p:bldP spid="77" grpId="0" animBg="1"/>
      <p:bldP spid="78" grpId="0" animBg="1"/>
      <p:bldP spid="87" grpId="0"/>
      <p:bldP spid="88" grpId="0" animBg="1"/>
      <p:bldP spid="89" grpId="0" animBg="1"/>
      <p:bldP spid="90" grpId="0"/>
      <p:bldP spid="91" grpId="0"/>
      <p:bldP spid="94" grpId="0"/>
      <p:bldP spid="100" grpId="0"/>
      <p:bldP spid="101" grpId="0"/>
      <p:bldP spid="102" grpId="0" animBg="1"/>
      <p:bldP spid="103" grpId="0" animBg="1"/>
      <p:bldP spid="104" grpId="0" animBg="1"/>
      <p:bldP spid="108" grpId="0"/>
      <p:bldP spid="109" grpId="0"/>
      <p:bldP spid="110" grpId="0"/>
      <p:bldP spid="111" grpId="0"/>
      <p:bldP spid="112" grpId="0"/>
      <p:bldP spid="113" grpId="0"/>
      <p:bldP spid="114" grpId="0" animBg="1"/>
      <p:bldP spid="115" grpId="0" animBg="1"/>
      <p:bldP spid="116" grpId="0"/>
      <p:bldP spid="117" grpId="0"/>
      <p:bldP spid="118" grpId="0"/>
      <p:bldP spid="119" grpId="0"/>
      <p:bldP spid="120" grpId="0"/>
      <p:bldP spid="121" grpId="0"/>
      <p:bldP spid="125" grpId="0" animBg="1"/>
      <p:bldP spid="1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4AD8C-2BBB-5298-171E-D7417306C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862F368D-00C8-370E-0D34-06AC8695B38B}"/>
              </a:ext>
            </a:extLst>
          </p:cNvPr>
          <p:cNvSpPr/>
          <p:nvPr/>
        </p:nvSpPr>
        <p:spPr>
          <a:xfrm>
            <a:off x="508249" y="4597400"/>
            <a:ext cx="5337005" cy="1272382"/>
          </a:xfrm>
          <a:prstGeom prst="roundRect">
            <a:avLst>
              <a:gd name="adj" fmla="val 18045"/>
            </a:avLst>
          </a:prstGeom>
          <a:solidFill>
            <a:srgbClr val="DEEADE">
              <a:alpha val="40000"/>
            </a:srgbClr>
          </a:solidFill>
          <a:ln>
            <a:solidFill>
              <a:srgbClr val="59906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7ECA38-FA38-AA40-E11F-000D2FFBC5D1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90D7795-1252-02F4-B047-0DD68E428C05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CE4546AD-58B4-20E0-B411-82D9D1A35CA0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E49C25A5-0FAD-66DA-B7BE-F31113F61C82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183B4A1-3FC8-739E-7566-6B682A291EE7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B8D2AD11-1132-FD07-D7DB-32A89D3A1BE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CC821B19-6C81-DCB9-26C1-9CEDFC9D8058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53BF691E-2938-EC69-F361-69BB3A46B612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3261FA95-EE3C-CC38-A4C9-CBD22EF8E7F8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B1CDC79D-0EA1-F578-2009-1C132DB23ED3}"/>
              </a:ext>
            </a:extLst>
          </p:cNvPr>
          <p:cNvSpPr txBox="1"/>
          <p:nvPr/>
        </p:nvSpPr>
        <p:spPr>
          <a:xfrm>
            <a:off x="403900" y="797534"/>
            <a:ext cx="5197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模块二</a:t>
            </a:r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三：跨时域交互与影响度评估</a:t>
            </a: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126C46E4-9B00-A27E-1E5E-96514FD307D5}"/>
              </a:ext>
            </a:extLst>
          </p:cNvPr>
          <p:cNvCxnSpPr/>
          <p:nvPr/>
        </p:nvCxnSpPr>
        <p:spPr>
          <a:xfrm>
            <a:off x="508249" y="121669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011BB16-D355-B1B0-D4C7-6B5755B5BA57}"/>
              </a:ext>
            </a:extLst>
          </p:cNvPr>
          <p:cNvSpPr/>
          <p:nvPr/>
        </p:nvSpPr>
        <p:spPr>
          <a:xfrm>
            <a:off x="403900" y="1419624"/>
            <a:ext cx="5557319" cy="448264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0F759B0-A698-6F84-CD9C-BA6639F56540}"/>
              </a:ext>
            </a:extLst>
          </p:cNvPr>
          <p:cNvSpPr/>
          <p:nvPr/>
        </p:nvSpPr>
        <p:spPr>
          <a:xfrm>
            <a:off x="6209854" y="1419624"/>
            <a:ext cx="5578245" cy="448264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D795DE-A9B4-EF88-E690-D95466CCFE22}"/>
              </a:ext>
            </a:extLst>
          </p:cNvPr>
          <p:cNvSpPr txBox="1"/>
          <p:nvPr/>
        </p:nvSpPr>
        <p:spPr>
          <a:xfrm>
            <a:off x="1560752" y="1524876"/>
            <a:ext cx="3243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跨时域交互模块（</a:t>
            </a:r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ICD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ABEB064-F6E9-822D-F488-20B79A243FFF}"/>
              </a:ext>
            </a:extLst>
          </p:cNvPr>
          <p:cNvSpPr txBox="1"/>
          <p:nvPr/>
        </p:nvSpPr>
        <p:spPr>
          <a:xfrm>
            <a:off x="7618455" y="1524876"/>
            <a:ext cx="3053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意图影响度评估模块（</a:t>
            </a:r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IIE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8687A18-31D3-759B-F7B3-94DEBE46DAF6}"/>
              </a:ext>
            </a:extLst>
          </p:cNvPr>
          <p:cNvCxnSpPr>
            <a:cxnSpLocks/>
          </p:cNvCxnSpPr>
          <p:nvPr/>
        </p:nvCxnSpPr>
        <p:spPr>
          <a:xfrm>
            <a:off x="6096000" y="1469780"/>
            <a:ext cx="0" cy="432142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4014BB9D-EBBB-E354-E8E7-BEF62E393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04" y="2357904"/>
            <a:ext cx="5046446" cy="1667367"/>
          </a:xfrm>
          <a:prstGeom prst="rect">
            <a:avLst/>
          </a:prstGeom>
        </p:spPr>
      </p:pic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CE7F3219-B346-FF39-8820-79B5648E5407}"/>
              </a:ext>
            </a:extLst>
          </p:cNvPr>
          <p:cNvSpPr/>
          <p:nvPr/>
        </p:nvSpPr>
        <p:spPr>
          <a:xfrm>
            <a:off x="871429" y="1957270"/>
            <a:ext cx="1323611" cy="321156"/>
          </a:xfrm>
          <a:prstGeom prst="roundRect">
            <a:avLst>
              <a:gd name="adj" fmla="val 47157"/>
            </a:avLst>
          </a:prstGeom>
          <a:solidFill>
            <a:srgbClr val="DEEADE"/>
          </a:solidFill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DB57C67-62E6-8E23-40E7-DCD376D273DF}"/>
                  </a:ext>
                </a:extLst>
              </p:cNvPr>
              <p:cNvSpPr txBox="1"/>
              <p:nvPr/>
            </p:nvSpPr>
            <p:spPr>
              <a:xfrm>
                <a:off x="865267" y="1957270"/>
                <a:ext cx="139097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当前时域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DB57C67-62E6-8E23-40E7-DCD376D27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67" y="1957270"/>
                <a:ext cx="1390970" cy="307777"/>
              </a:xfrm>
              <a:prstGeom prst="rect">
                <a:avLst/>
              </a:prstGeom>
              <a:blipFill>
                <a:blip r:embed="rId5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7CFA017-9303-7F49-EA4F-D5329C080290}"/>
              </a:ext>
            </a:extLst>
          </p:cNvPr>
          <p:cNvSpPr/>
          <p:nvPr/>
        </p:nvSpPr>
        <p:spPr>
          <a:xfrm>
            <a:off x="4163341" y="1957270"/>
            <a:ext cx="1323611" cy="321156"/>
          </a:xfrm>
          <a:prstGeom prst="roundRect">
            <a:avLst>
              <a:gd name="adj" fmla="val 47157"/>
            </a:avLst>
          </a:prstGeom>
          <a:solidFill>
            <a:srgbClr val="DEEADE"/>
          </a:solidFill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770AA6A1-3889-6734-BC48-87E8C3ECE173}"/>
                  </a:ext>
                </a:extLst>
              </p:cNvPr>
              <p:cNvSpPr txBox="1"/>
              <p:nvPr/>
            </p:nvSpPr>
            <p:spPr>
              <a:xfrm>
                <a:off x="4157179" y="1957270"/>
                <a:ext cx="1390970" cy="328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未来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</m:oMath>
                </a14:m>
                <a:endPara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770AA6A1-3889-6734-BC48-87E8C3ECE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179" y="1957270"/>
                <a:ext cx="1390970" cy="328167"/>
              </a:xfrm>
              <a:prstGeom prst="rect">
                <a:avLst/>
              </a:prstGeom>
              <a:blipFill>
                <a:blip r:embed="rId6"/>
                <a:stretch>
                  <a:fillRect t="-3704" b="-12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" name="图片 80">
            <a:extLst>
              <a:ext uri="{FF2B5EF4-FFF2-40B4-BE49-F238E27FC236}">
                <a16:creationId xmlns:a16="http://schemas.microsoft.com/office/drawing/2014/main" id="{2E131869-F084-26C0-E756-2747E2406A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04" y="4165089"/>
            <a:ext cx="2343150" cy="307971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D11142F4-1572-D624-C2B4-377E7A998A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3260" y="4162334"/>
            <a:ext cx="2437169" cy="310726"/>
          </a:xfrm>
          <a:prstGeom prst="rect">
            <a:avLst/>
          </a:prstGeom>
        </p:spPr>
      </p:pic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F0D20D51-9BFE-9910-65FF-3B11B8A0CC83}"/>
              </a:ext>
            </a:extLst>
          </p:cNvPr>
          <p:cNvSpPr/>
          <p:nvPr/>
        </p:nvSpPr>
        <p:spPr>
          <a:xfrm>
            <a:off x="508249" y="4120781"/>
            <a:ext cx="5337005" cy="402496"/>
          </a:xfrm>
          <a:prstGeom prst="roundRect">
            <a:avLst>
              <a:gd name="adj" fmla="val 34033"/>
            </a:avLst>
          </a:prstGeom>
          <a:noFill/>
          <a:ln>
            <a:solidFill>
              <a:srgbClr val="59906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78F2E21B-8398-21DD-8559-B389C68499C7}"/>
              </a:ext>
            </a:extLst>
          </p:cNvPr>
          <p:cNvCxnSpPr/>
          <p:nvPr/>
        </p:nvCxnSpPr>
        <p:spPr>
          <a:xfrm>
            <a:off x="3111500" y="4206784"/>
            <a:ext cx="0" cy="231241"/>
          </a:xfrm>
          <a:prstGeom prst="line">
            <a:avLst/>
          </a:prstGeom>
          <a:ln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22E778F3-2BDE-92FC-CE58-0DDBFD15B1EC}"/>
              </a:ext>
            </a:extLst>
          </p:cNvPr>
          <p:cNvSpPr txBox="1"/>
          <p:nvPr/>
        </p:nvSpPr>
        <p:spPr>
          <a:xfrm>
            <a:off x="651004" y="4650363"/>
            <a:ext cx="399556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联合分析两个时域中的社会交互</a:t>
            </a:r>
            <a:endParaRPr lang="en-US" altLang="zh-CN" sz="14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u"/>
            </a:pPr>
            <a:endParaRPr lang="en-US" altLang="zh-CN" sz="14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u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利用另一时域信息修正本时域意图</a:t>
            </a:r>
            <a:endParaRPr lang="en-US" altLang="zh-CN" sz="14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u"/>
            </a:pPr>
            <a:endParaRPr lang="en-US" altLang="zh-CN" sz="14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u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实现语义互补与特征校正</a:t>
            </a:r>
            <a:endParaRPr lang="zh-CN" altLang="en-US" sz="1400" dirty="0"/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9FB007FA-6931-970C-DA33-FA2B12DC446A}"/>
              </a:ext>
            </a:extLst>
          </p:cNvPr>
          <p:cNvCxnSpPr/>
          <p:nvPr/>
        </p:nvCxnSpPr>
        <p:spPr>
          <a:xfrm>
            <a:off x="508249" y="5002150"/>
            <a:ext cx="5337005" cy="0"/>
          </a:xfrm>
          <a:prstGeom prst="line">
            <a:avLst/>
          </a:prstGeom>
          <a:ln w="12700">
            <a:solidFill>
              <a:srgbClr val="599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E6C5CFB2-78A1-4B65-6EA4-ED176058C723}"/>
              </a:ext>
            </a:extLst>
          </p:cNvPr>
          <p:cNvCxnSpPr/>
          <p:nvPr/>
        </p:nvCxnSpPr>
        <p:spPr>
          <a:xfrm>
            <a:off x="508249" y="5426013"/>
            <a:ext cx="5337005" cy="0"/>
          </a:xfrm>
          <a:prstGeom prst="line">
            <a:avLst/>
          </a:prstGeom>
          <a:ln w="12700">
            <a:solidFill>
              <a:srgbClr val="599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2" name="图片 131">
            <a:extLst>
              <a:ext uri="{FF2B5EF4-FFF2-40B4-BE49-F238E27FC236}">
                <a16:creationId xmlns:a16="http://schemas.microsoft.com/office/drawing/2014/main" id="{1156FCC7-6868-22AA-F532-473A0AB135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0063" y="2060272"/>
            <a:ext cx="5457825" cy="2266950"/>
          </a:xfrm>
          <a:prstGeom prst="rect">
            <a:avLst/>
          </a:prstGeom>
        </p:spPr>
      </p:pic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30C096D2-0E98-AA79-441A-EBD758AE0714}"/>
              </a:ext>
            </a:extLst>
          </p:cNvPr>
          <p:cNvSpPr/>
          <p:nvPr/>
        </p:nvSpPr>
        <p:spPr>
          <a:xfrm>
            <a:off x="6302917" y="4597400"/>
            <a:ext cx="5337005" cy="1272382"/>
          </a:xfrm>
          <a:prstGeom prst="roundRect">
            <a:avLst>
              <a:gd name="adj" fmla="val 18045"/>
            </a:avLst>
          </a:prstGeom>
          <a:solidFill>
            <a:srgbClr val="DEEADE">
              <a:alpha val="40000"/>
            </a:srgbClr>
          </a:solidFill>
          <a:ln>
            <a:solidFill>
              <a:srgbClr val="59906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2F1DC228-093F-E69A-D2AC-5CD9B2DAA5CE}"/>
              </a:ext>
            </a:extLst>
          </p:cNvPr>
          <p:cNvSpPr txBox="1"/>
          <p:nvPr/>
        </p:nvSpPr>
        <p:spPr>
          <a:xfrm>
            <a:off x="6445672" y="4650363"/>
            <a:ext cx="399556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学习不同时间域信息的重要程度</a:t>
            </a:r>
            <a:endParaRPr lang="en-US" altLang="zh-CN" sz="14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u"/>
            </a:pPr>
            <a:endParaRPr lang="en-US" altLang="zh-CN" sz="14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u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优先关注对目标车影响更大的主体</a:t>
            </a:r>
            <a:endParaRPr lang="en-US" altLang="zh-CN" sz="14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u"/>
            </a:pPr>
            <a:endParaRPr lang="en-US" altLang="zh-CN" sz="14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u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实现更细粒度的社会交互建模</a:t>
            </a:r>
            <a:endParaRPr lang="zh-CN" altLang="en-US" sz="1400" dirty="0"/>
          </a:p>
        </p:txBody>
      </p: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FD445C51-A617-0BC0-8339-1002202472C2}"/>
              </a:ext>
            </a:extLst>
          </p:cNvPr>
          <p:cNvCxnSpPr/>
          <p:nvPr/>
        </p:nvCxnSpPr>
        <p:spPr>
          <a:xfrm>
            <a:off x="6302917" y="5002150"/>
            <a:ext cx="5337005" cy="0"/>
          </a:xfrm>
          <a:prstGeom prst="line">
            <a:avLst/>
          </a:prstGeom>
          <a:ln w="12700">
            <a:solidFill>
              <a:srgbClr val="599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83C23783-9307-8921-1B6E-97F2D67DF1E5}"/>
              </a:ext>
            </a:extLst>
          </p:cNvPr>
          <p:cNvCxnSpPr/>
          <p:nvPr/>
        </p:nvCxnSpPr>
        <p:spPr>
          <a:xfrm>
            <a:off x="6302917" y="5426013"/>
            <a:ext cx="5337005" cy="0"/>
          </a:xfrm>
          <a:prstGeom prst="line">
            <a:avLst/>
          </a:prstGeom>
          <a:ln w="12700">
            <a:solidFill>
              <a:srgbClr val="599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3AD6D10B-AB8F-921F-8F14-E4398F6A7357}"/>
              </a:ext>
            </a:extLst>
          </p:cNvPr>
          <p:cNvSpPr/>
          <p:nvPr/>
        </p:nvSpPr>
        <p:spPr>
          <a:xfrm>
            <a:off x="-323850" y="6053512"/>
            <a:ext cx="12744449" cy="6588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1492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CA8F80FA-F90B-7403-8561-D3BA9D4F831D}"/>
              </a:ext>
            </a:extLst>
          </p:cNvPr>
          <p:cNvSpPr txBox="1"/>
          <p:nvPr/>
        </p:nvSpPr>
        <p:spPr>
          <a:xfrm>
            <a:off x="926306" y="6185837"/>
            <a:ext cx="10339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ICD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负责“跨时域交互修正”，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IIE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负责“影响优先级分配”</a:t>
            </a:r>
          </a:p>
        </p:txBody>
      </p:sp>
      <p:sp>
        <p:nvSpPr>
          <p:cNvPr id="97" name="灯片编号占位符 96">
            <a:extLst>
              <a:ext uri="{FF2B5EF4-FFF2-40B4-BE49-F238E27FC236}">
                <a16:creationId xmlns:a16="http://schemas.microsoft.com/office/drawing/2014/main" id="{91BD8E17-18AE-B3B6-EB2B-7E4F165F8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smtClean="0"/>
              <a:pPr/>
              <a:t>8</a:t>
            </a:fld>
            <a:r>
              <a:rPr lang="en-US" altLang="zh-CN" dirty="0"/>
              <a:t>/21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76920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1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CE077-CE8A-8427-D48F-85A180D9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1AF1B72-23D8-6131-952C-4C0C44499989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46DA000-988F-7B8C-2D15-3BCD24DF5836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F0B87D26-9487-586E-6E20-6E5B2CD87EE7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79F3F172-6D0D-C958-5063-067598F441F1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69B585-1840-61E8-2CDD-1A86010A796B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99EC8B5C-95C1-A16E-B72F-5E4F5770B77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96CA4A6C-3A1B-45F4-AE5B-045BC99AFA8B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D525934B-6ED5-55E0-19E6-2D4EF4F81F91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DAEBE696-62F0-4F91-6853-778778658E7B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3DE8FA45-E735-5A88-35FF-90F19FCD7969}"/>
              </a:ext>
            </a:extLst>
          </p:cNvPr>
          <p:cNvSpPr txBox="1"/>
          <p:nvPr/>
        </p:nvSpPr>
        <p:spPr>
          <a:xfrm>
            <a:off x="403900" y="797534"/>
            <a:ext cx="5197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模块四：融合解码与训练策略</a:t>
            </a: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775FFB1B-3337-7280-801B-3E54E5093B63}"/>
              </a:ext>
            </a:extLst>
          </p:cNvPr>
          <p:cNvCxnSpPr/>
          <p:nvPr/>
        </p:nvCxnSpPr>
        <p:spPr>
          <a:xfrm>
            <a:off x="508249" y="121669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5645DD4-D218-2E1F-51C2-92FBB7AE0ECA}"/>
              </a:ext>
            </a:extLst>
          </p:cNvPr>
          <p:cNvSpPr/>
          <p:nvPr/>
        </p:nvSpPr>
        <p:spPr>
          <a:xfrm>
            <a:off x="403900" y="1419624"/>
            <a:ext cx="5557319" cy="448264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B8B8C57-6BA6-8625-0094-10A0D8CE8F1E}"/>
              </a:ext>
            </a:extLst>
          </p:cNvPr>
          <p:cNvSpPr/>
          <p:nvPr/>
        </p:nvSpPr>
        <p:spPr>
          <a:xfrm>
            <a:off x="6209854" y="1419624"/>
            <a:ext cx="5578245" cy="1414889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D31DE6FF-C924-2D58-FED5-F9FB520BA975}"/>
              </a:ext>
            </a:extLst>
          </p:cNvPr>
          <p:cNvSpPr txBox="1"/>
          <p:nvPr/>
        </p:nvSpPr>
        <p:spPr>
          <a:xfrm>
            <a:off x="6133680" y="1524876"/>
            <a:ext cx="1687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训练目标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3BD3657-F1F0-534F-D8A4-8A04C1258E08}"/>
              </a:ext>
            </a:extLst>
          </p:cNvPr>
          <p:cNvCxnSpPr>
            <a:cxnSpLocks/>
          </p:cNvCxnSpPr>
          <p:nvPr/>
        </p:nvCxnSpPr>
        <p:spPr>
          <a:xfrm>
            <a:off x="6096000" y="1469780"/>
            <a:ext cx="0" cy="432142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28EE1A6D-F5CC-4FAF-CD0F-966D8D59806B}"/>
              </a:ext>
            </a:extLst>
          </p:cNvPr>
          <p:cNvSpPr/>
          <p:nvPr/>
        </p:nvSpPr>
        <p:spPr>
          <a:xfrm>
            <a:off x="701167" y="1653246"/>
            <a:ext cx="2114829" cy="781009"/>
          </a:xfrm>
          <a:prstGeom prst="roundRect">
            <a:avLst>
              <a:gd name="adj" fmla="val 14367"/>
            </a:avLst>
          </a:prstGeom>
          <a:solidFill>
            <a:srgbClr val="F7F8F7"/>
          </a:solidFill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B4FE1E5B-7AE8-4473-8488-074B6978F0FD}"/>
              </a:ext>
            </a:extLst>
          </p:cNvPr>
          <p:cNvSpPr/>
          <p:nvPr/>
        </p:nvSpPr>
        <p:spPr>
          <a:xfrm>
            <a:off x="-323850" y="6053512"/>
            <a:ext cx="12744449" cy="6588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1492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E630FF46-16E2-5A94-F2E0-A637D0A43FE8}"/>
              </a:ext>
            </a:extLst>
          </p:cNvPr>
          <p:cNvSpPr txBox="1"/>
          <p:nvPr/>
        </p:nvSpPr>
        <p:spPr>
          <a:xfrm>
            <a:off x="926306" y="6185837"/>
            <a:ext cx="10339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兼顾预测精度、条件建模能力与工程可部署性</a:t>
            </a:r>
          </a:p>
        </p:txBody>
      </p:sp>
      <p:sp>
        <p:nvSpPr>
          <p:cNvPr id="97" name="灯片编号占位符 96">
            <a:extLst>
              <a:ext uri="{FF2B5EF4-FFF2-40B4-BE49-F238E27FC236}">
                <a16:creationId xmlns:a16="http://schemas.microsoft.com/office/drawing/2014/main" id="{5F96BC5B-35E8-F8EF-7EE5-439CE6CDD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smtClean="0"/>
              <a:pPr/>
              <a:t>9</a:t>
            </a:fld>
            <a:r>
              <a:rPr lang="en-US" altLang="zh-CN" dirty="0"/>
              <a:t>/21</a:t>
            </a:r>
            <a:endParaRPr lang="zh-CN" altLang="en-US" b="1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1F6991D-E84D-36D7-3C8D-36B52A617639}"/>
              </a:ext>
            </a:extLst>
          </p:cNvPr>
          <p:cNvSpPr/>
          <p:nvPr/>
        </p:nvSpPr>
        <p:spPr>
          <a:xfrm>
            <a:off x="3486150" y="1653246"/>
            <a:ext cx="2114829" cy="781009"/>
          </a:xfrm>
          <a:prstGeom prst="roundRect">
            <a:avLst>
              <a:gd name="adj" fmla="val 14367"/>
            </a:avLst>
          </a:prstGeom>
          <a:solidFill>
            <a:srgbClr val="F7F8F7"/>
          </a:solidFill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05CBE18-2861-5863-FA43-449583DF61E6}"/>
              </a:ext>
            </a:extLst>
          </p:cNvPr>
          <p:cNvSpPr/>
          <p:nvPr/>
        </p:nvSpPr>
        <p:spPr>
          <a:xfrm>
            <a:off x="701167" y="2688458"/>
            <a:ext cx="4899812" cy="369333"/>
          </a:xfrm>
          <a:prstGeom prst="roundRect">
            <a:avLst>
              <a:gd name="adj" fmla="val 14367"/>
            </a:avLst>
          </a:prstGeom>
          <a:solidFill>
            <a:srgbClr val="F7F8F7"/>
          </a:solidFill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7ED7756-BC11-AAD5-97F7-BFBD39A544F5}"/>
              </a:ext>
            </a:extLst>
          </p:cNvPr>
          <p:cNvSpPr/>
          <p:nvPr/>
        </p:nvSpPr>
        <p:spPr>
          <a:xfrm>
            <a:off x="701167" y="4349270"/>
            <a:ext cx="4899812" cy="370887"/>
          </a:xfrm>
          <a:prstGeom prst="roundRect">
            <a:avLst>
              <a:gd name="adj" fmla="val 14367"/>
            </a:avLst>
          </a:prstGeom>
          <a:solidFill>
            <a:srgbClr val="F7F8F7"/>
          </a:solidFill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528074E-7F3E-C8E2-B1A0-C407AD6FFF83}"/>
              </a:ext>
            </a:extLst>
          </p:cNvPr>
          <p:cNvSpPr/>
          <p:nvPr/>
        </p:nvSpPr>
        <p:spPr>
          <a:xfrm>
            <a:off x="701167" y="4911799"/>
            <a:ext cx="4899812" cy="820355"/>
          </a:xfrm>
          <a:prstGeom prst="roundRect">
            <a:avLst>
              <a:gd name="adj" fmla="val 14367"/>
            </a:avLst>
          </a:prstGeom>
          <a:solidFill>
            <a:srgbClr val="F7F8F7"/>
          </a:solidFill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E0E4D00-AEB5-AE77-1269-96602D2CEA98}"/>
              </a:ext>
            </a:extLst>
          </p:cNvPr>
          <p:cNvSpPr/>
          <p:nvPr/>
        </p:nvSpPr>
        <p:spPr>
          <a:xfrm>
            <a:off x="701167" y="3278327"/>
            <a:ext cx="4899812" cy="879302"/>
          </a:xfrm>
          <a:prstGeom prst="roundRect">
            <a:avLst>
              <a:gd name="adj" fmla="val 14367"/>
            </a:avLst>
          </a:prstGeom>
          <a:solidFill>
            <a:srgbClr val="F7F8F7"/>
          </a:solidFill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C587D47-E407-6833-A98D-08FF208A3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884" y="2015886"/>
            <a:ext cx="1476375" cy="35242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9F5B8BA-A819-30BB-C976-53897997C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363" y="1929486"/>
            <a:ext cx="1223824" cy="4866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FF782B4-0AAF-A040-4C26-7A60194B0BC1}"/>
                  </a:ext>
                </a:extLst>
              </p:cNvPr>
              <p:cNvSpPr txBox="1"/>
              <p:nvPr/>
            </p:nvSpPr>
            <p:spPr>
              <a:xfrm>
                <a:off x="873628" y="1669153"/>
                <a:ext cx="180688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精炼意图表示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𝑰</m:t>
                    </m:r>
                  </m:oMath>
                </a14:m>
                <a:endPara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FF782B4-0AAF-A040-4C26-7A60194B0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628" y="1669153"/>
                <a:ext cx="1806885" cy="338554"/>
              </a:xfrm>
              <a:prstGeom prst="rect">
                <a:avLst/>
              </a:prstGeom>
              <a:blipFill>
                <a:blip r:embed="rId6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1559916-6943-6477-7E6A-FF684DF375E8}"/>
                  </a:ext>
                </a:extLst>
              </p:cNvPr>
              <p:cNvSpPr txBox="1"/>
              <p:nvPr/>
            </p:nvSpPr>
            <p:spPr>
              <a:xfrm>
                <a:off x="3538676" y="1669153"/>
                <a:ext cx="201501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chemeClr val="tx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加权</a:t>
                </a:r>
                <a:r>
                  <a:rPr lang="en-US" altLang="zh-CN" sz="1600" b="1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social context</a:t>
                </a:r>
                <a:r>
                  <a:rPr lang="zh-CN" altLang="en-US" sz="1600" b="1" dirty="0">
                    <a:solidFill>
                      <a:schemeClr val="tx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endPara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1559916-6943-6477-7E6A-FF684DF37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676" y="1669153"/>
                <a:ext cx="2015010" cy="338554"/>
              </a:xfrm>
              <a:prstGeom prst="rect">
                <a:avLst/>
              </a:prstGeom>
              <a:blipFill>
                <a:blip r:embed="rId7"/>
                <a:stretch>
                  <a:fillRect t="-7273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EBA1BDB7-7C57-1C59-0CC2-51EE2D28DFB0}"/>
              </a:ext>
            </a:extLst>
          </p:cNvPr>
          <p:cNvSpPr txBox="1"/>
          <p:nvPr/>
        </p:nvSpPr>
        <p:spPr>
          <a:xfrm>
            <a:off x="1931018" y="2706331"/>
            <a:ext cx="25030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特征拼接 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FCN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融合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C46BD37-2086-35FB-FFFC-A796072263B4}"/>
              </a:ext>
            </a:extLst>
          </p:cNvPr>
          <p:cNvSpPr txBox="1"/>
          <p:nvPr/>
        </p:nvSpPr>
        <p:spPr>
          <a:xfrm>
            <a:off x="1531988" y="3325736"/>
            <a:ext cx="32381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Maneuver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分类（横向 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纵向）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6AD72D4-2D3C-9FAB-F30D-4ED0201A98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8697" y="3630435"/>
            <a:ext cx="232586" cy="508782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7E8150D-1826-6F2C-4DF3-6670A095EE35}"/>
              </a:ext>
            </a:extLst>
          </p:cNvPr>
          <p:cNvCxnSpPr/>
          <p:nvPr/>
        </p:nvCxnSpPr>
        <p:spPr>
          <a:xfrm>
            <a:off x="3146425" y="3787684"/>
            <a:ext cx="0" cy="231241"/>
          </a:xfrm>
          <a:prstGeom prst="line">
            <a:avLst/>
          </a:prstGeom>
          <a:ln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7A1DA2E-5CB4-621C-1A96-E7C12DBAEDD9}"/>
              </a:ext>
            </a:extLst>
          </p:cNvPr>
          <p:cNvCxnSpPr>
            <a:cxnSpLocks/>
          </p:cNvCxnSpPr>
          <p:nvPr/>
        </p:nvCxnSpPr>
        <p:spPr>
          <a:xfrm flipV="1">
            <a:off x="2192572" y="3647450"/>
            <a:ext cx="0" cy="448300"/>
          </a:xfrm>
          <a:prstGeom prst="straightConnector1">
            <a:avLst/>
          </a:prstGeom>
          <a:ln w="19050">
            <a:solidFill>
              <a:srgbClr val="01492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6843640D-B2D8-11C7-E5B2-9FB3172659C4}"/>
              </a:ext>
            </a:extLst>
          </p:cNvPr>
          <p:cNvCxnSpPr>
            <a:cxnSpLocks/>
          </p:cNvCxnSpPr>
          <p:nvPr/>
        </p:nvCxnSpPr>
        <p:spPr>
          <a:xfrm flipV="1">
            <a:off x="2366403" y="3787684"/>
            <a:ext cx="0" cy="308066"/>
          </a:xfrm>
          <a:prstGeom prst="straightConnector1">
            <a:avLst/>
          </a:prstGeom>
          <a:ln w="19050">
            <a:solidFill>
              <a:srgbClr val="01492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AA7AC511-B545-C368-3E09-5EFBA5570A94}"/>
              </a:ext>
            </a:extLst>
          </p:cNvPr>
          <p:cNvCxnSpPr>
            <a:cxnSpLocks/>
          </p:cNvCxnSpPr>
          <p:nvPr/>
        </p:nvCxnSpPr>
        <p:spPr>
          <a:xfrm flipV="1">
            <a:off x="2537853" y="3948113"/>
            <a:ext cx="0" cy="147637"/>
          </a:xfrm>
          <a:prstGeom prst="straightConnector1">
            <a:avLst/>
          </a:prstGeom>
          <a:ln w="19050">
            <a:solidFill>
              <a:srgbClr val="01492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581647BD-BC15-06DB-36C8-1C135D30D1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8047" y="3630435"/>
            <a:ext cx="232586" cy="508782"/>
          </a:xfrm>
          <a:prstGeom prst="rect">
            <a:avLst/>
          </a:prstGeom>
        </p:spPr>
      </p:pic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E534BCC4-C63C-00D8-9713-26D131930649}"/>
              </a:ext>
            </a:extLst>
          </p:cNvPr>
          <p:cNvCxnSpPr>
            <a:cxnSpLocks/>
          </p:cNvCxnSpPr>
          <p:nvPr/>
        </p:nvCxnSpPr>
        <p:spPr>
          <a:xfrm flipH="1">
            <a:off x="3632200" y="3876675"/>
            <a:ext cx="285053" cy="0"/>
          </a:xfrm>
          <a:prstGeom prst="straightConnector1">
            <a:avLst/>
          </a:prstGeom>
          <a:ln w="19050">
            <a:solidFill>
              <a:srgbClr val="01492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59DB793C-9D9A-7390-F87D-30FA0FB523BD}"/>
              </a:ext>
            </a:extLst>
          </p:cNvPr>
          <p:cNvCxnSpPr>
            <a:cxnSpLocks/>
          </p:cNvCxnSpPr>
          <p:nvPr/>
        </p:nvCxnSpPr>
        <p:spPr>
          <a:xfrm>
            <a:off x="4349053" y="3876675"/>
            <a:ext cx="299147" cy="0"/>
          </a:xfrm>
          <a:prstGeom prst="straightConnector1">
            <a:avLst/>
          </a:prstGeom>
          <a:ln w="19050">
            <a:solidFill>
              <a:srgbClr val="01492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0FF460A9-4323-110A-07DE-07B111092E1C}"/>
              </a:ext>
            </a:extLst>
          </p:cNvPr>
          <p:cNvSpPr txBox="1"/>
          <p:nvPr/>
        </p:nvSpPr>
        <p:spPr>
          <a:xfrm>
            <a:off x="1903283" y="4361891"/>
            <a:ext cx="25030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LSTM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轨迹解码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D1F866E-CAA0-A46D-DDEB-54D709A33926}"/>
              </a:ext>
            </a:extLst>
          </p:cNvPr>
          <p:cNvSpPr txBox="1"/>
          <p:nvPr/>
        </p:nvSpPr>
        <p:spPr>
          <a:xfrm>
            <a:off x="784228" y="5151212"/>
            <a:ext cx="19487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多模态未来轨迹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E967273C-D7D0-DB28-4808-0CA2A6F07D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5996" y="5049686"/>
            <a:ext cx="2582440" cy="541606"/>
          </a:xfrm>
          <a:prstGeom prst="rect">
            <a:avLst/>
          </a:prstGeom>
        </p:spPr>
      </p:pic>
      <p:sp>
        <p:nvSpPr>
          <p:cNvPr id="94" name="加号 93">
            <a:extLst>
              <a:ext uri="{FF2B5EF4-FFF2-40B4-BE49-F238E27FC236}">
                <a16:creationId xmlns:a16="http://schemas.microsoft.com/office/drawing/2014/main" id="{251B03C3-C622-7018-93B0-10878231096A}"/>
              </a:ext>
            </a:extLst>
          </p:cNvPr>
          <p:cNvSpPr/>
          <p:nvPr/>
        </p:nvSpPr>
        <p:spPr>
          <a:xfrm>
            <a:off x="3012675" y="1903032"/>
            <a:ext cx="277366" cy="277366"/>
          </a:xfrm>
          <a:prstGeom prst="mathPlus">
            <a:avLst>
              <a:gd name="adj1" fmla="val 10856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8997BDED-A2F2-D7A0-293B-F0CF3286F467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151073" y="2416153"/>
            <a:ext cx="0" cy="272305"/>
          </a:xfrm>
          <a:prstGeom prst="straightConnector1">
            <a:avLst/>
          </a:prstGeom>
          <a:ln w="38100">
            <a:solidFill>
              <a:srgbClr val="0149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F977606-357E-3FB6-2F6E-D957CA6F4EB3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3151073" y="3057791"/>
            <a:ext cx="0" cy="220536"/>
          </a:xfrm>
          <a:prstGeom prst="straightConnector1">
            <a:avLst/>
          </a:prstGeom>
          <a:ln w="38100">
            <a:solidFill>
              <a:srgbClr val="0149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9995E0EF-BDE1-42FD-7192-2867549088D5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3151073" y="4157629"/>
            <a:ext cx="0" cy="191641"/>
          </a:xfrm>
          <a:prstGeom prst="straightConnector1">
            <a:avLst/>
          </a:prstGeom>
          <a:ln w="38100">
            <a:solidFill>
              <a:srgbClr val="0149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5E32EDFD-791E-2F94-DC7E-AA6B2346D282}"/>
              </a:ext>
            </a:extLst>
          </p:cNvPr>
          <p:cNvCxnSpPr>
            <a:cxnSpLocks/>
          </p:cNvCxnSpPr>
          <p:nvPr/>
        </p:nvCxnSpPr>
        <p:spPr>
          <a:xfrm>
            <a:off x="3151073" y="4720158"/>
            <a:ext cx="0" cy="191641"/>
          </a:xfrm>
          <a:prstGeom prst="straightConnector1">
            <a:avLst/>
          </a:prstGeom>
          <a:ln w="38100">
            <a:solidFill>
              <a:srgbClr val="0149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49E4A910-C2C4-AD9E-192E-E1295A6F25B4}"/>
              </a:ext>
            </a:extLst>
          </p:cNvPr>
          <p:cNvSpPr/>
          <p:nvPr/>
        </p:nvSpPr>
        <p:spPr>
          <a:xfrm>
            <a:off x="6209854" y="4487378"/>
            <a:ext cx="5578245" cy="1414889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A50B9C64-0430-D2B2-3681-B6DBE41D10D1}"/>
              </a:ext>
            </a:extLst>
          </p:cNvPr>
          <p:cNvSpPr/>
          <p:nvPr/>
        </p:nvSpPr>
        <p:spPr>
          <a:xfrm>
            <a:off x="6209854" y="2953500"/>
            <a:ext cx="5578245" cy="1414889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3" name="图片 112">
            <a:extLst>
              <a:ext uri="{FF2B5EF4-FFF2-40B4-BE49-F238E27FC236}">
                <a16:creationId xmlns:a16="http://schemas.microsoft.com/office/drawing/2014/main" id="{BC2A6BFB-26D2-FBB6-604F-25924FAC7B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2930" y="2228799"/>
            <a:ext cx="3716389" cy="544993"/>
          </a:xfrm>
          <a:prstGeom prst="rect">
            <a:avLst/>
          </a:prstGeom>
        </p:spPr>
      </p:pic>
      <p:sp>
        <p:nvSpPr>
          <p:cNvPr id="114" name="文本框 113">
            <a:extLst>
              <a:ext uri="{FF2B5EF4-FFF2-40B4-BE49-F238E27FC236}">
                <a16:creationId xmlns:a16="http://schemas.microsoft.com/office/drawing/2014/main" id="{9C65934C-1EE5-D675-DAFE-4C7714D0CC5F}"/>
              </a:ext>
            </a:extLst>
          </p:cNvPr>
          <p:cNvSpPr txBox="1"/>
          <p:nvPr/>
        </p:nvSpPr>
        <p:spPr>
          <a:xfrm>
            <a:off x="6420432" y="1894208"/>
            <a:ext cx="367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最小化真实</a:t>
            </a:r>
            <a:r>
              <a:rPr lang="en-US" altLang="zh-CN" sz="1400" dirty="0">
                <a:ea typeface="黑体" panose="02010609060101010101" pitchFamily="49" charset="-122"/>
                <a:cs typeface="Times New Roman" panose="02020603050405020304" pitchFamily="18" charset="0"/>
              </a:rPr>
              <a:t>maneuver</a:t>
            </a: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下的负对数似然</a:t>
            </a:r>
            <a:r>
              <a:rPr lang="en-US" altLang="zh-CN" sz="1400" dirty="0">
                <a:ea typeface="黑体" panose="02010609060101010101" pitchFamily="49" charset="-122"/>
                <a:cs typeface="Times New Roman" panose="02020603050405020304" pitchFamily="18" charset="0"/>
              </a:rPr>
              <a:t>NLL</a:t>
            </a:r>
            <a:endParaRPr lang="zh-CN" altLang="en-US" sz="14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42EE32C-3333-108C-820B-FF084E2A5A77}"/>
              </a:ext>
            </a:extLst>
          </p:cNvPr>
          <p:cNvSpPr txBox="1"/>
          <p:nvPr/>
        </p:nvSpPr>
        <p:spPr>
          <a:xfrm>
            <a:off x="6133680" y="3071580"/>
            <a:ext cx="1687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部署方式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E69896A8-0667-53AE-B23C-9FEB0AF20F36}"/>
              </a:ext>
            </a:extLst>
          </p:cNvPr>
          <p:cNvSpPr txBox="1"/>
          <p:nvPr/>
        </p:nvSpPr>
        <p:spPr>
          <a:xfrm>
            <a:off x="6420432" y="3481414"/>
            <a:ext cx="42395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测试时仅需粗粒度自车未来意图</a:t>
            </a:r>
            <a:endParaRPr lang="en-US" altLang="zh-CN" sz="14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将自车未来轨迹下采样至</a:t>
            </a:r>
            <a:r>
              <a:rPr lang="en-US" altLang="zh-CN" sz="1400" dirty="0">
                <a:ea typeface="黑体" panose="02010609060101010101" pitchFamily="49" charset="-122"/>
                <a:cs typeface="Times New Roman" panose="02020603050405020304" pitchFamily="18" charset="0"/>
              </a:rPr>
              <a:t>1Hz</a:t>
            </a: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400" dirty="0"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帧）仍保持有效</a:t>
            </a:r>
            <a:endParaRPr lang="en-US" altLang="zh-CN" sz="14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便于与下游规划模块衔接</a:t>
            </a:r>
            <a:endParaRPr lang="zh-CN" altLang="en-US" sz="14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7C825F9E-0FCA-5DC3-3E41-ECE2849DF3FE}"/>
              </a:ext>
            </a:extLst>
          </p:cNvPr>
          <p:cNvSpPr txBox="1"/>
          <p:nvPr/>
        </p:nvSpPr>
        <p:spPr>
          <a:xfrm>
            <a:off x="6133680" y="4642702"/>
            <a:ext cx="1687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实验细节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EF694397-2883-46AE-E4D2-25657A8D522B}"/>
              </a:ext>
            </a:extLst>
          </p:cNvPr>
          <p:cNvSpPr txBox="1"/>
          <p:nvPr/>
        </p:nvSpPr>
        <p:spPr>
          <a:xfrm>
            <a:off x="6420432" y="5052536"/>
            <a:ext cx="42395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历史观测 </a:t>
            </a:r>
            <a:r>
              <a:rPr lang="en-US" altLang="zh-CN" sz="1400" dirty="0">
                <a:ea typeface="黑体" panose="02010609060101010101" pitchFamily="49" charset="-122"/>
                <a:cs typeface="Times New Roman" panose="02020603050405020304" pitchFamily="18" charset="0"/>
              </a:rPr>
              <a:t>3s</a:t>
            </a: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400" dirty="0">
                <a:ea typeface="黑体" panose="02010609060101010101" pitchFamily="49" charset="-122"/>
                <a:cs typeface="Times New Roman" panose="02020603050405020304" pitchFamily="18" charset="0"/>
              </a:rPr>
              <a:t>15</a:t>
            </a: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帧）</a:t>
            </a:r>
            <a:endParaRPr lang="en-US" altLang="zh-CN" sz="14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预测时域 </a:t>
            </a:r>
            <a:r>
              <a:rPr lang="en-US" altLang="zh-CN" sz="1400" dirty="0">
                <a:ea typeface="黑体" panose="02010609060101010101" pitchFamily="49" charset="-122"/>
                <a:cs typeface="Times New Roman" panose="02020603050405020304" pitchFamily="18" charset="0"/>
              </a:rPr>
              <a:t>5s</a:t>
            </a: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400" dirty="0">
                <a:ea typeface="黑体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帧）</a:t>
            </a:r>
            <a:endParaRPr lang="en-US" altLang="zh-CN" sz="14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目标区域 </a:t>
            </a:r>
            <a:r>
              <a:rPr lang="en-US" altLang="zh-CN" sz="1400" dirty="0">
                <a:ea typeface="黑体" panose="02010609060101010101" pitchFamily="49" charset="-122"/>
                <a:cs typeface="Times New Roman" panose="02020603050405020304" pitchFamily="18" charset="0"/>
              </a:rPr>
              <a:t>200×35 feet</a:t>
            </a: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，离散为 </a:t>
            </a:r>
            <a:r>
              <a:rPr lang="en-US" altLang="zh-CN" sz="1400" dirty="0">
                <a:ea typeface="黑体" panose="02010609060101010101" pitchFamily="49" charset="-122"/>
                <a:cs typeface="Times New Roman" panose="02020603050405020304" pitchFamily="18" charset="0"/>
              </a:rPr>
              <a:t>25×5 </a:t>
            </a:r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网格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0399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1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756BD-CF68-BC61-6879-692DDDFD4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375650C6-488B-60B3-2FC9-401E8FB457D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8684165-05F9-404B-E3E1-DCAA1FFAE801}"/>
              </a:ext>
            </a:extLst>
          </p:cNvPr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BA1FDC2-E6D7-9341-DE17-5ED752F550CA}"/>
              </a:ext>
            </a:extLst>
          </p:cNvPr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09B8805-4090-5A73-DE1D-1F2D012D8D23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B9D1AF7-DAA7-AEBC-D5E9-F6FC70CEF3B7}"/>
                </a:ext>
              </a:extLst>
            </p:cNvPr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CEE1FA4C-1F6A-944F-A0F5-5ACB4EBF9A9D}"/>
              </a:ext>
            </a:extLst>
          </p:cNvPr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D0AEB6-7568-B702-08A4-4347DF5BFFC9}"/>
              </a:ext>
            </a:extLst>
          </p:cNvPr>
          <p:cNvSpPr/>
          <p:nvPr/>
        </p:nvSpPr>
        <p:spPr>
          <a:xfrm>
            <a:off x="2956584" y="3612031"/>
            <a:ext cx="2282413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Results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B3FF8FF-1B8D-BE71-3E4B-E69F6A50901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815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234BF8-C90F-90CE-06C8-80CE78D9E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94684E5-10C3-3888-B0F7-779480FA4C1A}"/>
              </a:ext>
            </a:extLst>
          </p:cNvPr>
          <p:cNvSpPr/>
          <p:nvPr/>
        </p:nvSpPr>
        <p:spPr>
          <a:xfrm>
            <a:off x="3894706" y="842227"/>
            <a:ext cx="6838950" cy="473193"/>
          </a:xfrm>
          <a:prstGeom prst="roundRect">
            <a:avLst>
              <a:gd name="adj" fmla="val 14367"/>
            </a:avLst>
          </a:prstGeom>
          <a:solidFill>
            <a:srgbClr val="F7F8F7"/>
          </a:solidFill>
          <a:ln>
            <a:solidFill>
              <a:srgbClr val="37AD6B">
                <a:alpha val="3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32AD337-D487-AFD1-93BA-8FBDB2C86F6C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8A0CE08F-F7E2-553D-FF0E-EFFCE472087D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012E82CE-77EE-0331-2756-717B8657BE73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0616067-4DF2-34F2-E9D3-CDFD5A1A1C0C}"/>
                </a:ext>
              </a:extLst>
            </p:cNvPr>
            <p:cNvSpPr/>
            <p:nvPr/>
          </p:nvSpPr>
          <p:spPr>
            <a:xfrm>
              <a:off x="2670365" y="239783"/>
              <a:ext cx="1579399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Results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2A9DE238-DE9E-A58E-8675-4D71E14D86F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18E5F1C-0A9E-E486-E556-35080530B1D0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FF50C7A-3A54-BB9C-558C-40372FEA6BF3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6" name="圆角矩形 4">
              <a:extLst>
                <a:ext uri="{FF2B5EF4-FFF2-40B4-BE49-F238E27FC236}">
                  <a16:creationId xmlns:a16="http://schemas.microsoft.com/office/drawing/2014/main" id="{B1AB7D72-B539-F2D0-D692-7CC91842770D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B4C569B-B33A-EF9C-6DF7-270D3A1B1B9D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81A5CC-4043-CF97-BF27-B1C9E6D78615}"/>
              </a:ext>
            </a:extLst>
          </p:cNvPr>
          <p:cNvSpPr txBox="1"/>
          <p:nvPr/>
        </p:nvSpPr>
        <p:spPr>
          <a:xfrm>
            <a:off x="403901" y="885764"/>
            <a:ext cx="29012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实验设置与</a:t>
            </a:r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SOTA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对比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3AB07DB-AA7B-9720-3E5C-5E397FC0E1FC}"/>
              </a:ext>
            </a:extLst>
          </p:cNvPr>
          <p:cNvCxnSpPr/>
          <p:nvPr/>
        </p:nvCxnSpPr>
        <p:spPr>
          <a:xfrm>
            <a:off x="508249" y="130492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85D0703-F354-849C-888A-12D08673EA21}"/>
              </a:ext>
            </a:extLst>
          </p:cNvPr>
          <p:cNvSpPr txBox="1"/>
          <p:nvPr/>
        </p:nvSpPr>
        <p:spPr>
          <a:xfrm>
            <a:off x="4002657" y="895288"/>
            <a:ext cx="6838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统一实验设置：历史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，预测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；条件输入为自车未来候选轨迹</a:t>
            </a:r>
          </a:p>
        </p:txBody>
      </p:sp>
      <p:sp>
        <p:nvSpPr>
          <p:cNvPr id="89" name="灯片编号占位符 88">
            <a:extLst>
              <a:ext uri="{FF2B5EF4-FFF2-40B4-BE49-F238E27FC236}">
                <a16:creationId xmlns:a16="http://schemas.microsoft.com/office/drawing/2014/main" id="{6A7B8F3C-7570-3F13-4993-7CDE0035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smtClean="0"/>
              <a:pPr/>
              <a:t>11</a:t>
            </a:fld>
            <a:r>
              <a:rPr lang="en-US" altLang="zh-CN"/>
              <a:t>/21</a:t>
            </a:r>
            <a:endParaRPr lang="zh-CN" altLang="en-US" b="1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172B1E6-7436-DF39-C4AF-9FBCD6C3A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148013"/>
            <a:ext cx="6567619" cy="1520378"/>
          </a:xfrm>
          <a:prstGeom prst="rect">
            <a:avLst/>
          </a:prstGeom>
          <a:effectLst/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76F18B0-1381-3499-24C5-B43718177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906" y="5018533"/>
            <a:ext cx="6549538" cy="1573173"/>
          </a:xfrm>
          <a:prstGeom prst="rect">
            <a:avLst/>
          </a:prstGeom>
          <a:effectLst/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61D6B5D-3D68-50D9-3C41-2409B25CF8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901" y="1483518"/>
            <a:ext cx="11363325" cy="1409700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3D5C8CF-C048-C4D9-477F-6C1E6C4A11B6}"/>
              </a:ext>
            </a:extLst>
          </p:cNvPr>
          <p:cNvSpPr/>
          <p:nvPr/>
        </p:nvSpPr>
        <p:spPr>
          <a:xfrm>
            <a:off x="508249" y="3176588"/>
            <a:ext cx="6973639" cy="1462087"/>
          </a:xfrm>
          <a:prstGeom prst="roundRect">
            <a:avLst>
              <a:gd name="adj" fmla="val 8307"/>
            </a:avLst>
          </a:prstGeom>
          <a:noFill/>
          <a:ln w="28575"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742415D-84FB-14C1-487A-9450581160E8}"/>
              </a:ext>
            </a:extLst>
          </p:cNvPr>
          <p:cNvSpPr/>
          <p:nvPr/>
        </p:nvSpPr>
        <p:spPr>
          <a:xfrm>
            <a:off x="508249" y="3355181"/>
            <a:ext cx="276961" cy="1047750"/>
          </a:xfrm>
          <a:prstGeom prst="roundRect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8089B79-8006-3648-548F-7B70F89F1A30}"/>
              </a:ext>
            </a:extLst>
          </p:cNvPr>
          <p:cNvSpPr txBox="1"/>
          <p:nvPr/>
        </p:nvSpPr>
        <p:spPr>
          <a:xfrm rot="5400000">
            <a:off x="45920" y="3694389"/>
            <a:ext cx="1196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NGSIM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D55728A-439A-5A58-498B-116E48D6118F}"/>
              </a:ext>
            </a:extLst>
          </p:cNvPr>
          <p:cNvSpPr/>
          <p:nvPr/>
        </p:nvSpPr>
        <p:spPr>
          <a:xfrm>
            <a:off x="508249" y="5042345"/>
            <a:ext cx="6973639" cy="1520378"/>
          </a:xfrm>
          <a:prstGeom prst="roundRect">
            <a:avLst>
              <a:gd name="adj" fmla="val 8307"/>
            </a:avLst>
          </a:prstGeom>
          <a:noFill/>
          <a:ln w="28575"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FBD5A1A-BEA8-9777-AEEF-02C256E8D59B}"/>
              </a:ext>
            </a:extLst>
          </p:cNvPr>
          <p:cNvSpPr/>
          <p:nvPr/>
        </p:nvSpPr>
        <p:spPr>
          <a:xfrm>
            <a:off x="508249" y="5220938"/>
            <a:ext cx="276961" cy="1089522"/>
          </a:xfrm>
          <a:prstGeom prst="roundRect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0F17153-3641-AE45-FF8E-5C528CB92D7D}"/>
              </a:ext>
            </a:extLst>
          </p:cNvPr>
          <p:cNvSpPr txBox="1"/>
          <p:nvPr/>
        </p:nvSpPr>
        <p:spPr>
          <a:xfrm rot="5400000">
            <a:off x="22072" y="5583995"/>
            <a:ext cx="1243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HighD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1D18132-3F5D-238A-D3FD-FDF3DF0400AB}"/>
              </a:ext>
            </a:extLst>
          </p:cNvPr>
          <p:cNvSpPr/>
          <p:nvPr/>
        </p:nvSpPr>
        <p:spPr>
          <a:xfrm>
            <a:off x="7737476" y="3429000"/>
            <a:ext cx="3946275" cy="973932"/>
          </a:xfrm>
          <a:prstGeom prst="roundRect">
            <a:avLst>
              <a:gd name="adj" fmla="val 14367"/>
            </a:avLst>
          </a:prstGeom>
          <a:solidFill>
            <a:srgbClr val="F7F8F7"/>
          </a:solidFill>
          <a:ln w="19050">
            <a:solidFill>
              <a:srgbClr val="014924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8C659DB-57F4-B7A2-3F21-BE3F69DF5525}"/>
              </a:ext>
            </a:extLst>
          </p:cNvPr>
          <p:cNvSpPr txBox="1"/>
          <p:nvPr/>
        </p:nvSpPr>
        <p:spPr>
          <a:xfrm>
            <a:off x="7978651" y="3584465"/>
            <a:ext cx="34639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相较于当前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SOTA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RMSE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提升</a:t>
            </a:r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4.02%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NLL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提升</a:t>
            </a:r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5.18%</a:t>
            </a:r>
            <a:endParaRPr lang="zh-CN" altLang="en-US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E077BE0-FBE5-644C-F450-ED73E3036965}"/>
              </a:ext>
            </a:extLst>
          </p:cNvPr>
          <p:cNvSpPr/>
          <p:nvPr/>
        </p:nvSpPr>
        <p:spPr>
          <a:xfrm>
            <a:off x="7737476" y="5319859"/>
            <a:ext cx="3946275" cy="973932"/>
          </a:xfrm>
          <a:prstGeom prst="roundRect">
            <a:avLst>
              <a:gd name="adj" fmla="val 14367"/>
            </a:avLst>
          </a:prstGeom>
          <a:solidFill>
            <a:srgbClr val="F7F8F7"/>
          </a:solidFill>
          <a:ln w="19050">
            <a:solidFill>
              <a:srgbClr val="014924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2178B88-DE8D-165D-1575-722C48BF6CA5}"/>
              </a:ext>
            </a:extLst>
          </p:cNvPr>
          <p:cNvSpPr txBox="1"/>
          <p:nvPr/>
        </p:nvSpPr>
        <p:spPr>
          <a:xfrm>
            <a:off x="7978651" y="5475324"/>
            <a:ext cx="34639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在各预测时间步上均取得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最优或次优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性能</a:t>
            </a:r>
          </a:p>
        </p:txBody>
      </p:sp>
    </p:spTree>
    <p:extLst>
      <p:ext uri="{BB962C8B-B14F-4D97-AF65-F5344CB8AC3E}">
        <p14:creationId xmlns:p14="http://schemas.microsoft.com/office/powerpoint/2010/main" val="229787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/>
      <p:bldP spid="20" grpId="0" animBg="1"/>
      <p:bldP spid="21" grpId="0" animBg="1"/>
      <p:bldP spid="22" grpId="0"/>
      <p:bldP spid="23" grpId="0" animBg="1"/>
      <p:bldP spid="24" grpId="0"/>
      <p:bldP spid="25" grpId="0" animBg="1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0BF2F-B9CB-1B31-6A54-E98B401E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3811CE90-A6CD-8304-262B-25E11D4C723C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0BE7A2F7-B7B1-62F4-D630-786AD4241EEE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65674C0E-1E3F-BF2F-6A08-82062AD7A94F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4D4A3D-AB8D-8BB5-9742-33DA2D2DD62A}"/>
                </a:ext>
              </a:extLst>
            </p:cNvPr>
            <p:cNvSpPr/>
            <p:nvPr/>
          </p:nvSpPr>
          <p:spPr>
            <a:xfrm>
              <a:off x="2670365" y="239783"/>
              <a:ext cx="1579399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Results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9EB0E2DB-44C1-1270-6C9C-56F515D034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A1C19AB-96C4-8718-5D89-269EFE365829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4B7DFE2-0F9B-9655-BEFB-F711C5EC41D5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6" name="圆角矩形 4">
              <a:extLst>
                <a:ext uri="{FF2B5EF4-FFF2-40B4-BE49-F238E27FC236}">
                  <a16:creationId xmlns:a16="http://schemas.microsoft.com/office/drawing/2014/main" id="{B99D479F-78FC-DA61-1E84-85BEF107B884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2380071-60A0-6706-61D3-C3E2364817F7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09C96EB2-54F1-CE6B-95B7-E9A0CD3FCA75}"/>
              </a:ext>
            </a:extLst>
          </p:cNvPr>
          <p:cNvSpPr txBox="1"/>
          <p:nvPr/>
        </p:nvSpPr>
        <p:spPr>
          <a:xfrm>
            <a:off x="403901" y="885764"/>
            <a:ext cx="29012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消融实验分析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E99AC2E-414B-5A63-F4E8-A7B9C3A23F78}"/>
              </a:ext>
            </a:extLst>
          </p:cNvPr>
          <p:cNvCxnSpPr/>
          <p:nvPr/>
        </p:nvCxnSpPr>
        <p:spPr>
          <a:xfrm>
            <a:off x="508249" y="130492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灯片编号占位符 88">
            <a:extLst>
              <a:ext uri="{FF2B5EF4-FFF2-40B4-BE49-F238E27FC236}">
                <a16:creationId xmlns:a16="http://schemas.microsoft.com/office/drawing/2014/main" id="{C8B613E5-88D4-27A5-5C8E-02258362E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smtClean="0"/>
              <a:pPr/>
              <a:t>12</a:t>
            </a:fld>
            <a:r>
              <a:rPr lang="en-US" altLang="zh-CN" dirty="0"/>
              <a:t>/21</a:t>
            </a:r>
            <a:endParaRPr lang="zh-CN" altLang="en-US" b="1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432754E-474C-4D6D-C528-E890EED9815E}"/>
              </a:ext>
            </a:extLst>
          </p:cNvPr>
          <p:cNvSpPr/>
          <p:nvPr/>
        </p:nvSpPr>
        <p:spPr>
          <a:xfrm>
            <a:off x="403900" y="1419624"/>
            <a:ext cx="5977850" cy="3659359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37E8F2A2-932C-F7AC-F738-815C3947D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49" y="1707017"/>
            <a:ext cx="5695950" cy="3143250"/>
          </a:xfrm>
          <a:prstGeom prst="rect">
            <a:avLst/>
          </a:prstGeom>
        </p:spPr>
      </p:pic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1E02D08A-4729-751D-361F-C633ABE67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832741"/>
              </p:ext>
            </p:extLst>
          </p:nvPr>
        </p:nvGraphicFramePr>
        <p:xfrm>
          <a:off x="6486099" y="1455623"/>
          <a:ext cx="5620176" cy="362336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{3B4B98B0-60AC-42C2-AFA5-B58CD77FA1E5}</a:tableStyleId>
              </a:tblPr>
              <a:tblGrid>
                <a:gridCol w="1638726">
                  <a:extLst>
                    <a:ext uri="{9D8B030D-6E8A-4147-A177-3AD203B41FA5}">
                      <a16:colId xmlns:a16="http://schemas.microsoft.com/office/drawing/2014/main" val="2505622678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1745998909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4247354126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93025224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3982016518"/>
                    </a:ext>
                  </a:extLst>
                </a:gridCol>
              </a:tblGrid>
              <a:tr h="517623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bg1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solidFill>
                      <a:srgbClr val="01492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+mn-lt"/>
                          <a:ea typeface="黑体" panose="02010609060101010101" pitchFamily="49" charset="-122"/>
                        </a:rPr>
                        <a:t>NGSIM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+mn-lt"/>
                          <a:ea typeface="黑体" panose="02010609060101010101" pitchFamily="49" charset="-122"/>
                        </a:rPr>
                        <a:t>平均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+mn-lt"/>
                          <a:ea typeface="黑体" panose="02010609060101010101" pitchFamily="49" charset="-122"/>
                        </a:rPr>
                        <a:t>RMSE / NLL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1492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1492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chemeClr val="bg1"/>
                          </a:solidFill>
                          <a:latin typeface="+mn-lt"/>
                          <a:ea typeface="黑体" panose="02010609060101010101" pitchFamily="49" charset="-122"/>
                        </a:rPr>
                        <a:t>HighD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+mn-lt"/>
                          <a:ea typeface="黑体" panose="02010609060101010101" pitchFamily="49" charset="-122"/>
                        </a:rPr>
                        <a:t>平均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+mn-lt"/>
                          <a:ea typeface="黑体" panose="02010609060101010101" pitchFamily="49" charset="-122"/>
                        </a:rPr>
                        <a:t>RMSE / NLL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solidFill>
                      <a:srgbClr val="01492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0149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36347"/>
                  </a:ext>
                </a:extLst>
              </a:tr>
              <a:tr h="51762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黑体" panose="02010609060101010101" pitchFamily="49" charset="-122"/>
                        </a:rPr>
                        <a:t>方法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RMSE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NLL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RMSE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NLL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20925826"/>
                  </a:ext>
                </a:extLst>
              </a:tr>
              <a:tr h="51762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Variant 1 </a:t>
                      </a:r>
                      <a:r>
                        <a:rPr lang="zh-CN" altLang="en-US" sz="1400" dirty="0">
                          <a:latin typeface="+mn-lt"/>
                          <a:ea typeface="黑体" panose="02010609060101010101" pitchFamily="49" charset="-122"/>
                        </a:rPr>
                        <a:t>基线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3.06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4.43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1.57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3.52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01240217"/>
                  </a:ext>
                </a:extLst>
              </a:tr>
              <a:tr h="51762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Variant 2 + info (c/f)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1.98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3.71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1.55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3.06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91857015"/>
                  </a:ext>
                </a:extLst>
              </a:tr>
              <a:tr h="51762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Variant 4 + Self-Attn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1.95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+mn-lt"/>
                          <a:ea typeface="黑体" panose="02010609060101010101" pitchFamily="49" charset="-122"/>
                        </a:rPr>
                        <a:t>3.87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1.39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3.02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39413274"/>
                  </a:ext>
                </a:extLst>
              </a:tr>
              <a:tr h="51762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Variant 5 + IIE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1.76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+mn-lt"/>
                          <a:ea typeface="黑体" panose="02010609060101010101" pitchFamily="49" charset="-122"/>
                        </a:rPr>
                        <a:t>3.68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1.13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黑体" panose="02010609060101010101" pitchFamily="49" charset="-122"/>
                        </a:rPr>
                        <a:t>2.99</a:t>
                      </a:r>
                      <a:endParaRPr lang="zh-CN" altLang="en-US" sz="1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64705777"/>
                  </a:ext>
                </a:extLst>
              </a:tr>
              <a:tr h="51762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>
                          <a:solidFill>
                            <a:srgbClr val="014924"/>
                          </a:solidFill>
                          <a:latin typeface="+mn-lt"/>
                          <a:ea typeface="黑体" panose="02010609060101010101" pitchFamily="49" charset="-122"/>
                        </a:rPr>
                        <a:t>Ours (</a:t>
                      </a:r>
                      <a:r>
                        <a:rPr lang="zh-CN" altLang="en-US" sz="1600" b="1" dirty="0">
                          <a:solidFill>
                            <a:srgbClr val="014924"/>
                          </a:solidFill>
                          <a:latin typeface="+mn-lt"/>
                          <a:ea typeface="黑体" panose="02010609060101010101" pitchFamily="49" charset="-122"/>
                        </a:rPr>
                        <a:t>完整模型</a:t>
                      </a:r>
                      <a:r>
                        <a:rPr lang="en-US" altLang="zh-CN" sz="1600" b="1" dirty="0">
                          <a:solidFill>
                            <a:srgbClr val="014924"/>
                          </a:solidFill>
                          <a:latin typeface="+mn-lt"/>
                          <a:ea typeface="黑体" panose="02010609060101010101" pitchFamily="49" charset="-122"/>
                        </a:rPr>
                        <a:t>)</a:t>
                      </a:r>
                      <a:endParaRPr lang="zh-CN" altLang="en-US" sz="1600" b="1" dirty="0">
                        <a:solidFill>
                          <a:srgbClr val="014924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14924"/>
                          </a:solidFill>
                          <a:latin typeface="+mn-lt"/>
                          <a:ea typeface="黑体" panose="02010609060101010101" pitchFamily="49" charset="-122"/>
                        </a:rPr>
                        <a:t>1.67</a:t>
                      </a:r>
                      <a:endParaRPr lang="zh-CN" altLang="en-US" sz="1600" b="1" dirty="0">
                        <a:solidFill>
                          <a:srgbClr val="014924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14924"/>
                          </a:solidFill>
                          <a:latin typeface="+mn-lt"/>
                          <a:ea typeface="黑体" panose="02010609060101010101" pitchFamily="49" charset="-122"/>
                        </a:rPr>
                        <a:t>3.66</a:t>
                      </a:r>
                      <a:endParaRPr lang="zh-CN" altLang="en-US" sz="1600" b="1" dirty="0">
                        <a:solidFill>
                          <a:srgbClr val="01492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14924"/>
                          </a:solidFill>
                          <a:latin typeface="+mn-lt"/>
                          <a:ea typeface="黑体" panose="02010609060101010101" pitchFamily="49" charset="-122"/>
                        </a:rPr>
                        <a:t>1.06</a:t>
                      </a:r>
                      <a:endParaRPr lang="zh-CN" altLang="en-US" sz="1600" b="1" dirty="0">
                        <a:solidFill>
                          <a:srgbClr val="014924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14924"/>
                          </a:solidFill>
                          <a:latin typeface="+mn-lt"/>
                          <a:ea typeface="黑体" panose="02010609060101010101" pitchFamily="49" charset="-122"/>
                        </a:rPr>
                        <a:t>2.89</a:t>
                      </a:r>
                      <a:endParaRPr lang="zh-CN" altLang="en-US" sz="1600" b="1" dirty="0">
                        <a:solidFill>
                          <a:srgbClr val="014924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9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68044654"/>
                  </a:ext>
                </a:extLst>
              </a:tr>
            </a:tbl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E44C6D70-10A7-DDC4-1AD2-0496A243F38F}"/>
              </a:ext>
            </a:extLst>
          </p:cNvPr>
          <p:cNvSpPr/>
          <p:nvPr/>
        </p:nvSpPr>
        <p:spPr>
          <a:xfrm>
            <a:off x="2938463" y="3109913"/>
            <a:ext cx="928687" cy="1073943"/>
          </a:xfrm>
          <a:prstGeom prst="rect">
            <a:avLst/>
          </a:prstGeom>
          <a:gradFill>
            <a:gsLst>
              <a:gs pos="54000">
                <a:srgbClr val="DFEBE1"/>
              </a:gs>
              <a:gs pos="100000">
                <a:srgbClr val="F6F9F6"/>
              </a:gs>
              <a:gs pos="0">
                <a:srgbClr val="BDD6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DEFD8BB-9C3A-31AC-FBF4-7408FF680D60}"/>
              </a:ext>
            </a:extLst>
          </p:cNvPr>
          <p:cNvSpPr txBox="1"/>
          <p:nvPr/>
        </p:nvSpPr>
        <p:spPr>
          <a:xfrm>
            <a:off x="2938463" y="3249303"/>
            <a:ext cx="10086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2D32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 self-attn</a:t>
            </a:r>
            <a:endParaRPr lang="zh-CN" altLang="en-US" sz="1200" b="1" dirty="0">
              <a:solidFill>
                <a:srgbClr val="2D322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F5EAC1F-EB22-45FA-949D-888DE5E17CDC}"/>
              </a:ext>
            </a:extLst>
          </p:cNvPr>
          <p:cNvSpPr txBox="1"/>
          <p:nvPr/>
        </p:nvSpPr>
        <p:spPr>
          <a:xfrm>
            <a:off x="2955715" y="3641001"/>
            <a:ext cx="10086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434242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来加入自注意模块替代</a:t>
            </a:r>
            <a:r>
              <a:rPr lang="en-US" altLang="zh-CN" sz="1000" dirty="0">
                <a:solidFill>
                  <a:srgbClr val="434242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ICD</a:t>
            </a:r>
            <a:endParaRPr lang="zh-CN" altLang="en-US" sz="1000" dirty="0">
              <a:solidFill>
                <a:srgbClr val="434242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3983D1BC-1215-9A8A-8730-3EF55C148415}"/>
              </a:ext>
            </a:extLst>
          </p:cNvPr>
          <p:cNvSpPr/>
          <p:nvPr/>
        </p:nvSpPr>
        <p:spPr>
          <a:xfrm>
            <a:off x="403900" y="5286376"/>
            <a:ext cx="3777683" cy="1195504"/>
          </a:xfrm>
          <a:prstGeom prst="roundRect">
            <a:avLst>
              <a:gd name="adj" fmla="val 11212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AA4A3C13-D68A-E3DF-28BE-B9EB0B595A3B}"/>
              </a:ext>
            </a:extLst>
          </p:cNvPr>
          <p:cNvSpPr/>
          <p:nvPr/>
        </p:nvSpPr>
        <p:spPr>
          <a:xfrm>
            <a:off x="4397978" y="5286376"/>
            <a:ext cx="3777683" cy="1195504"/>
          </a:xfrm>
          <a:prstGeom prst="roundRect">
            <a:avLst>
              <a:gd name="adj" fmla="val 11212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7DD149FA-442F-4E4C-3CB9-BC2A107E6AB1}"/>
              </a:ext>
            </a:extLst>
          </p:cNvPr>
          <p:cNvSpPr/>
          <p:nvPr/>
        </p:nvSpPr>
        <p:spPr>
          <a:xfrm>
            <a:off x="8385854" y="5286376"/>
            <a:ext cx="3612441" cy="1195504"/>
          </a:xfrm>
          <a:prstGeom prst="roundRect">
            <a:avLst>
              <a:gd name="adj" fmla="val 11212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FC2F5E71-3369-9EFA-B155-3F0890093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959" y="5469790"/>
            <a:ext cx="857250" cy="828675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6DAD12A3-0BB1-CE57-5892-26833DA273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195" y="5469790"/>
            <a:ext cx="819150" cy="828675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22049C3C-B422-9178-7E7E-9A671277EB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7439" y="5465027"/>
            <a:ext cx="838200" cy="838200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57267299-8DAE-9849-62B9-162DD3DBC513}"/>
              </a:ext>
            </a:extLst>
          </p:cNvPr>
          <p:cNvSpPr txBox="1"/>
          <p:nvPr/>
        </p:nvSpPr>
        <p:spPr>
          <a:xfrm>
            <a:off x="1231757" y="5479030"/>
            <a:ext cx="287721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双时域信息互补优于单侧建模</a:t>
            </a:r>
            <a:endParaRPr lang="zh-CN" altLang="en-US" sz="15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06F05AF-E2B4-890E-51F7-151CEAC4D388}"/>
              </a:ext>
            </a:extLst>
          </p:cNvPr>
          <p:cNvSpPr txBox="1"/>
          <p:nvPr/>
        </p:nvSpPr>
        <p:spPr>
          <a:xfrm>
            <a:off x="1231756" y="5836800"/>
            <a:ext cx="27326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00" dirty="0">
                <a:ea typeface="黑体" panose="02010609060101010101" pitchFamily="49" charset="-122"/>
                <a:cs typeface="Times New Roman" panose="02020603050405020304" pitchFamily="18" charset="0"/>
              </a:rPr>
              <a:t>引入未来信息显著降低</a:t>
            </a:r>
            <a:r>
              <a:rPr lang="en-US" altLang="zh-CN" sz="1300" dirty="0">
                <a:ea typeface="黑体" panose="02010609060101010101" pitchFamily="49" charset="-122"/>
                <a:cs typeface="Times New Roman" panose="02020603050405020304" pitchFamily="18" charset="0"/>
              </a:rPr>
              <a:t>RMSE</a:t>
            </a:r>
            <a:r>
              <a:rPr lang="zh-CN" altLang="en-US" sz="1300" dirty="0"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300" dirty="0">
                <a:ea typeface="黑体" panose="02010609060101010101" pitchFamily="49" charset="-122"/>
                <a:cs typeface="Times New Roman" panose="02020603050405020304" pitchFamily="18" charset="0"/>
              </a:rPr>
              <a:t>NLL</a:t>
            </a:r>
            <a:r>
              <a:rPr lang="zh-CN" altLang="en-US" sz="1300" dirty="0">
                <a:ea typeface="黑体" panose="02010609060101010101" pitchFamily="49" charset="-122"/>
                <a:cs typeface="Times New Roman" panose="02020603050405020304" pitchFamily="18" charset="0"/>
              </a:rPr>
              <a:t>，验证双时域建模的必要性。</a:t>
            </a:r>
            <a:endParaRPr lang="zh-CN" altLang="en-US" sz="13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8474192B-0079-37F6-D9D0-D21E510AF58C}"/>
              </a:ext>
            </a:extLst>
          </p:cNvPr>
          <p:cNvSpPr txBox="1"/>
          <p:nvPr/>
        </p:nvSpPr>
        <p:spPr>
          <a:xfrm>
            <a:off x="5269484" y="5435832"/>
            <a:ext cx="25163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ICD</a:t>
            </a:r>
            <a:r>
              <a:rPr lang="zh-CN" altLang="en-US" sz="15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优于简单自注意力融合，证明跨时域修正机制有效</a:t>
            </a:r>
            <a:endParaRPr lang="zh-CN" altLang="en-US" sz="15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C962DDD-FA5E-1247-18EC-9381C66E9EE1}"/>
              </a:ext>
            </a:extLst>
          </p:cNvPr>
          <p:cNvSpPr txBox="1"/>
          <p:nvPr/>
        </p:nvSpPr>
        <p:spPr>
          <a:xfrm>
            <a:off x="5262927" y="5959053"/>
            <a:ext cx="28338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00" dirty="0">
                <a:ea typeface="黑体" panose="02010609060101010101" pitchFamily="49" charset="-122"/>
                <a:cs typeface="Times New Roman" panose="02020603050405020304" pitchFamily="18" charset="0"/>
              </a:rPr>
              <a:t>引入</a:t>
            </a:r>
            <a:r>
              <a:rPr lang="en-US" altLang="zh-CN" sz="1300" dirty="0">
                <a:ea typeface="黑体" panose="02010609060101010101" pitchFamily="49" charset="-122"/>
                <a:cs typeface="Times New Roman" panose="02020603050405020304" pitchFamily="18" charset="0"/>
              </a:rPr>
              <a:t>ICD</a:t>
            </a:r>
            <a:r>
              <a:rPr lang="zh-CN" altLang="en-US" sz="1300" dirty="0">
                <a:ea typeface="黑体" panose="02010609060101010101" pitchFamily="49" charset="-122"/>
                <a:cs typeface="Times New Roman" panose="02020603050405020304" pitchFamily="18" charset="0"/>
              </a:rPr>
              <a:t>进一步提升性能，表明跨时域修正能更准确对齐与纠正预测偏差。</a:t>
            </a:r>
            <a:endParaRPr lang="zh-CN" altLang="en-US" sz="13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025C0D0-FDBA-2FFB-48B8-3C9FE436CF83}"/>
              </a:ext>
            </a:extLst>
          </p:cNvPr>
          <p:cNvSpPr txBox="1"/>
          <p:nvPr/>
        </p:nvSpPr>
        <p:spPr>
          <a:xfrm>
            <a:off x="9296187" y="5435832"/>
            <a:ext cx="27326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IIE</a:t>
            </a:r>
            <a:r>
              <a:rPr lang="zh-CN" altLang="en-US" sz="15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进一步提升性能，说明影响优先级评估有助于精细建模</a:t>
            </a:r>
            <a:endParaRPr lang="zh-CN" altLang="en-US" sz="15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44C68C16-C79B-16C8-6C4E-AC8B97E5DBC5}"/>
              </a:ext>
            </a:extLst>
          </p:cNvPr>
          <p:cNvSpPr txBox="1"/>
          <p:nvPr/>
        </p:nvSpPr>
        <p:spPr>
          <a:xfrm>
            <a:off x="9296187" y="5959053"/>
            <a:ext cx="27326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00" dirty="0">
                <a:ea typeface="黑体" panose="02010609060101010101" pitchFamily="49" charset="-122"/>
                <a:cs typeface="Times New Roman" panose="02020603050405020304" pitchFamily="18" charset="0"/>
              </a:rPr>
              <a:t>结合影响估计与融合机制带来稳定增益，体现精细化建模的优势。</a:t>
            </a:r>
            <a:endParaRPr lang="zh-CN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50062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68" grpId="0" animBg="1"/>
      <p:bldP spid="72" grpId="0"/>
      <p:bldP spid="73" grpId="0"/>
      <p:bldP spid="74" grpId="0"/>
      <p:bldP spid="75" grpId="0"/>
      <p:bldP spid="76" grpId="0"/>
      <p:bldP spid="7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34000-F814-10E0-8516-1E2B03A1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935B8215-8B62-1784-543D-497BECAE96C6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A33A80A6-DC78-9370-D92E-F3249E54E4FF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83395B72-84E4-8469-7D54-9E7657B9BDD0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E5C9FAC-3A95-7DDB-BF49-DFB94DE5E3AF}"/>
                </a:ext>
              </a:extLst>
            </p:cNvPr>
            <p:cNvSpPr/>
            <p:nvPr/>
          </p:nvSpPr>
          <p:spPr>
            <a:xfrm>
              <a:off x="2670365" y="239783"/>
              <a:ext cx="1579399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Results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703FCBF0-8FA5-5E9F-7D41-68B2F8C836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0AA3E45-2D5E-7EEB-E746-CB8CF872875C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F14E41A-081C-84BA-347F-EBB34D134BA9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6" name="圆角矩形 4">
              <a:extLst>
                <a:ext uri="{FF2B5EF4-FFF2-40B4-BE49-F238E27FC236}">
                  <a16:creationId xmlns:a16="http://schemas.microsoft.com/office/drawing/2014/main" id="{C7FEC679-F460-4990-2CED-0CF4071C6A68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D092A65-1CE3-C87F-392F-AFB9CE2E3C70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79CF09E-0840-5783-74FD-5F8A243860DC}"/>
              </a:ext>
            </a:extLst>
          </p:cNvPr>
          <p:cNvSpPr txBox="1"/>
          <p:nvPr/>
        </p:nvSpPr>
        <p:spPr>
          <a:xfrm>
            <a:off x="403901" y="885764"/>
            <a:ext cx="29012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定性可视化结果分析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B625951-604D-E2A4-A342-9FA3B272FF3E}"/>
              </a:ext>
            </a:extLst>
          </p:cNvPr>
          <p:cNvCxnSpPr/>
          <p:nvPr/>
        </p:nvCxnSpPr>
        <p:spPr>
          <a:xfrm>
            <a:off x="508249" y="130492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灯片编号占位符 88">
            <a:extLst>
              <a:ext uri="{FF2B5EF4-FFF2-40B4-BE49-F238E27FC236}">
                <a16:creationId xmlns:a16="http://schemas.microsoft.com/office/drawing/2014/main" id="{E450DE90-4BEB-2DB3-C5C2-9AC5F37E4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smtClean="0"/>
              <a:pPr/>
              <a:t>13</a:t>
            </a:fld>
            <a:r>
              <a:rPr lang="en-US" altLang="zh-CN" dirty="0"/>
              <a:t>/21</a:t>
            </a:r>
            <a:endParaRPr lang="zh-CN" altLang="en-US" b="1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7E7B821-3F23-1106-A3F8-B4EEABA908BD}"/>
              </a:ext>
            </a:extLst>
          </p:cNvPr>
          <p:cNvSpPr/>
          <p:nvPr/>
        </p:nvSpPr>
        <p:spPr>
          <a:xfrm>
            <a:off x="403900" y="1523406"/>
            <a:ext cx="5692100" cy="362757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296EFC3-13D7-AC04-1957-935759431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57" y="1937609"/>
            <a:ext cx="5497535" cy="3017383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6AB3CD4-003C-53D3-DF94-96998B6228E7}"/>
              </a:ext>
            </a:extLst>
          </p:cNvPr>
          <p:cNvSpPr/>
          <p:nvPr/>
        </p:nvSpPr>
        <p:spPr>
          <a:xfrm>
            <a:off x="6381748" y="1523406"/>
            <a:ext cx="5692101" cy="362757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1616140-BD88-A91F-4EB5-9CAB90D4B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706" y="1937609"/>
            <a:ext cx="5455589" cy="301738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DACFEEE-07D5-5508-2FFE-6AA41901F006}"/>
              </a:ext>
            </a:extLst>
          </p:cNvPr>
          <p:cNvSpPr txBox="1"/>
          <p:nvPr/>
        </p:nvSpPr>
        <p:spPr>
          <a:xfrm>
            <a:off x="1885429" y="1323351"/>
            <a:ext cx="272904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与其他预测方法对比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ED846B-0877-487D-7C29-A4003BAC7BF2}"/>
              </a:ext>
            </a:extLst>
          </p:cNvPr>
          <p:cNvSpPr txBox="1"/>
          <p:nvPr/>
        </p:nvSpPr>
        <p:spPr>
          <a:xfrm>
            <a:off x="7863277" y="1323351"/>
            <a:ext cx="272904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多模态轨迹输出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DB3353A-3529-CEA5-5D41-D77781621D33}"/>
              </a:ext>
            </a:extLst>
          </p:cNvPr>
          <p:cNvSpPr/>
          <p:nvPr/>
        </p:nvSpPr>
        <p:spPr>
          <a:xfrm>
            <a:off x="403899" y="5388513"/>
            <a:ext cx="11669949" cy="1032071"/>
          </a:xfrm>
          <a:prstGeom prst="roundRect">
            <a:avLst>
              <a:gd name="adj" fmla="val 11212"/>
            </a:avLst>
          </a:prstGeom>
          <a:noFill/>
          <a:ln>
            <a:solidFill>
              <a:srgbClr val="37AD6B">
                <a:alpha val="30000"/>
              </a:srgbClr>
            </a:solidFill>
          </a:ln>
          <a:effectLst>
            <a:outerShdw blurRad="50800" dist="38100" dir="54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270598C-757F-0F29-749F-B12297388F65}"/>
              </a:ext>
            </a:extLst>
          </p:cNvPr>
          <p:cNvSpPr txBox="1"/>
          <p:nvPr/>
        </p:nvSpPr>
        <p:spPr>
          <a:xfrm>
            <a:off x="644070" y="5592740"/>
            <a:ext cx="107665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相较</a:t>
            </a:r>
            <a:r>
              <a:rPr lang="en-US" altLang="zh-CN" b="1" dirty="0" err="1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PiP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方法，</a:t>
            </a:r>
            <a:r>
              <a:rPr lang="en-US" altLang="zh-CN" b="1" dirty="0" err="1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CiT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预测轨迹与真实轨迹更加接近，且可以从多类驾驶意图中有效捕捉驾驶员的真实意图，证明了</a:t>
            </a:r>
            <a:r>
              <a:rPr lang="en-US" altLang="zh-CN" b="1" dirty="0" err="1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CiT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的有效性。</a:t>
            </a:r>
            <a:endParaRPr lang="zh-CN" altLang="en-US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903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F5599-3152-4D92-8B15-314CB57C0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66406A6E-1EA4-5EB0-DBED-7565079331A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F2EC3FE-E2E3-6116-4A71-95CF57FD5D05}"/>
              </a:ext>
            </a:extLst>
          </p:cNvPr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22CAEF8-E0F0-11B1-4BD5-ED9727E0C766}"/>
              </a:ext>
            </a:extLst>
          </p:cNvPr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F03BE82-8F7A-CC66-BA41-B47D29DE90A6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813B7B2-9A35-E102-0553-A6EE545B6455}"/>
                </a:ext>
              </a:extLst>
            </p:cNvPr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B18F8A74-C346-F213-C00F-0966D22E789F}"/>
              </a:ext>
            </a:extLst>
          </p:cNvPr>
          <p:cNvSpPr txBox="1"/>
          <p:nvPr/>
        </p:nvSpPr>
        <p:spPr>
          <a:xfrm>
            <a:off x="2950335" y="2781038"/>
            <a:ext cx="1415764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35D21C-9558-0DD4-A5D9-B3E5D3BF3653}"/>
              </a:ext>
            </a:extLst>
          </p:cNvPr>
          <p:cNvSpPr/>
          <p:nvPr/>
        </p:nvSpPr>
        <p:spPr>
          <a:xfrm>
            <a:off x="2955144" y="3612031"/>
            <a:ext cx="1406146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Conclusion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DBB2ABA-D5E5-07DC-19BE-65578A957D5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146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2753FD-E7E9-BCB5-0328-97FF00101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BD717095-7CD1-ED4B-E757-D1A8B58C4F71}"/>
              </a:ext>
            </a:extLst>
          </p:cNvPr>
          <p:cNvGrpSpPr/>
          <p:nvPr/>
        </p:nvGrpSpPr>
        <p:grpSpPr>
          <a:xfrm>
            <a:off x="1763659" y="136012"/>
            <a:ext cx="10917238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9D689656-1370-5941-F443-E971A390C9C6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A26D240E-8FCE-A20C-61BC-57503CA838DE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4C29398-AABE-4506-5486-C252BE4C5C83}"/>
                </a:ext>
              </a:extLst>
            </p:cNvPr>
            <p:cNvSpPr/>
            <p:nvPr/>
          </p:nvSpPr>
          <p:spPr>
            <a:xfrm>
              <a:off x="2673297" y="239783"/>
              <a:ext cx="997381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Conclusion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620A8877-BBF6-1B1C-71C6-65C73753E5C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7B82969-C338-8088-B98F-3C808822E6F0}"/>
              </a:ext>
            </a:extLst>
          </p:cNvPr>
          <p:cNvSpPr txBox="1"/>
          <p:nvPr/>
        </p:nvSpPr>
        <p:spPr>
          <a:xfrm>
            <a:off x="701167" y="63461"/>
            <a:ext cx="1005395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56C033B-7410-2BE4-97A7-CFA9B0E5CB0B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6" name="圆角矩形 4">
              <a:extLst>
                <a:ext uri="{FF2B5EF4-FFF2-40B4-BE49-F238E27FC236}">
                  <a16:creationId xmlns:a16="http://schemas.microsoft.com/office/drawing/2014/main" id="{081C41E9-878C-9894-D16C-809CA2C2CA89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10BAE37-2606-EAE8-A5F3-5C978AD3F352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B0353154-E099-AD81-2AA1-99946A44AE5C}"/>
              </a:ext>
            </a:extLst>
          </p:cNvPr>
          <p:cNvSpPr txBox="1"/>
          <p:nvPr/>
        </p:nvSpPr>
        <p:spPr>
          <a:xfrm>
            <a:off x="403901" y="885764"/>
            <a:ext cx="29012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结论与启示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86648FC-F674-7CB7-5345-D5223B03CF01}"/>
              </a:ext>
            </a:extLst>
          </p:cNvPr>
          <p:cNvCxnSpPr/>
          <p:nvPr/>
        </p:nvCxnSpPr>
        <p:spPr>
          <a:xfrm>
            <a:off x="508249" y="130492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灯片编号占位符 88">
            <a:extLst>
              <a:ext uri="{FF2B5EF4-FFF2-40B4-BE49-F238E27FC236}">
                <a16:creationId xmlns:a16="http://schemas.microsoft.com/office/drawing/2014/main" id="{92DA0A11-94C4-E9B3-630F-B1EACDF6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smtClean="0"/>
              <a:pPr/>
              <a:t>15</a:t>
            </a:fld>
            <a:r>
              <a:rPr lang="en-US" altLang="zh-CN"/>
              <a:t>/21</a:t>
            </a:r>
            <a:endParaRPr lang="zh-CN" altLang="en-US" b="1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EED47DE-68C7-13B6-94D7-7698B399E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75" y="1511812"/>
            <a:ext cx="1129665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731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215845" y="3859562"/>
            <a:ext cx="37603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1492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恳请批评指正！</a:t>
            </a:r>
            <a:endParaRPr lang="en-US" altLang="zh-CN" sz="4000" b="1" dirty="0">
              <a:solidFill>
                <a:srgbClr val="01492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4000" b="1" dirty="0">
                <a:solidFill>
                  <a:srgbClr val="01492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谢谢！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9900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6403" y="1274232"/>
            <a:ext cx="2439190" cy="2439192"/>
            <a:chOff x="5007734" y="902247"/>
            <a:chExt cx="2543685" cy="2543686"/>
          </a:xfrm>
        </p:grpSpPr>
        <p:sp>
          <p:nvSpPr>
            <p:cNvPr id="8" name="椭圆 7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802" y="1528423"/>
            <a:ext cx="1936392" cy="193081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034895" y="5329139"/>
            <a:ext cx="2122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汇报人：宋宇杰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Office 主题">
  <a:themeElements>
    <a:clrScheme name="绿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27845</TotalTime>
  <Words>1103</Words>
  <Application>Microsoft Office PowerPoint</Application>
  <PresentationFormat>宽屏</PresentationFormat>
  <Paragraphs>265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黑体</vt:lpstr>
      <vt:lpstr>微软雅黑</vt:lpstr>
      <vt:lpstr>Arial</vt:lpstr>
      <vt:lpstr>Calibri</vt:lpstr>
      <vt:lpstr>Calibri Light</vt:lpstr>
      <vt:lpstr>Cambria Math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基础架构处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0022</dc:title>
  <dc:creator>ZK</dc:creator>
  <cp:lastModifiedBy>宇杰 宋</cp:lastModifiedBy>
  <cp:revision>334</cp:revision>
  <cp:lastPrinted>2026-01-14T08:08:17Z</cp:lastPrinted>
  <dcterms:created xsi:type="dcterms:W3CDTF">2017-04-21T07:43:00Z</dcterms:created>
  <dcterms:modified xsi:type="dcterms:W3CDTF">2026-05-11T12:25:01Z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2052-12.1.0.16399</vt:lpwstr>
  </property>
  <property fmtid="{D5CDD505-2E9C-101B-9397-08002B2CF9AE}" pid="3" name="ICV">
    <vt:lpwstr>246B415F607B405DA25263312AF003B4</vt:lpwstr>
  </property>
</Properties>
</file>