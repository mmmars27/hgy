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7" r:id="rId6"/>
    <p:sldId id="260" r:id="rId7"/>
    <p:sldId id="261" r:id="rId8"/>
    <p:sldId id="262" r:id="rId9"/>
    <p:sldId id="263" r:id="rId10"/>
    <p:sldId id="269" r:id="rId11"/>
    <p:sldId id="264" r:id="rId12"/>
    <p:sldId id="270" r:id="rId13"/>
    <p:sldId id="265" r:id="rId14"/>
    <p:sldId id="26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9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45"/>
    <p:restoredTop sz="94653"/>
  </p:normalViewPr>
  <p:slideViewPr>
    <p:cSldViewPr snapToGrid="0">
      <p:cViewPr>
        <p:scale>
          <a:sx n="103" d="100"/>
          <a:sy n="103" d="100"/>
        </p:scale>
        <p:origin x="13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029BF-649F-1A45-4398-C86E4797B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985DDF-F89F-2452-B14E-73A82DB36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D5922-1DA1-CF7C-A290-A63A3F8BF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78AA9E-F5B9-C883-53F5-4909011C3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853807-C731-B1CF-371B-6253E775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418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1C316-3CE2-E777-E95D-97574507B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582CE-C6C7-9A2E-13CF-4C0EC4428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61AF6A-1031-3934-A2CE-EF514BD2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20ECDE-8A5F-26CE-923E-07E46E55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B037CE-37CD-19C8-BCC5-CB0AD980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2045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79732-E989-B446-B552-3B314A4A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681671-C19B-4212-1744-5FA71E242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806B28-3E7E-1BD2-D5C7-18D49963A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B4480-4D2B-B30E-8201-B0B2487D1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B1FF4-28D2-4756-FB1E-37AA64FF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289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D0868-57FF-BFB5-942A-5F7082E8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1B774-5289-96E4-FF3D-E1A128339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3C5A15-6DC5-3659-210F-B45386DE1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05E933-4099-8561-FC05-E95E450C6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2F73D5-1104-FC16-79B0-85FF0D0EE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476207-C879-80B9-0145-140E2695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9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2B291-7555-F260-B039-FE707E0C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30E685-ED32-19EB-2A82-DCB0903B8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BC6D8C-A020-6B97-90C4-8D41A8BBF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A80BAE-A1E1-05D9-5116-17DCCE01D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FED90C-2076-9F18-DFEA-5090F2510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00A314-C7A3-BCDE-6BCD-1DF2E032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85332A-2A9C-AF06-53BA-546B4F7EA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D50754-B4EC-8E17-1BB9-CA4485C05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399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5A47B-324E-1C72-3755-9CB09EB7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101A9F-E0C8-E5D5-B6EE-9CEE607C9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F4DA70-B1C5-9DF0-5BAB-F00C5E7A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904712-FB7A-B263-7F02-75847DA7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987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050DAA-AF9A-73F0-92B2-0F5CF078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D54FAA-8218-9476-6EF5-379D41255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FA12B2-9B9B-A0C9-CBD6-777E55E2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35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BB11A-5AE3-3014-EB82-65BD129F0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F423D5-D1CE-95C2-0BC2-C187471B9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65DF39-C034-4C27-3B58-8ACF4930B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BECA09-9E9E-332E-97DB-742B815D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05E708-443E-8457-6071-45B2D0459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DB9C04-2A51-37DE-448A-17E02D1F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8700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1CEB4-660A-F93A-4462-5E81DEFD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CFD266-5BAD-7485-0FA5-78508E69C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42443D-C035-C137-52C2-2B1A0B1DB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797F51-D4F8-EE0F-FF89-8E50ABA4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85E3A4-8029-0A8E-FCA2-1FDA1ADE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8B11E2-C4FF-1F6E-2AF5-C83B7759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359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E77D7-56E5-4C92-345B-5D67919C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9BF7D-3299-52A9-0956-E5720F3CD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A29D4-4211-1A2A-EC1B-EE81F0FF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97E38F-920D-F88D-7CC4-935B21E5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0DF166-686A-9AE7-5E6C-DE092645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4916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D3E9BE-10E2-2281-D3B1-CB141BFC4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76E336-0CC4-3DBE-116C-D7F4FBF0F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1CF23-26F8-F88E-45B4-D674F35F6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9319B6-6818-075C-E5DC-C7EFDD00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FB838-AF2A-64DE-8E30-DDF9EFF7D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39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A03F14-30E0-B293-BE26-2CBC40DE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2ED52F-275A-E553-79F9-F4C91C2C6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BBC7B-B403-7621-D90D-EFE3CF3BE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0B48E-4BE7-6644-BBC2-4874A4E4E72C}" type="datetimeFigureOut">
              <a:rPr kumimoji="1" lang="zh-CN" altLang="en-US" smtClean="0"/>
              <a:t>2026/8/19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2B21D6-AB54-9A92-CDA8-08B596B88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4D6A73-E4E7-13AC-0B1F-9D520F904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BD4C7-4E17-8547-AA5B-EF7704FEB3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262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0E06873-6277-35B5-B086-CC7FD541CC21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62767C-94FE-70E6-622B-9D242B8FE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940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CA577C8-3640-11A4-5CC6-D36A5F39B6FA}"/>
              </a:ext>
            </a:extLst>
          </p:cNvPr>
          <p:cNvSpPr/>
          <p:nvPr/>
        </p:nvSpPr>
        <p:spPr>
          <a:xfrm>
            <a:off x="0" y="863755"/>
            <a:ext cx="12192000" cy="5102147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3FE31C-924B-5AE6-4231-732967DF97E5}"/>
              </a:ext>
            </a:extLst>
          </p:cNvPr>
          <p:cNvSpPr txBox="1"/>
          <p:nvPr/>
        </p:nvSpPr>
        <p:spPr>
          <a:xfrm>
            <a:off x="2241393" y="2205916"/>
            <a:ext cx="77092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2027</a:t>
            </a:r>
            <a:r>
              <a:rPr kumimoji="1" lang="zh-CN" altLang="en-US" sz="6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年秋季招聘面试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2B8E32-96DD-C8C7-7D01-99E47B98C4DC}"/>
              </a:ext>
            </a:extLst>
          </p:cNvPr>
          <p:cNvSpPr txBox="1"/>
          <p:nvPr/>
        </p:nvSpPr>
        <p:spPr>
          <a:xfrm>
            <a:off x="2241394" y="3137494"/>
            <a:ext cx="7709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5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经纬恒润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3C36F1-00F4-5E3F-152B-984660EFEDA4}"/>
              </a:ext>
            </a:extLst>
          </p:cNvPr>
          <p:cNvSpPr txBox="1"/>
          <p:nvPr/>
        </p:nvSpPr>
        <p:spPr>
          <a:xfrm>
            <a:off x="312233" y="4877329"/>
            <a:ext cx="2966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应聘人：宋宇杰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D7B8B9-C57D-A003-1D64-F5A1ECDB7AC2}"/>
              </a:ext>
            </a:extLst>
          </p:cNvPr>
          <p:cNvSpPr txBox="1"/>
          <p:nvPr/>
        </p:nvSpPr>
        <p:spPr>
          <a:xfrm>
            <a:off x="3401121" y="4877329"/>
            <a:ext cx="4739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应聘岗位：自动驾驶算法工程师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DA473A-CBD5-B1DD-435E-985FF315498F}"/>
              </a:ext>
            </a:extLst>
          </p:cNvPr>
          <p:cNvSpPr txBox="1"/>
          <p:nvPr/>
        </p:nvSpPr>
        <p:spPr>
          <a:xfrm>
            <a:off x="8263054" y="4877329"/>
            <a:ext cx="310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毕业院校：中山大学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3F4161-96C2-4162-9EEB-52A5895C6106}"/>
              </a:ext>
            </a:extLst>
          </p:cNvPr>
          <p:cNvSpPr txBox="1"/>
          <p:nvPr/>
        </p:nvSpPr>
        <p:spPr>
          <a:xfrm>
            <a:off x="89209" y="965007"/>
            <a:ext cx="250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bg1">
                    <a:alpha val="34135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Campus-2027</a:t>
            </a:r>
            <a:endParaRPr kumimoji="1" lang="zh-CN" altLang="en-US" sz="2400" dirty="0">
              <a:solidFill>
                <a:schemeClr val="bg1">
                  <a:alpha val="34135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16EA79-823F-2C8F-3E9D-F5CEDEEF9B0B}"/>
              </a:ext>
            </a:extLst>
          </p:cNvPr>
          <p:cNvSpPr txBox="1"/>
          <p:nvPr/>
        </p:nvSpPr>
        <p:spPr>
          <a:xfrm>
            <a:off x="8511789" y="965007"/>
            <a:ext cx="3591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bg1">
                    <a:alpha val="34135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Personal</a:t>
            </a:r>
            <a:r>
              <a:rPr kumimoji="1" lang="zh-CN" altLang="en-US" sz="2400" dirty="0">
                <a:solidFill>
                  <a:schemeClr val="bg1">
                    <a:alpha val="34135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400" dirty="0">
                <a:solidFill>
                  <a:schemeClr val="bg1">
                    <a:alpha val="34135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Introduction</a:t>
            </a:r>
            <a:endParaRPr kumimoji="1" lang="zh-CN" altLang="en-US" sz="2400" dirty="0">
              <a:solidFill>
                <a:schemeClr val="bg1">
                  <a:alpha val="34135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C99636A-4CC5-27EB-F26D-2DCDACD42C9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89209" y="72751"/>
            <a:ext cx="2376667" cy="73451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B893D46-5ECA-34E2-0437-9DF516AC4D28}"/>
              </a:ext>
            </a:extLst>
          </p:cNvPr>
          <p:cNvSpPr txBox="1"/>
          <p:nvPr/>
        </p:nvSpPr>
        <p:spPr>
          <a:xfrm>
            <a:off x="3726363" y="6210571"/>
            <a:ext cx="4739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面试日期：</a:t>
            </a:r>
            <a:r>
              <a:rPr kumimoji="1" lang="en-US" altLang="zh-CN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kumimoji="1" lang="zh-CN" altLang="en-US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kumimoji="1" lang="en-US" altLang="zh-CN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kumimoji="1" lang="zh-CN" altLang="en-US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kumimoji="1" lang="en-US" altLang="zh-CN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kumimoji="1" lang="zh-CN" altLang="en-US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1EF1531E-7DE2-BC74-58E8-015B895B3EB0}"/>
              </a:ext>
            </a:extLst>
          </p:cNvPr>
          <p:cNvCxnSpPr>
            <a:cxnSpLocks/>
          </p:cNvCxnSpPr>
          <p:nvPr/>
        </p:nvCxnSpPr>
        <p:spPr>
          <a:xfrm>
            <a:off x="3231393" y="4956881"/>
            <a:ext cx="0" cy="302559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3C2180A3-1921-F0BE-3377-220127E9BB0A}"/>
              </a:ext>
            </a:extLst>
          </p:cNvPr>
          <p:cNvCxnSpPr>
            <a:cxnSpLocks/>
          </p:cNvCxnSpPr>
          <p:nvPr/>
        </p:nvCxnSpPr>
        <p:spPr>
          <a:xfrm>
            <a:off x="8151212" y="4956881"/>
            <a:ext cx="0" cy="302559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526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0D6A8-500E-5C54-394E-CB498C50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F20E21E9-8CF7-110B-D185-24993E59CC27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BF675D-3D23-4520-264D-910874C01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940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F831259-CD99-8983-6E7A-7E50331275A7}"/>
              </a:ext>
            </a:extLst>
          </p:cNvPr>
          <p:cNvSpPr/>
          <p:nvPr/>
        </p:nvSpPr>
        <p:spPr>
          <a:xfrm>
            <a:off x="0" y="5813778"/>
            <a:ext cx="12192000" cy="1044222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A520361-DD8C-FD6F-699E-668A644FF4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89209" y="72751"/>
            <a:ext cx="2376667" cy="73451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373E5CB-64DB-9E78-8AC5-61C0184F0967}"/>
              </a:ext>
            </a:extLst>
          </p:cNvPr>
          <p:cNvSpPr txBox="1"/>
          <p:nvPr/>
        </p:nvSpPr>
        <p:spPr>
          <a:xfrm>
            <a:off x="4168696" y="1338588"/>
            <a:ext cx="38546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BE9547-12E4-F6EC-8DAD-291A9E59AF84}"/>
              </a:ext>
            </a:extLst>
          </p:cNvPr>
          <p:cNvSpPr txBox="1"/>
          <p:nvPr/>
        </p:nvSpPr>
        <p:spPr>
          <a:xfrm>
            <a:off x="1981750" y="2708522"/>
            <a:ext cx="1483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kumimoji="1" lang="zh-CN" altLang="en-US" sz="4800" b="1" dirty="0">
              <a:solidFill>
                <a:srgbClr val="0040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B94924-5914-233B-1726-FEFEB587354A}"/>
              </a:ext>
            </a:extLst>
          </p:cNvPr>
          <p:cNvSpPr txBox="1"/>
          <p:nvPr/>
        </p:nvSpPr>
        <p:spPr>
          <a:xfrm>
            <a:off x="3121926" y="2708522"/>
            <a:ext cx="257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9998AF-AE88-3AAF-76CE-0311E9AA12BC}"/>
              </a:ext>
            </a:extLst>
          </p:cNvPr>
          <p:cNvSpPr txBox="1"/>
          <p:nvPr/>
        </p:nvSpPr>
        <p:spPr>
          <a:xfrm>
            <a:off x="2975171" y="3268778"/>
            <a:ext cx="2578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Personal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Profile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83E765FA-53FA-F02D-3A35-CFFC502054FE}"/>
              </a:ext>
            </a:extLst>
          </p:cNvPr>
          <p:cNvCxnSpPr>
            <a:cxnSpLocks/>
          </p:cNvCxnSpPr>
          <p:nvPr/>
        </p:nvCxnSpPr>
        <p:spPr>
          <a:xfrm>
            <a:off x="3265260" y="2834575"/>
            <a:ext cx="0" cy="520278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413330B-66DB-E4FA-4E32-055C79B16190}"/>
              </a:ext>
            </a:extLst>
          </p:cNvPr>
          <p:cNvSpPr txBox="1"/>
          <p:nvPr/>
        </p:nvSpPr>
        <p:spPr>
          <a:xfrm>
            <a:off x="6576327" y="2708522"/>
            <a:ext cx="1483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kumimoji="1" lang="zh-CN" altLang="en-US" sz="4800" b="1" dirty="0">
              <a:solidFill>
                <a:srgbClr val="0040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FF955A-69C7-FD9F-EFC2-AEAA94E38128}"/>
              </a:ext>
            </a:extLst>
          </p:cNvPr>
          <p:cNvSpPr txBox="1"/>
          <p:nvPr/>
        </p:nvSpPr>
        <p:spPr>
          <a:xfrm>
            <a:off x="7716503" y="2708522"/>
            <a:ext cx="257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项目经历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4183CA0-8CED-FBF1-1BDB-834D311A0AC4}"/>
              </a:ext>
            </a:extLst>
          </p:cNvPr>
          <p:cNvSpPr txBox="1"/>
          <p:nvPr/>
        </p:nvSpPr>
        <p:spPr>
          <a:xfrm>
            <a:off x="7716503" y="3268778"/>
            <a:ext cx="2578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Project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Experience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5B3CE4CE-5A29-9BF4-CA32-93AB30C6A1BB}"/>
              </a:ext>
            </a:extLst>
          </p:cNvPr>
          <p:cNvCxnSpPr>
            <a:cxnSpLocks/>
          </p:cNvCxnSpPr>
          <p:nvPr/>
        </p:nvCxnSpPr>
        <p:spPr>
          <a:xfrm>
            <a:off x="7859837" y="2834575"/>
            <a:ext cx="0" cy="520278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972A918-FE6C-741D-E42D-9E2CEEC1BC87}"/>
              </a:ext>
            </a:extLst>
          </p:cNvPr>
          <p:cNvSpPr txBox="1"/>
          <p:nvPr/>
        </p:nvSpPr>
        <p:spPr>
          <a:xfrm>
            <a:off x="1981750" y="3970867"/>
            <a:ext cx="1483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kumimoji="1" lang="zh-CN" altLang="en-US" sz="4800" b="1" dirty="0">
              <a:solidFill>
                <a:srgbClr val="0040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C3A4085-F74D-4448-062E-156DC480D28A}"/>
              </a:ext>
            </a:extLst>
          </p:cNvPr>
          <p:cNvSpPr txBox="1"/>
          <p:nvPr/>
        </p:nvSpPr>
        <p:spPr>
          <a:xfrm>
            <a:off x="3121926" y="3970867"/>
            <a:ext cx="257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实习经历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DA181EC-B2EC-56CD-48EB-08589692E892}"/>
              </a:ext>
            </a:extLst>
          </p:cNvPr>
          <p:cNvSpPr txBox="1"/>
          <p:nvPr/>
        </p:nvSpPr>
        <p:spPr>
          <a:xfrm>
            <a:off x="3265260" y="4531123"/>
            <a:ext cx="2578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Internship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Experience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991E56E9-A9F0-0029-64BA-82E12D017577}"/>
              </a:ext>
            </a:extLst>
          </p:cNvPr>
          <p:cNvCxnSpPr>
            <a:cxnSpLocks/>
          </p:cNvCxnSpPr>
          <p:nvPr/>
        </p:nvCxnSpPr>
        <p:spPr>
          <a:xfrm>
            <a:off x="3265260" y="4096920"/>
            <a:ext cx="0" cy="520278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20894E8-86C1-C3C1-5AFD-2593D6675E6A}"/>
              </a:ext>
            </a:extLst>
          </p:cNvPr>
          <p:cNvSpPr txBox="1"/>
          <p:nvPr/>
        </p:nvSpPr>
        <p:spPr>
          <a:xfrm>
            <a:off x="6576327" y="3970867"/>
            <a:ext cx="1483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kumimoji="1" lang="zh-CN" altLang="en-US" sz="4800" b="1" dirty="0">
              <a:solidFill>
                <a:srgbClr val="0040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23E07E7-C181-BD6E-33D0-D97FB0D03F5D}"/>
              </a:ext>
            </a:extLst>
          </p:cNvPr>
          <p:cNvSpPr txBox="1"/>
          <p:nvPr/>
        </p:nvSpPr>
        <p:spPr>
          <a:xfrm>
            <a:off x="7716503" y="3970867"/>
            <a:ext cx="257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自我评价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6C13228-7937-524D-888D-25AF414CEA83}"/>
              </a:ext>
            </a:extLst>
          </p:cNvPr>
          <p:cNvSpPr txBox="1"/>
          <p:nvPr/>
        </p:nvSpPr>
        <p:spPr>
          <a:xfrm>
            <a:off x="7569748" y="4531123"/>
            <a:ext cx="2578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Self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Evaluation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33C64177-847F-3D04-7177-63E776CAF778}"/>
              </a:ext>
            </a:extLst>
          </p:cNvPr>
          <p:cNvCxnSpPr>
            <a:cxnSpLocks/>
          </p:cNvCxnSpPr>
          <p:nvPr/>
        </p:nvCxnSpPr>
        <p:spPr>
          <a:xfrm>
            <a:off x="7859837" y="4096920"/>
            <a:ext cx="0" cy="520278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33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6F57-4CF4-F2EB-9CA2-B97D702D7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圆角矩形 59">
            <a:extLst>
              <a:ext uri="{FF2B5EF4-FFF2-40B4-BE49-F238E27FC236}">
                <a16:creationId xmlns:a16="http://schemas.microsoft.com/office/drawing/2014/main" id="{03F93CE2-A8C5-6B0E-E169-7AA7790A89ED}"/>
              </a:ext>
            </a:extLst>
          </p:cNvPr>
          <p:cNvSpPr/>
          <p:nvPr/>
        </p:nvSpPr>
        <p:spPr>
          <a:xfrm>
            <a:off x="582104" y="1905686"/>
            <a:ext cx="4509499" cy="411593"/>
          </a:xfrm>
          <a:prstGeom prst="round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800B6458-429E-1841-C83B-6BFC4E022F09}"/>
              </a:ext>
            </a:extLst>
          </p:cNvPr>
          <p:cNvSpPr/>
          <p:nvPr/>
        </p:nvSpPr>
        <p:spPr>
          <a:xfrm>
            <a:off x="572350" y="2918677"/>
            <a:ext cx="4509499" cy="411593"/>
          </a:xfrm>
          <a:prstGeom prst="round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8B1C7FE0-281D-BAB5-78B0-D813B0218D85}"/>
              </a:ext>
            </a:extLst>
          </p:cNvPr>
          <p:cNvSpPr/>
          <p:nvPr/>
        </p:nvSpPr>
        <p:spPr>
          <a:xfrm>
            <a:off x="582104" y="4216764"/>
            <a:ext cx="4509499" cy="411593"/>
          </a:xfrm>
          <a:prstGeom prst="round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A5D991CF-E463-916F-921F-A24B5BE8F585}"/>
              </a:ext>
            </a:extLst>
          </p:cNvPr>
          <p:cNvSpPr/>
          <p:nvPr/>
        </p:nvSpPr>
        <p:spPr>
          <a:xfrm>
            <a:off x="573969" y="5174777"/>
            <a:ext cx="4509499" cy="411593"/>
          </a:xfrm>
          <a:prstGeom prst="round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C6FF091-9490-94E2-8BDE-EC8190F8941C}"/>
              </a:ext>
            </a:extLst>
          </p:cNvPr>
          <p:cNvSpPr/>
          <p:nvPr/>
        </p:nvSpPr>
        <p:spPr>
          <a:xfrm>
            <a:off x="538610" y="1099109"/>
            <a:ext cx="8747105" cy="5847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29660"/>
                  <a:lumOff val="7034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0A2E8B-F339-8D08-3D1D-5BFA3AF0A941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43064B-2B41-6FD3-2533-DC43997B9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042A8A4-5001-68C5-EE27-C209391AC1C5}"/>
              </a:ext>
            </a:extLst>
          </p:cNvPr>
          <p:cNvSpPr/>
          <p:nvPr/>
        </p:nvSpPr>
        <p:spPr>
          <a:xfrm>
            <a:off x="0" y="6121034"/>
            <a:ext cx="12192000" cy="73696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003EE2-117C-3B2E-F523-821AE48C93E9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82664D3-331A-34D7-6DB3-8EFA80005216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0B03DAB-6450-DD0F-5CE2-932E6472AA6B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项目经历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7A0A3E94-D543-000C-C537-65E1BA9ED488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C860F96-79BC-3CAE-B297-D82617125A5B}"/>
              </a:ext>
            </a:extLst>
          </p:cNvPr>
          <p:cNvSpPr txBox="1"/>
          <p:nvPr/>
        </p:nvSpPr>
        <p:spPr>
          <a:xfrm>
            <a:off x="7621609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实习经历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B28520F-47BA-3303-88AA-520DD2AEA234}"/>
              </a:ext>
            </a:extLst>
          </p:cNvPr>
          <p:cNvCxnSpPr>
            <a:cxnSpLocks/>
          </p:cNvCxnSpPr>
          <p:nvPr/>
        </p:nvCxnSpPr>
        <p:spPr>
          <a:xfrm>
            <a:off x="964348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56B3FC1-BF00-9B20-E908-E6474C06D34B}"/>
              </a:ext>
            </a:extLst>
          </p:cNvPr>
          <p:cNvSpPr txBox="1"/>
          <p:nvPr/>
        </p:nvSpPr>
        <p:spPr>
          <a:xfrm>
            <a:off x="9876616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自我评价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7D742E54-B8A5-44CF-B058-CED2AC6CB46D}"/>
              </a:ext>
            </a:extLst>
          </p:cNvPr>
          <p:cNvCxnSpPr>
            <a:cxnSpLocks/>
          </p:cNvCxnSpPr>
          <p:nvPr/>
        </p:nvCxnSpPr>
        <p:spPr>
          <a:xfrm>
            <a:off x="3486450" y="781088"/>
            <a:ext cx="1519415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8E7991CF-CFAD-DEA2-9371-D04785F886DE}"/>
              </a:ext>
            </a:extLst>
          </p:cNvPr>
          <p:cNvSpPr txBox="1"/>
          <p:nvPr/>
        </p:nvSpPr>
        <p:spPr>
          <a:xfrm>
            <a:off x="328205" y="1099109"/>
            <a:ext cx="2153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宋宇杰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C934204-DD38-60B6-0A89-7AC022F91C6F}"/>
              </a:ext>
            </a:extLst>
          </p:cNvPr>
          <p:cNvSpPr txBox="1"/>
          <p:nvPr/>
        </p:nvSpPr>
        <p:spPr>
          <a:xfrm>
            <a:off x="2413121" y="1099109"/>
            <a:ext cx="6872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应聘岗位：自动驾驶算法工程师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9D00D1F-75BE-8E26-B509-DF3BFFD90DD0}"/>
              </a:ext>
            </a:extLst>
          </p:cNvPr>
          <p:cNvSpPr txBox="1"/>
          <p:nvPr/>
        </p:nvSpPr>
        <p:spPr>
          <a:xfrm>
            <a:off x="364223" y="1919238"/>
            <a:ext cx="422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基础信息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Basic</a:t>
            </a: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Information</a:t>
            </a:r>
            <a:endParaRPr kumimoji="1"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442F88C-AC84-F1F7-E5ED-8E9010AB49FB}"/>
              </a:ext>
            </a:extLst>
          </p:cNvPr>
          <p:cNvSpPr txBox="1"/>
          <p:nvPr/>
        </p:nvSpPr>
        <p:spPr>
          <a:xfrm>
            <a:off x="380566" y="2430823"/>
            <a:ext cx="192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年龄：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岁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B57BD79-084F-8E33-404F-1DFBCF8C43A9}"/>
              </a:ext>
            </a:extLst>
          </p:cNvPr>
          <p:cNvSpPr txBox="1"/>
          <p:nvPr/>
        </p:nvSpPr>
        <p:spPr>
          <a:xfrm>
            <a:off x="2152922" y="2430823"/>
            <a:ext cx="192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籍贯：四川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BE15275-62E2-2213-12A1-DFA5A52E3C32}"/>
              </a:ext>
            </a:extLst>
          </p:cNvPr>
          <p:cNvSpPr txBox="1"/>
          <p:nvPr/>
        </p:nvSpPr>
        <p:spPr>
          <a:xfrm>
            <a:off x="3867016" y="2430823"/>
            <a:ext cx="2264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民族：汉族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BF44293-2C1F-E07E-301E-17E5396FB0AC}"/>
              </a:ext>
            </a:extLst>
          </p:cNvPr>
          <p:cNvSpPr txBox="1"/>
          <p:nvPr/>
        </p:nvSpPr>
        <p:spPr>
          <a:xfrm>
            <a:off x="572350" y="2913699"/>
            <a:ext cx="422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教育经历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Education Experience</a:t>
            </a:r>
            <a:endParaRPr kumimoji="1"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B5E5565-07D4-7181-1A52-F063AC0A8AFA}"/>
              </a:ext>
            </a:extLst>
          </p:cNvPr>
          <p:cNvSpPr txBox="1"/>
          <p:nvPr/>
        </p:nvSpPr>
        <p:spPr>
          <a:xfrm>
            <a:off x="317429" y="3418876"/>
            <a:ext cx="2631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2024.09-2027.06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A6AFED0-1E77-0BCF-D90E-7B733434ED12}"/>
              </a:ext>
            </a:extLst>
          </p:cNvPr>
          <p:cNvSpPr txBox="1"/>
          <p:nvPr/>
        </p:nvSpPr>
        <p:spPr>
          <a:xfrm>
            <a:off x="2439320" y="3418876"/>
            <a:ext cx="187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中山大学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D9C69A6-D774-7257-D0D0-CBCB9456F60D}"/>
              </a:ext>
            </a:extLst>
          </p:cNvPr>
          <p:cNvSpPr txBox="1"/>
          <p:nvPr/>
        </p:nvSpPr>
        <p:spPr>
          <a:xfrm>
            <a:off x="4323397" y="3418876"/>
            <a:ext cx="187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智能工程学院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BDFC94D-51C1-C68C-905A-40BE4B446572}"/>
              </a:ext>
            </a:extLst>
          </p:cNvPr>
          <p:cNvSpPr txBox="1"/>
          <p:nvPr/>
        </p:nvSpPr>
        <p:spPr>
          <a:xfrm>
            <a:off x="6313364" y="3418876"/>
            <a:ext cx="187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硕士（保研）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D757DD7-77FA-1141-599A-2186EDF2D4A0}"/>
              </a:ext>
            </a:extLst>
          </p:cNvPr>
          <p:cNvSpPr txBox="1"/>
          <p:nvPr/>
        </p:nvSpPr>
        <p:spPr>
          <a:xfrm>
            <a:off x="317429" y="3764766"/>
            <a:ext cx="2631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2020.09-2024.06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8B98ACD-5170-486F-F38C-7872A08D3BB4}"/>
              </a:ext>
            </a:extLst>
          </p:cNvPr>
          <p:cNvSpPr txBox="1"/>
          <p:nvPr/>
        </p:nvSpPr>
        <p:spPr>
          <a:xfrm>
            <a:off x="2439320" y="3764766"/>
            <a:ext cx="187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长安大学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4C6E259-FF61-1B77-628A-A895B9010540}"/>
              </a:ext>
            </a:extLst>
          </p:cNvPr>
          <p:cNvSpPr txBox="1"/>
          <p:nvPr/>
        </p:nvSpPr>
        <p:spPr>
          <a:xfrm>
            <a:off x="4323397" y="3764766"/>
            <a:ext cx="187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运输工程学院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610155B-007D-3657-4F5E-D45758391257}"/>
              </a:ext>
            </a:extLst>
          </p:cNvPr>
          <p:cNvSpPr txBox="1"/>
          <p:nvPr/>
        </p:nvSpPr>
        <p:spPr>
          <a:xfrm>
            <a:off x="6197353" y="3764766"/>
            <a:ext cx="120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学士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8F3CD6A-683F-2C0F-88A4-A2AA914FFF0F}"/>
              </a:ext>
            </a:extLst>
          </p:cNvPr>
          <p:cNvSpPr txBox="1"/>
          <p:nvPr/>
        </p:nvSpPr>
        <p:spPr>
          <a:xfrm>
            <a:off x="383628" y="4219747"/>
            <a:ext cx="4222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获奖经历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Award</a:t>
            </a: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Experience</a:t>
            </a:r>
            <a:endParaRPr kumimoji="1"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B4594C3-C096-FBB5-2CDF-80B9B9E01243}"/>
              </a:ext>
            </a:extLst>
          </p:cNvPr>
          <p:cNvSpPr txBox="1"/>
          <p:nvPr/>
        </p:nvSpPr>
        <p:spPr>
          <a:xfrm>
            <a:off x="-5559" y="4722779"/>
            <a:ext cx="817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长安大学一等奖学金、长安大学优秀毕业生、中山大学一等奖学金等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C543E13-C2E6-8EA4-CBB5-EA30FF718299}"/>
              </a:ext>
            </a:extLst>
          </p:cNvPr>
          <p:cNvSpPr txBox="1"/>
          <p:nvPr/>
        </p:nvSpPr>
        <p:spPr>
          <a:xfrm>
            <a:off x="538610" y="5178694"/>
            <a:ext cx="3033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核心技能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Core Skills</a:t>
            </a:r>
            <a:endParaRPr kumimoji="1" lang="zh-CN" altLang="en-US" sz="2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93A12DC-D119-EE46-47E7-C0D6F542B7D4}"/>
              </a:ext>
            </a:extLst>
          </p:cNvPr>
          <p:cNvSpPr txBox="1"/>
          <p:nvPr/>
        </p:nvSpPr>
        <p:spPr>
          <a:xfrm>
            <a:off x="-93630" y="5669036"/>
            <a:ext cx="9179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英语熟练日常交流（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CET-6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566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分）、编程理论基础扎实、专利代理师证书</a:t>
            </a:r>
          </a:p>
        </p:txBody>
      </p: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46DA1EF2-47EE-AA40-CC2D-50B0066EF7E6}"/>
              </a:ext>
            </a:extLst>
          </p:cNvPr>
          <p:cNvCxnSpPr>
            <a:cxnSpLocks/>
          </p:cNvCxnSpPr>
          <p:nvPr/>
        </p:nvCxnSpPr>
        <p:spPr>
          <a:xfrm flipH="1">
            <a:off x="2412821" y="1221525"/>
            <a:ext cx="300" cy="397862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6" name="图片 65">
            <a:extLst>
              <a:ext uri="{FF2B5EF4-FFF2-40B4-BE49-F238E27FC236}">
                <a16:creationId xmlns:a16="http://schemas.microsoft.com/office/drawing/2014/main" id="{BB19745B-9527-7072-715A-03E7117E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447" y="3477199"/>
            <a:ext cx="406024" cy="252685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1F6BDFFE-4C17-8C94-77E8-A0B155766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447" y="3829863"/>
            <a:ext cx="407104" cy="252685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113A3EF6-AD8E-F756-CED6-6723E2A28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125" y="2003727"/>
            <a:ext cx="2513796" cy="35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2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E3311-4B13-B43C-87B5-6A7205C6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1C18856A-8790-D53B-6B9A-FF4CB4E50289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8D8E71-0486-849C-D608-DA31EBE8F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940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FFD2E48-1155-1F54-3D31-C4CFB46AE2B8}"/>
              </a:ext>
            </a:extLst>
          </p:cNvPr>
          <p:cNvSpPr/>
          <p:nvPr/>
        </p:nvSpPr>
        <p:spPr>
          <a:xfrm>
            <a:off x="0" y="5813778"/>
            <a:ext cx="12192000" cy="1044222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296CFAA-C256-A432-EBBC-C793D5E4AF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89209" y="72751"/>
            <a:ext cx="2376667" cy="73451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A06327D-0C74-70FB-8BA1-179785F02F9B}"/>
              </a:ext>
            </a:extLst>
          </p:cNvPr>
          <p:cNvSpPr txBox="1"/>
          <p:nvPr/>
        </p:nvSpPr>
        <p:spPr>
          <a:xfrm>
            <a:off x="-672929" y="2251128"/>
            <a:ext cx="3821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kumimoji="1" lang="zh-CN" altLang="en-US" sz="9600" b="1" dirty="0">
              <a:solidFill>
                <a:srgbClr val="0040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9B17AF-B925-ADAC-546B-48307630B580}"/>
              </a:ext>
            </a:extLst>
          </p:cNvPr>
          <p:cNvSpPr txBox="1"/>
          <p:nvPr/>
        </p:nvSpPr>
        <p:spPr>
          <a:xfrm>
            <a:off x="1237993" y="2251128"/>
            <a:ext cx="6642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7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项目经历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C47E43A-C45A-EB33-001F-1DD4A316C1BB}"/>
              </a:ext>
            </a:extLst>
          </p:cNvPr>
          <p:cNvSpPr txBox="1"/>
          <p:nvPr/>
        </p:nvSpPr>
        <p:spPr>
          <a:xfrm>
            <a:off x="1738813" y="3404235"/>
            <a:ext cx="6642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Project</a:t>
            </a:r>
            <a:r>
              <a:rPr kumimoji="1" lang="zh-CN" altLang="en-US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Experience</a:t>
            </a:r>
            <a:endParaRPr kumimoji="1" lang="zh-CN" altLang="en-US" sz="4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7E70FD49-500E-9E5F-1F26-363083044755}"/>
              </a:ext>
            </a:extLst>
          </p:cNvPr>
          <p:cNvCxnSpPr>
            <a:cxnSpLocks/>
          </p:cNvCxnSpPr>
          <p:nvPr/>
        </p:nvCxnSpPr>
        <p:spPr>
          <a:xfrm>
            <a:off x="2188086" y="2557849"/>
            <a:ext cx="0" cy="871151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28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CCCA-F259-41E3-FCDD-884F639A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F5A464A-7395-9561-AC8F-EA775B60C683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212EA8-4A90-869D-45E6-89BE88A20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61736B4-F54F-73B9-689D-1FDE8FF8E3D4}"/>
              </a:ext>
            </a:extLst>
          </p:cNvPr>
          <p:cNvSpPr/>
          <p:nvPr/>
        </p:nvSpPr>
        <p:spPr>
          <a:xfrm>
            <a:off x="0" y="6121034"/>
            <a:ext cx="12192000" cy="73696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EC3422-4A1B-43BF-CE56-30E8BF0CD506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FB8AFDA-457A-3BD7-EFB1-BF54797AAFD8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6630638-F8CE-C931-0B55-20FE7E1007F3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项目经历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26617D51-1324-BB58-1828-7D3CC6CB7CD7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5A64DB1-8FDB-4D7F-3098-BF6B1396BD61}"/>
              </a:ext>
            </a:extLst>
          </p:cNvPr>
          <p:cNvSpPr txBox="1"/>
          <p:nvPr/>
        </p:nvSpPr>
        <p:spPr>
          <a:xfrm>
            <a:off x="7621609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实习经历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6E90B27D-E902-74C8-5E7F-177BE3C56F2D}"/>
              </a:ext>
            </a:extLst>
          </p:cNvPr>
          <p:cNvCxnSpPr>
            <a:cxnSpLocks/>
          </p:cNvCxnSpPr>
          <p:nvPr/>
        </p:nvCxnSpPr>
        <p:spPr>
          <a:xfrm>
            <a:off x="964348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391BF4E-21E9-9837-5003-B6B4C1BD8943}"/>
              </a:ext>
            </a:extLst>
          </p:cNvPr>
          <p:cNvSpPr txBox="1"/>
          <p:nvPr/>
        </p:nvSpPr>
        <p:spPr>
          <a:xfrm>
            <a:off x="9876616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自我评价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10EBE54F-ECF6-A2D2-1A0E-BF23A30A74AD}"/>
              </a:ext>
            </a:extLst>
          </p:cNvPr>
          <p:cNvCxnSpPr>
            <a:cxnSpLocks/>
          </p:cNvCxnSpPr>
          <p:nvPr/>
        </p:nvCxnSpPr>
        <p:spPr>
          <a:xfrm>
            <a:off x="5553656" y="781088"/>
            <a:ext cx="1519415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C66DA31-B45E-6214-7B3B-4A82D983CF60}"/>
              </a:ext>
            </a:extLst>
          </p:cNvPr>
          <p:cNvSpPr txBox="1"/>
          <p:nvPr/>
        </p:nvSpPr>
        <p:spPr>
          <a:xfrm>
            <a:off x="1440523" y="6195166"/>
            <a:ext cx="9310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项目一：</a:t>
            </a:r>
            <a:r>
              <a:rPr kumimoji="1" lang="zh-CN" altLang="zh-CN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基于跨时域交互的自动驾驶轨迹预测算法</a:t>
            </a:r>
          </a:p>
        </p:txBody>
      </p:sp>
      <p:sp>
        <p:nvSpPr>
          <p:cNvPr id="16" name="矩形: 圆角 32">
            <a:extLst>
              <a:ext uri="{FF2B5EF4-FFF2-40B4-BE49-F238E27FC236}">
                <a16:creationId xmlns:a16="http://schemas.microsoft.com/office/drawing/2014/main" id="{724FEB59-5262-AC17-BB87-397EC821B30D}"/>
              </a:ext>
            </a:extLst>
          </p:cNvPr>
          <p:cNvSpPr/>
          <p:nvPr/>
        </p:nvSpPr>
        <p:spPr>
          <a:xfrm>
            <a:off x="403777" y="3189398"/>
            <a:ext cx="7334250" cy="2676525"/>
          </a:xfrm>
          <a:prstGeom prst="roundRect">
            <a:avLst>
              <a:gd name="adj" fmla="val 5635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35">
            <a:extLst>
              <a:ext uri="{FF2B5EF4-FFF2-40B4-BE49-F238E27FC236}">
                <a16:creationId xmlns:a16="http://schemas.microsoft.com/office/drawing/2014/main" id="{3C22ACD6-5873-3817-253D-DDD130D579A9}"/>
              </a:ext>
            </a:extLst>
          </p:cNvPr>
          <p:cNvSpPr/>
          <p:nvPr/>
        </p:nvSpPr>
        <p:spPr>
          <a:xfrm>
            <a:off x="8410575" y="3189399"/>
            <a:ext cx="3448050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00409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36">
            <a:extLst>
              <a:ext uri="{FF2B5EF4-FFF2-40B4-BE49-F238E27FC236}">
                <a16:creationId xmlns:a16="http://schemas.microsoft.com/office/drawing/2014/main" id="{605DC8CD-CA16-9AE5-1FCB-5A119CCDB2A8}"/>
              </a:ext>
            </a:extLst>
          </p:cNvPr>
          <p:cNvSpPr/>
          <p:nvPr/>
        </p:nvSpPr>
        <p:spPr>
          <a:xfrm>
            <a:off x="8410575" y="4142447"/>
            <a:ext cx="3448050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00409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39">
            <a:extLst>
              <a:ext uri="{FF2B5EF4-FFF2-40B4-BE49-F238E27FC236}">
                <a16:creationId xmlns:a16="http://schemas.microsoft.com/office/drawing/2014/main" id="{396FC380-784B-83C3-8D7C-EF5EB6F404F5}"/>
              </a:ext>
            </a:extLst>
          </p:cNvPr>
          <p:cNvCxnSpPr/>
          <p:nvPr/>
        </p:nvCxnSpPr>
        <p:spPr>
          <a:xfrm>
            <a:off x="561858" y="4026500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40">
            <a:extLst>
              <a:ext uri="{FF2B5EF4-FFF2-40B4-BE49-F238E27FC236}">
                <a16:creationId xmlns:a16="http://schemas.microsoft.com/office/drawing/2014/main" id="{8492E56B-1E70-30C9-C213-A08CAE9CDA80}"/>
              </a:ext>
            </a:extLst>
          </p:cNvPr>
          <p:cNvCxnSpPr/>
          <p:nvPr/>
        </p:nvCxnSpPr>
        <p:spPr>
          <a:xfrm>
            <a:off x="561858" y="4912873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41">
            <a:extLst>
              <a:ext uri="{FF2B5EF4-FFF2-40B4-BE49-F238E27FC236}">
                <a16:creationId xmlns:a16="http://schemas.microsoft.com/office/drawing/2014/main" id="{F253ABEA-3644-4525-F6DA-4422C86774DC}"/>
              </a:ext>
            </a:extLst>
          </p:cNvPr>
          <p:cNvCxnSpPr/>
          <p:nvPr/>
        </p:nvCxnSpPr>
        <p:spPr>
          <a:xfrm>
            <a:off x="1765953" y="4026500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42">
            <a:extLst>
              <a:ext uri="{FF2B5EF4-FFF2-40B4-BE49-F238E27FC236}">
                <a16:creationId xmlns:a16="http://schemas.microsoft.com/office/drawing/2014/main" id="{53B89D67-2280-224C-AFCE-B35B5798E655}"/>
              </a:ext>
            </a:extLst>
          </p:cNvPr>
          <p:cNvCxnSpPr/>
          <p:nvPr/>
        </p:nvCxnSpPr>
        <p:spPr>
          <a:xfrm>
            <a:off x="1765953" y="4912873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43">
            <a:extLst>
              <a:ext uri="{FF2B5EF4-FFF2-40B4-BE49-F238E27FC236}">
                <a16:creationId xmlns:a16="http://schemas.microsoft.com/office/drawing/2014/main" id="{A0A986E9-86AE-10B1-4D73-3F085DBE311B}"/>
              </a:ext>
            </a:extLst>
          </p:cNvPr>
          <p:cNvCxnSpPr/>
          <p:nvPr/>
        </p:nvCxnSpPr>
        <p:spPr>
          <a:xfrm>
            <a:off x="3013728" y="4026500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44">
            <a:extLst>
              <a:ext uri="{FF2B5EF4-FFF2-40B4-BE49-F238E27FC236}">
                <a16:creationId xmlns:a16="http://schemas.microsoft.com/office/drawing/2014/main" id="{B9BE67E2-882C-90F5-5967-CDEDE2B07724}"/>
              </a:ext>
            </a:extLst>
          </p:cNvPr>
          <p:cNvCxnSpPr/>
          <p:nvPr/>
        </p:nvCxnSpPr>
        <p:spPr>
          <a:xfrm>
            <a:off x="3013728" y="4912873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45">
            <a:extLst>
              <a:ext uri="{FF2B5EF4-FFF2-40B4-BE49-F238E27FC236}">
                <a16:creationId xmlns:a16="http://schemas.microsoft.com/office/drawing/2014/main" id="{9F9AA7A2-8041-3468-F442-390F1060737E}"/>
              </a:ext>
            </a:extLst>
          </p:cNvPr>
          <p:cNvCxnSpPr/>
          <p:nvPr/>
        </p:nvCxnSpPr>
        <p:spPr>
          <a:xfrm>
            <a:off x="4261503" y="4026500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46">
            <a:extLst>
              <a:ext uri="{FF2B5EF4-FFF2-40B4-BE49-F238E27FC236}">
                <a16:creationId xmlns:a16="http://schemas.microsoft.com/office/drawing/2014/main" id="{FD78A34A-E5EE-5929-CF13-58983CD36931}"/>
              </a:ext>
            </a:extLst>
          </p:cNvPr>
          <p:cNvCxnSpPr/>
          <p:nvPr/>
        </p:nvCxnSpPr>
        <p:spPr>
          <a:xfrm>
            <a:off x="4261503" y="4912873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47">
            <a:extLst>
              <a:ext uri="{FF2B5EF4-FFF2-40B4-BE49-F238E27FC236}">
                <a16:creationId xmlns:a16="http://schemas.microsoft.com/office/drawing/2014/main" id="{8D1E7926-104D-C546-C339-02757BB613C6}"/>
              </a:ext>
            </a:extLst>
          </p:cNvPr>
          <p:cNvCxnSpPr>
            <a:cxnSpLocks/>
          </p:cNvCxnSpPr>
          <p:nvPr/>
        </p:nvCxnSpPr>
        <p:spPr>
          <a:xfrm>
            <a:off x="5961516" y="3712755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48">
            <a:extLst>
              <a:ext uri="{FF2B5EF4-FFF2-40B4-BE49-F238E27FC236}">
                <a16:creationId xmlns:a16="http://schemas.microsoft.com/office/drawing/2014/main" id="{0EFB57A6-19D1-27C9-DD0E-87A451982DAC}"/>
              </a:ext>
            </a:extLst>
          </p:cNvPr>
          <p:cNvCxnSpPr/>
          <p:nvPr/>
        </p:nvCxnSpPr>
        <p:spPr>
          <a:xfrm>
            <a:off x="5583126" y="4912873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49">
            <a:extLst>
              <a:ext uri="{FF2B5EF4-FFF2-40B4-BE49-F238E27FC236}">
                <a16:creationId xmlns:a16="http://schemas.microsoft.com/office/drawing/2014/main" id="{488C8571-0103-71F8-706E-E098FEBED476}"/>
              </a:ext>
            </a:extLst>
          </p:cNvPr>
          <p:cNvCxnSpPr/>
          <p:nvPr/>
        </p:nvCxnSpPr>
        <p:spPr>
          <a:xfrm>
            <a:off x="6893631" y="4026500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50">
            <a:extLst>
              <a:ext uri="{FF2B5EF4-FFF2-40B4-BE49-F238E27FC236}">
                <a16:creationId xmlns:a16="http://schemas.microsoft.com/office/drawing/2014/main" id="{B48A57FB-BADF-475D-4D1C-7E333E317C72}"/>
              </a:ext>
            </a:extLst>
          </p:cNvPr>
          <p:cNvCxnSpPr/>
          <p:nvPr/>
        </p:nvCxnSpPr>
        <p:spPr>
          <a:xfrm>
            <a:off x="6893631" y="4912873"/>
            <a:ext cx="7572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形 40">
            <a:extLst>
              <a:ext uri="{FF2B5EF4-FFF2-40B4-BE49-F238E27FC236}">
                <a16:creationId xmlns:a16="http://schemas.microsoft.com/office/drawing/2014/main" id="{7A20B8C8-061F-2A02-A8E0-78B8AA566D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58" r="17525"/>
          <a:stretch>
            <a:fillRect/>
          </a:stretch>
        </p:blipFill>
        <p:spPr>
          <a:xfrm rot="5400000">
            <a:off x="2567842" y="3964679"/>
            <a:ext cx="694221" cy="1042102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134A4406-124C-A7FD-330D-79D03E2FEF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618" r="23627"/>
          <a:stretch>
            <a:fillRect/>
          </a:stretch>
        </p:blipFill>
        <p:spPr>
          <a:xfrm rot="5400000">
            <a:off x="945919" y="2928472"/>
            <a:ext cx="721154" cy="1341549"/>
          </a:xfrm>
          <a:prstGeom prst="rect">
            <a:avLst/>
          </a:prstGeom>
        </p:spPr>
      </p:pic>
      <p:pic>
        <p:nvPicPr>
          <p:cNvPr id="43" name="图形 42">
            <a:extLst>
              <a:ext uri="{FF2B5EF4-FFF2-40B4-BE49-F238E27FC236}">
                <a16:creationId xmlns:a16="http://schemas.microsoft.com/office/drawing/2014/main" id="{EF0F8DF8-1365-EF5C-ED6C-4782432C6A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250695" y="4863577"/>
            <a:ext cx="568528" cy="1032364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45173143-D58A-6822-0B4C-B515FBC20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461" r="22469"/>
          <a:stretch>
            <a:fillRect/>
          </a:stretch>
        </p:blipFill>
        <p:spPr>
          <a:xfrm rot="5400000">
            <a:off x="3387117" y="4863577"/>
            <a:ext cx="568528" cy="103236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E047FD5A-1B86-3C1F-5F16-C8C6B6302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461" r="22469"/>
          <a:stretch>
            <a:fillRect/>
          </a:stretch>
        </p:blipFill>
        <p:spPr>
          <a:xfrm rot="5400000">
            <a:off x="4694283" y="3969548"/>
            <a:ext cx="568528" cy="1032364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F7441BC2-F5D8-E99E-5254-F4C13CC43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461" r="22469"/>
          <a:stretch>
            <a:fillRect/>
          </a:stretch>
        </p:blipFill>
        <p:spPr>
          <a:xfrm rot="5400000">
            <a:off x="1125876" y="3969548"/>
            <a:ext cx="568528" cy="1032364"/>
          </a:xfrm>
          <a:prstGeom prst="rect">
            <a:avLst/>
          </a:prstGeom>
        </p:spPr>
      </p:pic>
      <p:sp>
        <p:nvSpPr>
          <p:cNvPr id="47" name="等腰三角形 54">
            <a:extLst>
              <a:ext uri="{FF2B5EF4-FFF2-40B4-BE49-F238E27FC236}">
                <a16:creationId xmlns:a16="http://schemas.microsoft.com/office/drawing/2014/main" id="{9B9002E3-19F8-A259-C484-B357257E41AE}"/>
              </a:ext>
            </a:extLst>
          </p:cNvPr>
          <p:cNvSpPr/>
          <p:nvPr/>
        </p:nvSpPr>
        <p:spPr>
          <a:xfrm rot="5400000">
            <a:off x="7155646" y="4326040"/>
            <a:ext cx="1905000" cy="424076"/>
          </a:xfrm>
          <a:prstGeom prst="triangle">
            <a:avLst/>
          </a:prstGeom>
          <a:gradFill>
            <a:gsLst>
              <a:gs pos="100000">
                <a:schemeClr val="bg1"/>
              </a:gs>
              <a:gs pos="12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: 形状 1024">
            <a:extLst>
              <a:ext uri="{FF2B5EF4-FFF2-40B4-BE49-F238E27FC236}">
                <a16:creationId xmlns:a16="http://schemas.microsoft.com/office/drawing/2014/main" id="{CD4B8AB0-35F1-DE01-54D9-D3FACC906751}"/>
              </a:ext>
            </a:extLst>
          </p:cNvPr>
          <p:cNvSpPr/>
          <p:nvPr/>
        </p:nvSpPr>
        <p:spPr>
          <a:xfrm>
            <a:off x="3434649" y="3719623"/>
            <a:ext cx="1841500" cy="779678"/>
          </a:xfrm>
          <a:custGeom>
            <a:avLst/>
            <a:gdLst>
              <a:gd name="csX0" fmla="*/ 0 w 1841500"/>
              <a:gd name="csY0" fmla="*/ 777875 h 779678"/>
              <a:gd name="csX1" fmla="*/ 412750 w 1841500"/>
              <a:gd name="csY1" fmla="*/ 679450 h 779678"/>
              <a:gd name="csX2" fmla="*/ 1041400 w 1841500"/>
              <a:gd name="csY2" fmla="*/ 133350 h 779678"/>
              <a:gd name="csX3" fmla="*/ 1841500 w 1841500"/>
              <a:gd name="csY3" fmla="*/ 0 h 7796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41500" h="779678">
                <a:moveTo>
                  <a:pt x="0" y="777875"/>
                </a:moveTo>
                <a:cubicBezTo>
                  <a:pt x="119591" y="782373"/>
                  <a:pt x="239183" y="786871"/>
                  <a:pt x="412750" y="679450"/>
                </a:cubicBezTo>
                <a:cubicBezTo>
                  <a:pt x="586317" y="572029"/>
                  <a:pt x="803275" y="246592"/>
                  <a:pt x="1041400" y="133350"/>
                </a:cubicBezTo>
                <a:cubicBezTo>
                  <a:pt x="1279525" y="20108"/>
                  <a:pt x="1560512" y="10054"/>
                  <a:pt x="1841500" y="0"/>
                </a:cubicBezTo>
              </a:path>
            </a:pathLst>
          </a:custGeom>
          <a:noFill/>
          <a:ln w="28575">
            <a:solidFill>
              <a:srgbClr val="FF0000"/>
            </a:solidFill>
            <a:prstDash val="dash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" name="直接箭头连接符 1028">
            <a:extLst>
              <a:ext uri="{FF2B5EF4-FFF2-40B4-BE49-F238E27FC236}">
                <a16:creationId xmlns:a16="http://schemas.microsoft.com/office/drawing/2014/main" id="{181534A4-625B-823D-B468-24CC6A7B7A25}"/>
              </a:ext>
            </a:extLst>
          </p:cNvPr>
          <p:cNvCxnSpPr>
            <a:cxnSpLocks/>
          </p:cNvCxnSpPr>
          <p:nvPr/>
        </p:nvCxnSpPr>
        <p:spPr>
          <a:xfrm flipV="1">
            <a:off x="1805874" y="3593935"/>
            <a:ext cx="3007402" cy="5311"/>
          </a:xfrm>
          <a:prstGeom prst="straightConnector1">
            <a:avLst/>
          </a:prstGeom>
          <a:ln w="28575">
            <a:solidFill>
              <a:srgbClr val="008F4C"/>
            </a:solidFill>
            <a:prstDash val="lgDash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1030">
            <a:extLst>
              <a:ext uri="{FF2B5EF4-FFF2-40B4-BE49-F238E27FC236}">
                <a16:creationId xmlns:a16="http://schemas.microsoft.com/office/drawing/2014/main" id="{10111392-9EF1-267B-8298-74500C5DC3DE}"/>
              </a:ext>
            </a:extLst>
          </p:cNvPr>
          <p:cNvCxnSpPr>
            <a:cxnSpLocks/>
          </p:cNvCxnSpPr>
          <p:nvPr/>
        </p:nvCxnSpPr>
        <p:spPr>
          <a:xfrm>
            <a:off x="1805874" y="3599246"/>
            <a:ext cx="1109078" cy="0"/>
          </a:xfrm>
          <a:prstGeom prst="straightConnector1">
            <a:avLst/>
          </a:prstGeom>
          <a:ln w="28575">
            <a:solidFill>
              <a:srgbClr val="008F4C"/>
            </a:solidFill>
            <a:prstDash val="lgDash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任意多边形: 形状 1032">
            <a:extLst>
              <a:ext uri="{FF2B5EF4-FFF2-40B4-BE49-F238E27FC236}">
                <a16:creationId xmlns:a16="http://schemas.microsoft.com/office/drawing/2014/main" id="{34CA4CF1-965C-AFAF-9023-87DFADFE6D5B}"/>
              </a:ext>
            </a:extLst>
          </p:cNvPr>
          <p:cNvSpPr/>
          <p:nvPr/>
        </p:nvSpPr>
        <p:spPr>
          <a:xfrm>
            <a:off x="1805874" y="3602148"/>
            <a:ext cx="1060450" cy="800100"/>
          </a:xfrm>
          <a:custGeom>
            <a:avLst/>
            <a:gdLst>
              <a:gd name="csX0" fmla="*/ 0 w 1060450"/>
              <a:gd name="csY0" fmla="*/ 0 h 800100"/>
              <a:gd name="csX1" fmla="*/ 317500 w 1060450"/>
              <a:gd name="csY1" fmla="*/ 184150 h 800100"/>
              <a:gd name="csX2" fmla="*/ 514350 w 1060450"/>
              <a:gd name="csY2" fmla="*/ 641350 h 800100"/>
              <a:gd name="csX3" fmla="*/ 1060450 w 1060450"/>
              <a:gd name="csY3" fmla="*/ 800100 h 800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60450" h="800100">
                <a:moveTo>
                  <a:pt x="0" y="0"/>
                </a:moveTo>
                <a:cubicBezTo>
                  <a:pt x="115887" y="38629"/>
                  <a:pt x="231775" y="77258"/>
                  <a:pt x="317500" y="184150"/>
                </a:cubicBezTo>
                <a:cubicBezTo>
                  <a:pt x="403225" y="291042"/>
                  <a:pt x="390525" y="538692"/>
                  <a:pt x="514350" y="641350"/>
                </a:cubicBezTo>
                <a:cubicBezTo>
                  <a:pt x="638175" y="744008"/>
                  <a:pt x="849312" y="772054"/>
                  <a:pt x="1060450" y="800100"/>
                </a:cubicBezTo>
              </a:path>
            </a:pathLst>
          </a:custGeom>
          <a:noFill/>
          <a:ln w="28575">
            <a:solidFill>
              <a:srgbClr val="008F4C"/>
            </a:solidFill>
            <a:prstDash val="lgDashDot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70ED7708-AD83-763B-26C2-CA582276BB92}"/>
              </a:ext>
            </a:extLst>
          </p:cNvPr>
          <p:cNvSpPr/>
          <p:nvPr/>
        </p:nvSpPr>
        <p:spPr>
          <a:xfrm>
            <a:off x="2694874" y="3238669"/>
            <a:ext cx="243148" cy="243148"/>
          </a:xfrm>
          <a:prstGeom prst="ellipse">
            <a:avLst/>
          </a:prstGeom>
          <a:solidFill>
            <a:srgbClr val="008F4C"/>
          </a:solidFill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04FA7B0A-9C18-2844-95C1-0465445A3D4C}"/>
              </a:ext>
            </a:extLst>
          </p:cNvPr>
          <p:cNvSpPr/>
          <p:nvPr/>
        </p:nvSpPr>
        <p:spPr>
          <a:xfrm>
            <a:off x="4656763" y="3238669"/>
            <a:ext cx="243148" cy="243148"/>
          </a:xfrm>
          <a:prstGeom prst="ellipse">
            <a:avLst/>
          </a:prstGeom>
          <a:solidFill>
            <a:srgbClr val="008F4C"/>
          </a:solidFill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64C1AE03-5F2F-D509-0AF5-0021F224A7F7}"/>
              </a:ext>
            </a:extLst>
          </p:cNvPr>
          <p:cNvSpPr/>
          <p:nvPr/>
        </p:nvSpPr>
        <p:spPr>
          <a:xfrm>
            <a:off x="2694874" y="4017045"/>
            <a:ext cx="243148" cy="243148"/>
          </a:xfrm>
          <a:prstGeom prst="ellipse">
            <a:avLst/>
          </a:prstGeom>
          <a:solidFill>
            <a:srgbClr val="008F4C"/>
          </a:solidFill>
          <a:ln>
            <a:solidFill>
              <a:srgbClr val="008F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55" name="直接连接符 1037">
            <a:extLst>
              <a:ext uri="{FF2B5EF4-FFF2-40B4-BE49-F238E27FC236}">
                <a16:creationId xmlns:a16="http://schemas.microsoft.com/office/drawing/2014/main" id="{0247EFEF-F325-3738-3124-B919ED0C1869}"/>
              </a:ext>
            </a:extLst>
          </p:cNvPr>
          <p:cNvCxnSpPr>
            <a:stCxn id="44" idx="2"/>
          </p:cNvCxnSpPr>
          <p:nvPr/>
        </p:nvCxnSpPr>
        <p:spPr>
          <a:xfrm flipH="1">
            <a:off x="2062276" y="5379759"/>
            <a:ext cx="1092923" cy="0"/>
          </a:xfrm>
          <a:prstGeom prst="line">
            <a:avLst/>
          </a:prstGeom>
          <a:ln w="28575">
            <a:solidFill>
              <a:srgbClr val="1A6FD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1038">
            <a:extLst>
              <a:ext uri="{FF2B5EF4-FFF2-40B4-BE49-F238E27FC236}">
                <a16:creationId xmlns:a16="http://schemas.microsoft.com/office/drawing/2014/main" id="{D5287AB1-0FE6-03B8-1659-6D95F6A7EDDE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390525" y="5379759"/>
            <a:ext cx="628252" cy="0"/>
          </a:xfrm>
          <a:prstGeom prst="line">
            <a:avLst/>
          </a:prstGeom>
          <a:ln w="28575">
            <a:solidFill>
              <a:srgbClr val="1A6FD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任意多边形: 形状 1039">
            <a:extLst>
              <a:ext uri="{FF2B5EF4-FFF2-40B4-BE49-F238E27FC236}">
                <a16:creationId xmlns:a16="http://schemas.microsoft.com/office/drawing/2014/main" id="{4B0ABEC9-ACF6-B690-36A0-77C0091D7A76}"/>
              </a:ext>
            </a:extLst>
          </p:cNvPr>
          <p:cNvSpPr/>
          <p:nvPr/>
        </p:nvSpPr>
        <p:spPr>
          <a:xfrm>
            <a:off x="381000" y="3646403"/>
            <a:ext cx="501650" cy="852368"/>
          </a:xfrm>
          <a:custGeom>
            <a:avLst/>
            <a:gdLst>
              <a:gd name="csX0" fmla="*/ 0 w 501650"/>
              <a:gd name="csY0" fmla="*/ 195 h 852368"/>
              <a:gd name="csX1" fmla="*/ 196850 w 501650"/>
              <a:gd name="csY1" fmla="*/ 120845 h 852368"/>
              <a:gd name="csX2" fmla="*/ 266700 w 501650"/>
              <a:gd name="csY2" fmla="*/ 736795 h 852368"/>
              <a:gd name="csX3" fmla="*/ 501650 w 501650"/>
              <a:gd name="csY3" fmla="*/ 851095 h 8523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1650" h="852368">
                <a:moveTo>
                  <a:pt x="0" y="195"/>
                </a:moveTo>
                <a:cubicBezTo>
                  <a:pt x="76200" y="-864"/>
                  <a:pt x="152400" y="-1922"/>
                  <a:pt x="196850" y="120845"/>
                </a:cubicBezTo>
                <a:cubicBezTo>
                  <a:pt x="241300" y="243612"/>
                  <a:pt x="215900" y="615087"/>
                  <a:pt x="266700" y="736795"/>
                </a:cubicBezTo>
                <a:cubicBezTo>
                  <a:pt x="317500" y="858503"/>
                  <a:pt x="409575" y="854799"/>
                  <a:pt x="501650" y="851095"/>
                </a:cubicBezTo>
              </a:path>
            </a:pathLst>
          </a:custGeom>
          <a:noFill/>
          <a:ln w="28575">
            <a:solidFill>
              <a:srgbClr val="1A6FD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1040">
            <a:extLst>
              <a:ext uri="{FF2B5EF4-FFF2-40B4-BE49-F238E27FC236}">
                <a16:creationId xmlns:a16="http://schemas.microsoft.com/office/drawing/2014/main" id="{C677C413-825C-082E-12C4-58BAE7C4BB40}"/>
              </a:ext>
            </a:extLst>
          </p:cNvPr>
          <p:cNvSpPr/>
          <p:nvPr/>
        </p:nvSpPr>
        <p:spPr>
          <a:xfrm>
            <a:off x="3463663" y="4497498"/>
            <a:ext cx="1066800" cy="698761"/>
          </a:xfrm>
          <a:custGeom>
            <a:avLst/>
            <a:gdLst>
              <a:gd name="csX0" fmla="*/ 0 w 1066800"/>
              <a:gd name="csY0" fmla="*/ 679450 h 698761"/>
              <a:gd name="csX1" fmla="*/ 361950 w 1066800"/>
              <a:gd name="csY1" fmla="*/ 635000 h 698761"/>
              <a:gd name="csX2" fmla="*/ 647700 w 1066800"/>
              <a:gd name="csY2" fmla="*/ 152400 h 698761"/>
              <a:gd name="csX3" fmla="*/ 1066800 w 1066800"/>
              <a:gd name="csY3" fmla="*/ 0 h 6987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66800" h="698761">
                <a:moveTo>
                  <a:pt x="0" y="679450"/>
                </a:moveTo>
                <a:cubicBezTo>
                  <a:pt x="127000" y="701146"/>
                  <a:pt x="254000" y="722842"/>
                  <a:pt x="361950" y="635000"/>
                </a:cubicBezTo>
                <a:cubicBezTo>
                  <a:pt x="469900" y="547158"/>
                  <a:pt x="530225" y="258233"/>
                  <a:pt x="647700" y="152400"/>
                </a:cubicBezTo>
                <a:cubicBezTo>
                  <a:pt x="765175" y="46567"/>
                  <a:pt x="915987" y="23283"/>
                  <a:pt x="1066800" y="0"/>
                </a:cubicBezTo>
              </a:path>
            </a:pathLst>
          </a:custGeom>
          <a:noFill/>
          <a:ln w="28575">
            <a:solidFill>
              <a:srgbClr val="1A6FD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1042">
            <a:extLst>
              <a:ext uri="{FF2B5EF4-FFF2-40B4-BE49-F238E27FC236}">
                <a16:creationId xmlns:a16="http://schemas.microsoft.com/office/drawing/2014/main" id="{2DA60C49-9C31-ADF1-FC98-90AFAEB8ED55}"/>
              </a:ext>
            </a:extLst>
          </p:cNvPr>
          <p:cNvSpPr/>
          <p:nvPr/>
        </p:nvSpPr>
        <p:spPr>
          <a:xfrm>
            <a:off x="5580514" y="3301735"/>
            <a:ext cx="2077628" cy="2441162"/>
          </a:xfrm>
          <a:prstGeom prst="roundRect">
            <a:avLst>
              <a:gd name="adj" fmla="val 5635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1043">
            <a:extLst>
              <a:ext uri="{FF2B5EF4-FFF2-40B4-BE49-F238E27FC236}">
                <a16:creationId xmlns:a16="http://schemas.microsoft.com/office/drawing/2014/main" id="{A0C1DB91-14BA-2E9F-43CF-551E685FCA6B}"/>
              </a:ext>
            </a:extLst>
          </p:cNvPr>
          <p:cNvCxnSpPr>
            <a:cxnSpLocks/>
          </p:cNvCxnSpPr>
          <p:nvPr/>
        </p:nvCxnSpPr>
        <p:spPr>
          <a:xfrm flipH="1">
            <a:off x="5717062" y="3585578"/>
            <a:ext cx="654959" cy="0"/>
          </a:xfrm>
          <a:prstGeom prst="line">
            <a:avLst/>
          </a:prstGeom>
          <a:ln w="28575">
            <a:solidFill>
              <a:srgbClr val="1A6FD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1044">
            <a:extLst>
              <a:ext uri="{FF2B5EF4-FFF2-40B4-BE49-F238E27FC236}">
                <a16:creationId xmlns:a16="http://schemas.microsoft.com/office/drawing/2014/main" id="{5AE13743-D970-1815-125A-5A0DED69B869}"/>
              </a:ext>
            </a:extLst>
          </p:cNvPr>
          <p:cNvCxnSpPr>
            <a:cxnSpLocks/>
          </p:cNvCxnSpPr>
          <p:nvPr/>
        </p:nvCxnSpPr>
        <p:spPr>
          <a:xfrm>
            <a:off x="5717062" y="3887721"/>
            <a:ext cx="693059" cy="0"/>
          </a:xfrm>
          <a:prstGeom prst="straightConnector1">
            <a:avLst/>
          </a:prstGeom>
          <a:ln w="28575">
            <a:solidFill>
              <a:srgbClr val="008F4C"/>
            </a:solidFill>
            <a:prstDash val="lgDashDot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1045">
            <a:extLst>
              <a:ext uri="{FF2B5EF4-FFF2-40B4-BE49-F238E27FC236}">
                <a16:creationId xmlns:a16="http://schemas.microsoft.com/office/drawing/2014/main" id="{D1CD7217-5C6C-B53E-5BB1-2F316BEE157C}"/>
              </a:ext>
            </a:extLst>
          </p:cNvPr>
          <p:cNvCxnSpPr>
            <a:cxnSpLocks/>
          </p:cNvCxnSpPr>
          <p:nvPr/>
        </p:nvCxnSpPr>
        <p:spPr>
          <a:xfrm flipH="1">
            <a:off x="5717062" y="4201466"/>
            <a:ext cx="650197" cy="94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形 62">
            <a:extLst>
              <a:ext uri="{FF2B5EF4-FFF2-40B4-BE49-F238E27FC236}">
                <a16:creationId xmlns:a16="http://schemas.microsoft.com/office/drawing/2014/main" id="{ABBBA215-FBF0-FD7F-9AF3-B241826A2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58" r="17525"/>
          <a:stretch>
            <a:fillRect/>
          </a:stretch>
        </p:blipFill>
        <p:spPr>
          <a:xfrm rot="5400000">
            <a:off x="5836365" y="4758742"/>
            <a:ext cx="397656" cy="596925"/>
          </a:xfrm>
          <a:prstGeom prst="rect">
            <a:avLst/>
          </a:prstGeom>
        </p:spPr>
      </p:pic>
      <p:pic>
        <p:nvPicPr>
          <p:cNvPr id="64" name="图形 63">
            <a:extLst>
              <a:ext uri="{FF2B5EF4-FFF2-40B4-BE49-F238E27FC236}">
                <a16:creationId xmlns:a16="http://schemas.microsoft.com/office/drawing/2014/main" id="{4012FAD2-07A2-59F8-FCDE-1E236C692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618" r="23627"/>
          <a:stretch>
            <a:fillRect/>
          </a:stretch>
        </p:blipFill>
        <p:spPr>
          <a:xfrm rot="5400000">
            <a:off x="5824004" y="4218333"/>
            <a:ext cx="413083" cy="768451"/>
          </a:xfrm>
          <a:prstGeom prst="rect">
            <a:avLst/>
          </a:prstGeom>
        </p:spPr>
      </p:pic>
      <p:pic>
        <p:nvPicPr>
          <p:cNvPr id="65" name="图形 64">
            <a:extLst>
              <a:ext uri="{FF2B5EF4-FFF2-40B4-BE49-F238E27FC236}">
                <a16:creationId xmlns:a16="http://schemas.microsoft.com/office/drawing/2014/main" id="{47ACBDBE-B931-C570-32F5-CCBAA6C10E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461" r="22469"/>
          <a:stretch>
            <a:fillRect/>
          </a:stretch>
        </p:blipFill>
        <p:spPr>
          <a:xfrm rot="5400000">
            <a:off x="5869574" y="5171381"/>
            <a:ext cx="325658" cy="591347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A8504ACF-BCDC-7581-28C6-AECA0DD4EEAF}"/>
              </a:ext>
            </a:extLst>
          </p:cNvPr>
          <p:cNvSpPr txBox="1"/>
          <p:nvPr/>
        </p:nvSpPr>
        <p:spPr>
          <a:xfrm>
            <a:off x="6429091" y="3427620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历史轨迹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9BC800E-E3A6-FF40-07B0-A60018DA4216}"/>
              </a:ext>
            </a:extLst>
          </p:cNvPr>
          <p:cNvSpPr txBox="1"/>
          <p:nvPr/>
        </p:nvSpPr>
        <p:spPr>
          <a:xfrm>
            <a:off x="6429091" y="3740046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目标车预测轨迹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DE7E898-2FE0-A5F6-3C36-69FA9C30E1C2}"/>
              </a:ext>
            </a:extLst>
          </p:cNvPr>
          <p:cNvSpPr txBox="1"/>
          <p:nvPr/>
        </p:nvSpPr>
        <p:spPr>
          <a:xfrm>
            <a:off x="6429091" y="4062966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自车候选意图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665CFC5-3EE6-B19B-DDBA-7367C62CCCC8}"/>
              </a:ext>
            </a:extLst>
          </p:cNvPr>
          <p:cNvSpPr txBox="1"/>
          <p:nvPr/>
        </p:nvSpPr>
        <p:spPr>
          <a:xfrm>
            <a:off x="6429091" y="4462291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目标车辆（</a:t>
            </a:r>
            <a:r>
              <a:rPr lang="en-US" altLang="zh-CN" dirty="0"/>
              <a:t>Tar</a:t>
            </a:r>
            <a:r>
              <a:rPr lang="zh-CN" altLang="en-US" dirty="0"/>
              <a:t>）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66BFCDF-F4FB-92E0-DC0D-6D84952E55A6}"/>
              </a:ext>
            </a:extLst>
          </p:cNvPr>
          <p:cNvSpPr txBox="1"/>
          <p:nvPr/>
        </p:nvSpPr>
        <p:spPr>
          <a:xfrm>
            <a:off x="6429091" y="4912387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自车（</a:t>
            </a:r>
            <a:r>
              <a:rPr lang="en-US" altLang="zh-CN" dirty="0"/>
              <a:t>Ego</a:t>
            </a:r>
            <a:r>
              <a:rPr lang="zh-CN" altLang="en-US" dirty="0"/>
              <a:t>）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4058BDD-189A-B612-9ADA-98A7D601CE3F}"/>
              </a:ext>
            </a:extLst>
          </p:cNvPr>
          <p:cNvSpPr txBox="1"/>
          <p:nvPr/>
        </p:nvSpPr>
        <p:spPr>
          <a:xfrm>
            <a:off x="6429091" y="5338825"/>
            <a:ext cx="12736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周围车辆（</a:t>
            </a:r>
            <a:r>
              <a:rPr lang="en-US" altLang="zh-CN" dirty="0"/>
              <a:t>Sur</a:t>
            </a:r>
            <a:r>
              <a:rPr lang="zh-CN" altLang="en-US" dirty="0"/>
              <a:t>）</a:t>
            </a: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166979DB-ECA7-E1BD-7115-5DFE5065B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154" y="3234799"/>
            <a:ext cx="645780" cy="654167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4C2E3576-92E8-6507-1583-B716A5ACCF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154" y="4208307"/>
            <a:ext cx="654167" cy="637393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57EA6C0B-4DCD-5C0C-DF1D-7C8C943B46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1541" y="5189386"/>
            <a:ext cx="645780" cy="603846"/>
          </a:xfrm>
          <a:prstGeom prst="rect">
            <a:avLst/>
          </a:prstGeom>
        </p:spPr>
      </p:pic>
      <p:cxnSp>
        <p:nvCxnSpPr>
          <p:cNvPr id="75" name="直接连接符 1072">
            <a:extLst>
              <a:ext uri="{FF2B5EF4-FFF2-40B4-BE49-F238E27FC236}">
                <a16:creationId xmlns:a16="http://schemas.microsoft.com/office/drawing/2014/main" id="{1C4EC33F-73FA-69F4-29F3-F56EE9458D8D}"/>
              </a:ext>
            </a:extLst>
          </p:cNvPr>
          <p:cNvCxnSpPr/>
          <p:nvPr/>
        </p:nvCxnSpPr>
        <p:spPr>
          <a:xfrm>
            <a:off x="9239250" y="3318273"/>
            <a:ext cx="0" cy="495905"/>
          </a:xfrm>
          <a:prstGeom prst="line">
            <a:avLst/>
          </a:prstGeom>
          <a:ln w="12700">
            <a:solidFill>
              <a:srgbClr val="004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1073">
            <a:extLst>
              <a:ext uri="{FF2B5EF4-FFF2-40B4-BE49-F238E27FC236}">
                <a16:creationId xmlns:a16="http://schemas.microsoft.com/office/drawing/2014/main" id="{FB51571E-7E36-A49B-336F-FB725E69D70F}"/>
              </a:ext>
            </a:extLst>
          </p:cNvPr>
          <p:cNvCxnSpPr/>
          <p:nvPr/>
        </p:nvCxnSpPr>
        <p:spPr>
          <a:xfrm>
            <a:off x="9239250" y="4274089"/>
            <a:ext cx="0" cy="495905"/>
          </a:xfrm>
          <a:prstGeom prst="line">
            <a:avLst/>
          </a:prstGeom>
          <a:ln w="12700">
            <a:solidFill>
              <a:srgbClr val="004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1074">
            <a:extLst>
              <a:ext uri="{FF2B5EF4-FFF2-40B4-BE49-F238E27FC236}">
                <a16:creationId xmlns:a16="http://schemas.microsoft.com/office/drawing/2014/main" id="{B267E2CC-9561-8E35-56ED-DC939F562EDA}"/>
              </a:ext>
            </a:extLst>
          </p:cNvPr>
          <p:cNvCxnSpPr/>
          <p:nvPr/>
        </p:nvCxnSpPr>
        <p:spPr>
          <a:xfrm>
            <a:off x="9239250" y="5238040"/>
            <a:ext cx="0" cy="495905"/>
          </a:xfrm>
          <a:prstGeom prst="line">
            <a:avLst/>
          </a:prstGeom>
          <a:ln w="12700">
            <a:solidFill>
              <a:srgbClr val="004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89456452-A504-4827-D7BF-FFE11A50E9CE}"/>
              </a:ext>
            </a:extLst>
          </p:cNvPr>
          <p:cNvSpPr txBox="1"/>
          <p:nvPr/>
        </p:nvSpPr>
        <p:spPr>
          <a:xfrm>
            <a:off x="9258287" y="3253824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4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复杂车辆交互</a:t>
            </a:r>
            <a:endParaRPr lang="zh-CN" altLang="en-US" sz="1600" dirty="0">
              <a:solidFill>
                <a:srgbClr val="004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EE4FA983-AA81-ACAF-E399-D28CE872EEFA}"/>
              </a:ext>
            </a:extLst>
          </p:cNvPr>
          <p:cNvSpPr txBox="1"/>
          <p:nvPr/>
        </p:nvSpPr>
        <p:spPr>
          <a:xfrm>
            <a:off x="9258287" y="4208307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4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现有方法不足</a:t>
            </a:r>
            <a:endParaRPr lang="zh-CN" altLang="en-US" sz="1600" dirty="0">
              <a:solidFill>
                <a:srgbClr val="004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1210EA8-1C7E-7A69-A056-31610611417F}"/>
              </a:ext>
            </a:extLst>
          </p:cNvPr>
          <p:cNvSpPr txBox="1"/>
          <p:nvPr/>
        </p:nvSpPr>
        <p:spPr>
          <a:xfrm>
            <a:off x="9258287" y="5149364"/>
            <a:ext cx="1969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4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研究目标</a:t>
            </a:r>
            <a:endParaRPr lang="zh-CN" altLang="en-US" sz="1600" dirty="0">
              <a:solidFill>
                <a:srgbClr val="004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1DC83DD-D939-F66C-BE9F-B1D80554178D}"/>
              </a:ext>
            </a:extLst>
          </p:cNvPr>
          <p:cNvSpPr txBox="1"/>
          <p:nvPr/>
        </p:nvSpPr>
        <p:spPr>
          <a:xfrm>
            <a:off x="9239251" y="3596114"/>
            <a:ext cx="2759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周围车辆轨迹受多主体互动影响</a:t>
            </a:r>
            <a:endParaRPr lang="zh-CN" altLang="en-US" sz="1400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1B3DBC4-3A2E-E1CF-2819-E7E40FA1BA51}"/>
              </a:ext>
            </a:extLst>
          </p:cNvPr>
          <p:cNvSpPr txBox="1"/>
          <p:nvPr/>
        </p:nvSpPr>
        <p:spPr>
          <a:xfrm>
            <a:off x="9239251" y="4538078"/>
            <a:ext cx="2759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多依赖静态信息，难刻画意图</a:t>
            </a:r>
            <a:endParaRPr lang="zh-CN" altLang="en-US" sz="1400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425ACBEC-2594-2BEF-C644-C1A38F6F5289}"/>
              </a:ext>
            </a:extLst>
          </p:cNvPr>
          <p:cNvSpPr txBox="1"/>
          <p:nvPr/>
        </p:nvSpPr>
        <p:spPr>
          <a:xfrm>
            <a:off x="9239251" y="5470244"/>
            <a:ext cx="27590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a typeface="黑体" panose="02010609060101010101" pitchFamily="49" charset="-122"/>
                <a:cs typeface="Times New Roman" panose="02020603050405020304" pitchFamily="18" charset="0"/>
              </a:rPr>
              <a:t>结合自车潜在意图进行轨迹预测</a:t>
            </a:r>
            <a:endParaRPr lang="zh-CN" altLang="en-US" sz="1400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2BB26C9-525A-F191-D1B1-B768CB5F1E1F}"/>
              </a:ext>
            </a:extLst>
          </p:cNvPr>
          <p:cNvSpPr txBox="1"/>
          <p:nvPr/>
        </p:nvSpPr>
        <p:spPr>
          <a:xfrm>
            <a:off x="269763" y="1118504"/>
            <a:ext cx="159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项目简介</a:t>
            </a: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CB9E94C0-E9EC-5CC7-0E84-D941C4A1AE3A}"/>
              </a:ext>
            </a:extLst>
          </p:cNvPr>
          <p:cNvCxnSpPr>
            <a:cxnSpLocks/>
          </p:cNvCxnSpPr>
          <p:nvPr/>
        </p:nvCxnSpPr>
        <p:spPr>
          <a:xfrm>
            <a:off x="485422" y="1641965"/>
            <a:ext cx="580208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60B822BB-973F-DD33-8DEB-926EB646EF9E}"/>
              </a:ext>
            </a:extLst>
          </p:cNvPr>
          <p:cNvSpPr txBox="1"/>
          <p:nvPr/>
        </p:nvSpPr>
        <p:spPr>
          <a:xfrm>
            <a:off x="312799" y="1709805"/>
            <a:ext cx="11545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kern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面向自动驾驶规划闭环中的交互预测问题，</a:t>
            </a:r>
            <a:r>
              <a:rPr lang="zh-CN" altLang="en-US" sz="2000" kern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考虑到目前大多方法仅采用历史信息进行轨迹预测，额外给定自车未来意图，</a:t>
            </a:r>
            <a:r>
              <a:rPr lang="zh-CN" altLang="zh-CN" sz="2000" kern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构建条件轨迹预测框架。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E81F985-C1F9-D42E-5455-0C2AB1D2ECF9}"/>
              </a:ext>
            </a:extLst>
          </p:cNvPr>
          <p:cNvSpPr txBox="1"/>
          <p:nvPr/>
        </p:nvSpPr>
        <p:spPr>
          <a:xfrm>
            <a:off x="158044" y="2484906"/>
            <a:ext cx="159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技术栈</a:t>
            </a:r>
          </a:p>
        </p:txBody>
      </p: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37C7EC88-9FEF-C452-D10F-6B5DC46D3D2C}"/>
              </a:ext>
            </a:extLst>
          </p:cNvPr>
          <p:cNvCxnSpPr>
            <a:cxnSpLocks/>
          </p:cNvCxnSpPr>
          <p:nvPr/>
        </p:nvCxnSpPr>
        <p:spPr>
          <a:xfrm>
            <a:off x="485422" y="3008367"/>
            <a:ext cx="580208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CD9B8C95-B79B-232F-4C36-145FB62E353E}"/>
              </a:ext>
            </a:extLst>
          </p:cNvPr>
          <p:cNvSpPr txBox="1"/>
          <p:nvPr/>
        </p:nvSpPr>
        <p:spPr>
          <a:xfrm>
            <a:off x="1641871" y="2567606"/>
            <a:ext cx="8639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kern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/ </a:t>
            </a:r>
            <a:r>
              <a:rPr lang="en-US" altLang="zh-CN" sz="2000" kern="15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Pytorch</a:t>
            </a:r>
            <a:r>
              <a:rPr lang="en-US" altLang="zh-CN" sz="2000" kern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/ CNN / LSTM / Transformer / </a:t>
            </a:r>
            <a:r>
              <a:rPr lang="zh-CN" altLang="en-US" sz="2000" kern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多模态轨迹预测</a:t>
            </a:r>
            <a:endParaRPr lang="zh-CN" altLang="zh-CN" sz="2000" kern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9" name="矩形: 圆角 36">
            <a:extLst>
              <a:ext uri="{FF2B5EF4-FFF2-40B4-BE49-F238E27FC236}">
                <a16:creationId xmlns:a16="http://schemas.microsoft.com/office/drawing/2014/main" id="{AED4A3D7-B9D9-20A8-44F9-4403202CFD9A}"/>
              </a:ext>
            </a:extLst>
          </p:cNvPr>
          <p:cNvSpPr/>
          <p:nvPr/>
        </p:nvSpPr>
        <p:spPr>
          <a:xfrm>
            <a:off x="8410575" y="5083764"/>
            <a:ext cx="3448050" cy="770426"/>
          </a:xfrm>
          <a:prstGeom prst="roundRect">
            <a:avLst>
              <a:gd name="adj" fmla="val 5635"/>
            </a:avLst>
          </a:prstGeom>
          <a:noFill/>
          <a:ln>
            <a:solidFill>
              <a:srgbClr val="00409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00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C6C56-0E0B-E2BF-6217-47A04878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4586CD3-B51F-A423-1599-F01E17EAA59D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55CF0D-2587-7051-9045-660532DA2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B8295DF-EDA3-CABD-3EC2-CA2528C46E57}"/>
              </a:ext>
            </a:extLst>
          </p:cNvPr>
          <p:cNvSpPr/>
          <p:nvPr/>
        </p:nvSpPr>
        <p:spPr>
          <a:xfrm>
            <a:off x="0" y="6121034"/>
            <a:ext cx="12192000" cy="73696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AA8FF6-B722-0908-09CD-23480D3A4960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07CB5DAC-ABCC-6096-9451-F440FBF169BA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EF032D7-5A9D-08B9-D11E-E299408FAF20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项目经历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5EC01FD2-291F-AC9E-1294-E4BF8EB7729B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2D2288A-37C1-5D08-9ED0-A6D506DAD33B}"/>
              </a:ext>
            </a:extLst>
          </p:cNvPr>
          <p:cNvSpPr txBox="1"/>
          <p:nvPr/>
        </p:nvSpPr>
        <p:spPr>
          <a:xfrm>
            <a:off x="7621609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实习经历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A995665A-B20F-F5CE-B64A-46A3F169F68B}"/>
              </a:ext>
            </a:extLst>
          </p:cNvPr>
          <p:cNvCxnSpPr>
            <a:cxnSpLocks/>
          </p:cNvCxnSpPr>
          <p:nvPr/>
        </p:nvCxnSpPr>
        <p:spPr>
          <a:xfrm>
            <a:off x="964348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AF06FD9-9E12-E44B-F883-DA22D0B4DA6F}"/>
              </a:ext>
            </a:extLst>
          </p:cNvPr>
          <p:cNvSpPr txBox="1"/>
          <p:nvPr/>
        </p:nvSpPr>
        <p:spPr>
          <a:xfrm>
            <a:off x="9876616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自我评价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FA271159-DF36-709F-611A-CCA13673F090}"/>
              </a:ext>
            </a:extLst>
          </p:cNvPr>
          <p:cNvCxnSpPr>
            <a:cxnSpLocks/>
          </p:cNvCxnSpPr>
          <p:nvPr/>
        </p:nvCxnSpPr>
        <p:spPr>
          <a:xfrm>
            <a:off x="5553656" y="781088"/>
            <a:ext cx="1519415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507E35E-663E-4193-D9B3-2723C111A3ED}"/>
              </a:ext>
            </a:extLst>
          </p:cNvPr>
          <p:cNvSpPr txBox="1"/>
          <p:nvPr/>
        </p:nvSpPr>
        <p:spPr>
          <a:xfrm>
            <a:off x="1440523" y="6195166"/>
            <a:ext cx="9310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项目一：</a:t>
            </a:r>
            <a:r>
              <a:rPr kumimoji="1" lang="zh-CN" altLang="zh-CN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基于跨时域交互的自动驾驶轨迹预测算法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2705077-F056-E030-9FB1-7886576F48C2}"/>
              </a:ext>
            </a:extLst>
          </p:cNvPr>
          <p:cNvGrpSpPr/>
          <p:nvPr/>
        </p:nvGrpSpPr>
        <p:grpSpPr>
          <a:xfrm>
            <a:off x="781890" y="1025891"/>
            <a:ext cx="10628219" cy="4933006"/>
            <a:chOff x="0" y="599588"/>
            <a:chExt cx="12192000" cy="565882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D27902A-90C3-BE36-16E4-D8414E5AE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99588"/>
              <a:ext cx="12192000" cy="5658823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5A50EAA-9197-30EC-9605-40D6F9A2FEE0}"/>
                </a:ext>
              </a:extLst>
            </p:cNvPr>
            <p:cNvSpPr/>
            <p:nvPr/>
          </p:nvSpPr>
          <p:spPr>
            <a:xfrm>
              <a:off x="6745667" y="5703673"/>
              <a:ext cx="1034715" cy="144379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F2F2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0565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377B-797F-C000-8D6A-4E56328B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9090B8E-8F5A-BCC3-AD33-45028CFFAF30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C1C1FE-7F34-BBDB-0848-C503B6178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176899B-3730-6B09-9939-4B8BE83E6F34}"/>
              </a:ext>
            </a:extLst>
          </p:cNvPr>
          <p:cNvSpPr/>
          <p:nvPr/>
        </p:nvSpPr>
        <p:spPr>
          <a:xfrm>
            <a:off x="0" y="6121034"/>
            <a:ext cx="12192000" cy="73696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011BAE-37EC-3410-5A46-6E0C97C530DA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8442FA2-BC88-5BAC-0B38-4EB57C4442D1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90C2BF1-3316-1B86-69CC-1AB9E8478D2E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项目经历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B3DA4D3E-47FF-6012-56E9-86BCCD3CE552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0A1BE1E-8156-5702-C9BA-33A5BCF29132}"/>
              </a:ext>
            </a:extLst>
          </p:cNvPr>
          <p:cNvSpPr txBox="1"/>
          <p:nvPr/>
        </p:nvSpPr>
        <p:spPr>
          <a:xfrm>
            <a:off x="7621609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实习经历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57C30F2F-4C7D-3613-3342-64FD948301A3}"/>
              </a:ext>
            </a:extLst>
          </p:cNvPr>
          <p:cNvCxnSpPr>
            <a:cxnSpLocks/>
          </p:cNvCxnSpPr>
          <p:nvPr/>
        </p:nvCxnSpPr>
        <p:spPr>
          <a:xfrm>
            <a:off x="964348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DEF7134-E9D3-A698-16D9-C7E187662154}"/>
              </a:ext>
            </a:extLst>
          </p:cNvPr>
          <p:cNvSpPr txBox="1"/>
          <p:nvPr/>
        </p:nvSpPr>
        <p:spPr>
          <a:xfrm>
            <a:off x="9876616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自我评价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8A1DBC4C-4595-2EC2-C5A8-8EF84FF673E2}"/>
              </a:ext>
            </a:extLst>
          </p:cNvPr>
          <p:cNvCxnSpPr>
            <a:cxnSpLocks/>
          </p:cNvCxnSpPr>
          <p:nvPr/>
        </p:nvCxnSpPr>
        <p:spPr>
          <a:xfrm>
            <a:off x="5553656" y="781088"/>
            <a:ext cx="1519415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5B60DC7-F3AC-FCC6-72EA-BA7079800C1E}"/>
              </a:ext>
            </a:extLst>
          </p:cNvPr>
          <p:cNvSpPr txBox="1"/>
          <p:nvPr/>
        </p:nvSpPr>
        <p:spPr>
          <a:xfrm>
            <a:off x="1440523" y="6195166"/>
            <a:ext cx="9310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项目一：</a:t>
            </a:r>
            <a:r>
              <a:rPr kumimoji="1" lang="zh-CN" altLang="zh-CN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基于跨时域交互的自动驾驶轨迹预测算法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B43696-1811-8F85-65E6-722B14EEAB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984"/>
          <a:stretch>
            <a:fillRect/>
          </a:stretch>
        </p:blipFill>
        <p:spPr>
          <a:xfrm>
            <a:off x="266530" y="1847240"/>
            <a:ext cx="4640143" cy="245861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1F4CC12-73E4-A562-F8A3-49478913118C}"/>
              </a:ext>
            </a:extLst>
          </p:cNvPr>
          <p:cNvSpPr txBox="1"/>
          <p:nvPr/>
        </p:nvSpPr>
        <p:spPr>
          <a:xfrm>
            <a:off x="1013152" y="5165525"/>
            <a:ext cx="101656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zh-CN" altLang="zh-CN" sz="200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相较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其它轨迹预测</a:t>
            </a:r>
            <a:r>
              <a:rPr lang="zh-CN" altLang="zh-CN" sz="200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方法，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我们的</a:t>
            </a:r>
            <a:r>
              <a:rPr lang="zh-CN" altLang="zh-CN" sz="200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预测轨迹与真实轨迹更加接近，且可以从多类驾驶意图中有效捕捉驾驶员的真实意图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。另外根据消融实验，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cross-attention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模块对方法提升较大。</a:t>
            </a:r>
            <a:endParaRPr lang="zh-CN" altLang="zh-CN" sz="20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57A80513-145D-FE0C-11F1-84F42B7A11E8}"/>
              </a:ext>
            </a:extLst>
          </p:cNvPr>
          <p:cNvSpPr/>
          <p:nvPr/>
        </p:nvSpPr>
        <p:spPr>
          <a:xfrm>
            <a:off x="891822" y="5103619"/>
            <a:ext cx="10287026" cy="831697"/>
          </a:xfrm>
          <a:prstGeom prst="roundRect">
            <a:avLst/>
          </a:prstGeom>
          <a:noFill/>
          <a:ln>
            <a:solidFill>
              <a:srgbClr val="00409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289E863-D476-F907-E0A2-73041AD9D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668" y="1847369"/>
            <a:ext cx="5158688" cy="283140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46DC145-9767-E8F5-6239-D5443911C6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45"/>
          <a:stretch>
            <a:fillRect/>
          </a:stretch>
        </p:blipFill>
        <p:spPr>
          <a:xfrm>
            <a:off x="4906673" y="1847240"/>
            <a:ext cx="1099357" cy="245861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126BE895-BFF0-75E6-78D8-57FF4F6A4EA9}"/>
              </a:ext>
            </a:extLst>
          </p:cNvPr>
          <p:cNvSpPr txBox="1"/>
          <p:nvPr/>
        </p:nvSpPr>
        <p:spPr>
          <a:xfrm>
            <a:off x="2028297" y="1138302"/>
            <a:ext cx="1897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消融试验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4110984-372B-EE70-1864-2B64F93D1FAC}"/>
              </a:ext>
            </a:extLst>
          </p:cNvPr>
          <p:cNvSpPr txBox="1"/>
          <p:nvPr/>
        </p:nvSpPr>
        <p:spPr>
          <a:xfrm>
            <a:off x="7567488" y="1138302"/>
            <a:ext cx="3037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与其他方法对比</a:t>
            </a:r>
          </a:p>
        </p:txBody>
      </p:sp>
    </p:spTree>
    <p:extLst>
      <p:ext uri="{BB962C8B-B14F-4D97-AF65-F5344CB8AC3E}">
        <p14:creationId xmlns:p14="http://schemas.microsoft.com/office/powerpoint/2010/main" val="407491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2CFC3-145B-6C17-C1B0-5D499B5AD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0125539-B494-F813-4E2E-5A8506EE1F97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006DE3-A78D-3516-EC7C-7914D3EA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D7EA9D7-EEF1-9341-9719-7E8A05ABF1D6}"/>
              </a:ext>
            </a:extLst>
          </p:cNvPr>
          <p:cNvSpPr/>
          <p:nvPr/>
        </p:nvSpPr>
        <p:spPr>
          <a:xfrm>
            <a:off x="0" y="6121034"/>
            <a:ext cx="12192000" cy="73696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D24CB4-3F6A-A6F4-DF1F-93DCC2335E41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73B9840-D0BC-C498-4D4F-11E28A2A179D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C9A5CF5-12AA-AF17-977F-1B7F6713833B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项目经历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B192E0BD-6186-C045-215D-C6E389422699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E71E97A-D615-14AE-B766-2EAAF9636327}"/>
              </a:ext>
            </a:extLst>
          </p:cNvPr>
          <p:cNvSpPr txBox="1"/>
          <p:nvPr/>
        </p:nvSpPr>
        <p:spPr>
          <a:xfrm>
            <a:off x="7621609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实习经历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80B53D90-B837-C147-F3B0-B8DE3DC4EDAA}"/>
              </a:ext>
            </a:extLst>
          </p:cNvPr>
          <p:cNvCxnSpPr>
            <a:cxnSpLocks/>
          </p:cNvCxnSpPr>
          <p:nvPr/>
        </p:nvCxnSpPr>
        <p:spPr>
          <a:xfrm>
            <a:off x="964348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44E2B19-AAB1-CD8B-601D-53A39BB3D382}"/>
              </a:ext>
            </a:extLst>
          </p:cNvPr>
          <p:cNvSpPr txBox="1"/>
          <p:nvPr/>
        </p:nvSpPr>
        <p:spPr>
          <a:xfrm>
            <a:off x="9876616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自我评价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3BB2A95E-7F87-B8FD-145D-5B20F16D705E}"/>
              </a:ext>
            </a:extLst>
          </p:cNvPr>
          <p:cNvCxnSpPr>
            <a:cxnSpLocks/>
          </p:cNvCxnSpPr>
          <p:nvPr/>
        </p:nvCxnSpPr>
        <p:spPr>
          <a:xfrm>
            <a:off x="5553656" y="781088"/>
            <a:ext cx="1519415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1D8D93A-DB39-A249-D99C-E86B02409DBE}"/>
              </a:ext>
            </a:extLst>
          </p:cNvPr>
          <p:cNvSpPr txBox="1"/>
          <p:nvPr/>
        </p:nvSpPr>
        <p:spPr>
          <a:xfrm>
            <a:off x="1143595" y="6197128"/>
            <a:ext cx="9904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项目二：</a:t>
            </a:r>
            <a:r>
              <a:rPr kumimoji="1" lang="zh-CN" altLang="zh-CN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考虑驾驶个性化的自动驾驶决策与轨迹规划</a:t>
            </a:r>
          </a:p>
        </p:txBody>
      </p:sp>
      <p:pic>
        <p:nvPicPr>
          <p:cNvPr id="99" name="图片 98">
            <a:extLst>
              <a:ext uri="{FF2B5EF4-FFF2-40B4-BE49-F238E27FC236}">
                <a16:creationId xmlns:a16="http://schemas.microsoft.com/office/drawing/2014/main" id="{EB6BE606-EC2C-A0BE-98BD-3172C9851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810" y="988457"/>
            <a:ext cx="6371167" cy="505648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0" name="文本框 99">
            <a:extLst>
              <a:ext uri="{FF2B5EF4-FFF2-40B4-BE49-F238E27FC236}">
                <a16:creationId xmlns:a16="http://schemas.microsoft.com/office/drawing/2014/main" id="{E0713713-901F-C54A-1CD8-D44FA31419A4}"/>
              </a:ext>
            </a:extLst>
          </p:cNvPr>
          <p:cNvSpPr txBox="1"/>
          <p:nvPr/>
        </p:nvSpPr>
        <p:spPr>
          <a:xfrm>
            <a:off x="269763" y="1118504"/>
            <a:ext cx="159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项目简介</a:t>
            </a:r>
          </a:p>
        </p:txBody>
      </p: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0BD7EC9B-1667-3715-D73F-0ECD106D65DA}"/>
              </a:ext>
            </a:extLst>
          </p:cNvPr>
          <p:cNvCxnSpPr>
            <a:cxnSpLocks/>
          </p:cNvCxnSpPr>
          <p:nvPr/>
        </p:nvCxnSpPr>
        <p:spPr>
          <a:xfrm>
            <a:off x="485422" y="1641965"/>
            <a:ext cx="580208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3482690-5236-6460-98A4-1190D9FC3B25}"/>
              </a:ext>
            </a:extLst>
          </p:cNvPr>
          <p:cNvSpPr txBox="1"/>
          <p:nvPr/>
        </p:nvSpPr>
        <p:spPr>
          <a:xfrm>
            <a:off x="269763" y="3016977"/>
            <a:ext cx="159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核心目标</a:t>
            </a:r>
          </a:p>
        </p:txBody>
      </p: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D9607905-2BB6-B1A0-4D77-42D4F27640B7}"/>
              </a:ext>
            </a:extLst>
          </p:cNvPr>
          <p:cNvCxnSpPr>
            <a:cxnSpLocks/>
          </p:cNvCxnSpPr>
          <p:nvPr/>
        </p:nvCxnSpPr>
        <p:spPr>
          <a:xfrm>
            <a:off x="485422" y="3540438"/>
            <a:ext cx="580208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B166C1D-5513-13CE-CE5A-5C220B24120E}"/>
              </a:ext>
            </a:extLst>
          </p:cNvPr>
          <p:cNvSpPr txBox="1"/>
          <p:nvPr/>
        </p:nvSpPr>
        <p:spPr>
          <a:xfrm>
            <a:off x="158044" y="4843247"/>
            <a:ext cx="159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技术栈</a:t>
            </a:r>
          </a:p>
        </p:txBody>
      </p: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3975EDC8-2951-912B-DC26-9922B727A9D9}"/>
              </a:ext>
            </a:extLst>
          </p:cNvPr>
          <p:cNvCxnSpPr>
            <a:cxnSpLocks/>
          </p:cNvCxnSpPr>
          <p:nvPr/>
        </p:nvCxnSpPr>
        <p:spPr>
          <a:xfrm>
            <a:off x="485422" y="5366708"/>
            <a:ext cx="580208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05555C45-D2B7-8668-A745-A51EACD5487E}"/>
              </a:ext>
            </a:extLst>
          </p:cNvPr>
          <p:cNvSpPr txBox="1"/>
          <p:nvPr/>
        </p:nvSpPr>
        <p:spPr>
          <a:xfrm>
            <a:off x="312799" y="5483209"/>
            <a:ext cx="4733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kern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/ IDM / GMM / FSM / PACC </a:t>
            </a:r>
            <a:endParaRPr lang="zh-CN" altLang="zh-CN" sz="2000" kern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2BB80CF1-1FAC-8162-6103-B93581BC0631}"/>
              </a:ext>
            </a:extLst>
          </p:cNvPr>
          <p:cNvSpPr txBox="1"/>
          <p:nvPr/>
        </p:nvSpPr>
        <p:spPr>
          <a:xfrm>
            <a:off x="312798" y="1800017"/>
            <a:ext cx="51500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面向多车交互场景下自动驾驶决策保守、轨迹单一的问题，构建风格感知的决策规划一体化框架。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7AED0C8-77E2-F7AF-D9B9-A8130D211FCB}"/>
              </a:ext>
            </a:extLst>
          </p:cNvPr>
          <p:cNvSpPr txBox="1"/>
          <p:nvPr/>
        </p:nvSpPr>
        <p:spPr>
          <a:xfrm>
            <a:off x="312798" y="3668562"/>
            <a:ext cx="51500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从数据中识别激进</a:t>
            </a:r>
            <a:r>
              <a:rPr lang="en-US" altLang="zh-CN" dirty="0"/>
              <a:t>/</a:t>
            </a:r>
            <a:r>
              <a:rPr lang="zh-CN" altLang="en-US" dirty="0"/>
              <a:t>保守</a:t>
            </a:r>
            <a:r>
              <a:rPr lang="en-US" altLang="zh-CN" dirty="0"/>
              <a:t>/</a:t>
            </a:r>
            <a:r>
              <a:rPr lang="zh-CN" altLang="en-US" dirty="0"/>
              <a:t>谨慎三类驾驶风格，并在进行二维风险评估之后，实现不同驾驶风格的行为决策与轨迹规划。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73182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3BD66-4E49-84B8-6254-8B0C69C8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E08504A-4D11-5E50-F166-40BB39146BF7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9809C6-4C69-BD8B-3C5E-FF34F9A36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ACD2768-D2A8-3CE0-FB5B-31B8CE27BA49}"/>
              </a:ext>
            </a:extLst>
          </p:cNvPr>
          <p:cNvSpPr/>
          <p:nvPr/>
        </p:nvSpPr>
        <p:spPr>
          <a:xfrm>
            <a:off x="0" y="6121034"/>
            <a:ext cx="12192000" cy="73696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43719E-F186-E367-E603-E339C750FC0E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AD6D024-90C3-A73A-AA81-D9ABD0EBBB48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69094C0-F6D6-1226-A114-DB8C069458F8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项目经历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CAD7B6C4-9D48-388F-4AE0-58E3EA8E0361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2153947-D3D8-E2BD-E5B1-AF5C4DC4FCF7}"/>
              </a:ext>
            </a:extLst>
          </p:cNvPr>
          <p:cNvSpPr txBox="1"/>
          <p:nvPr/>
        </p:nvSpPr>
        <p:spPr>
          <a:xfrm>
            <a:off x="7621609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实习经历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5981855-C7B5-11D8-E7AA-B2EA1DFE0C65}"/>
              </a:ext>
            </a:extLst>
          </p:cNvPr>
          <p:cNvCxnSpPr>
            <a:cxnSpLocks/>
          </p:cNvCxnSpPr>
          <p:nvPr/>
        </p:nvCxnSpPr>
        <p:spPr>
          <a:xfrm>
            <a:off x="964348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483DB3C-8BF1-4EC1-E721-F31045CAC2CF}"/>
              </a:ext>
            </a:extLst>
          </p:cNvPr>
          <p:cNvSpPr txBox="1"/>
          <p:nvPr/>
        </p:nvSpPr>
        <p:spPr>
          <a:xfrm>
            <a:off x="9876616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自我评价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58ACA3E-EDDB-B269-4CA5-22F886F5D161}"/>
              </a:ext>
            </a:extLst>
          </p:cNvPr>
          <p:cNvCxnSpPr>
            <a:cxnSpLocks/>
          </p:cNvCxnSpPr>
          <p:nvPr/>
        </p:nvCxnSpPr>
        <p:spPr>
          <a:xfrm>
            <a:off x="5553656" y="781088"/>
            <a:ext cx="1519415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76C9123-DD36-244C-AFD1-740EB4260D64}"/>
              </a:ext>
            </a:extLst>
          </p:cNvPr>
          <p:cNvSpPr txBox="1"/>
          <p:nvPr/>
        </p:nvSpPr>
        <p:spPr>
          <a:xfrm>
            <a:off x="1143595" y="6197128"/>
            <a:ext cx="9904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项目二：</a:t>
            </a:r>
            <a:r>
              <a:rPr kumimoji="1" lang="zh-CN" altLang="zh-CN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考虑驾驶个性化的自动驾驶决策与轨迹规划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DBF67D-2898-0A8A-DC4F-1CB9C2B16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312" y="1117407"/>
            <a:ext cx="7991375" cy="37944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2D408DB-E8D2-3F67-862B-907222B0E764}"/>
              </a:ext>
            </a:extLst>
          </p:cNvPr>
          <p:cNvSpPr txBox="1"/>
          <p:nvPr/>
        </p:nvSpPr>
        <p:spPr>
          <a:xfrm>
            <a:off x="1428682" y="5227430"/>
            <a:ext cx="94373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zh-CN" altLang="en-US" sz="2000" kern="1200" dirty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在变道行为中，不同驾驶风格会产生不同的换道起始时间，并且换道持续时间有明显区别。激进驾驶员会在短时间内完成换道，谨慎驾驶员的轨迹会更平缓。</a:t>
            </a:r>
            <a:endParaRPr lang="zh-CN" altLang="zh-CN" sz="20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FABE0F4-A289-A43D-4D32-566B3872977A}"/>
              </a:ext>
            </a:extLst>
          </p:cNvPr>
          <p:cNvSpPr/>
          <p:nvPr/>
        </p:nvSpPr>
        <p:spPr>
          <a:xfrm>
            <a:off x="1143595" y="5165525"/>
            <a:ext cx="9911645" cy="831697"/>
          </a:xfrm>
          <a:prstGeom prst="roundRect">
            <a:avLst/>
          </a:prstGeom>
          <a:noFill/>
          <a:ln>
            <a:solidFill>
              <a:srgbClr val="00409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596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A61C3-5B98-E061-5DA2-D81393B61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5537EB4F-5913-AE39-D68E-B3574D7AAC91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C582D9-AE85-28BB-8918-D3066D01D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940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152256-62A3-041B-D2B8-A77A2377A0BE}"/>
              </a:ext>
            </a:extLst>
          </p:cNvPr>
          <p:cNvSpPr/>
          <p:nvPr/>
        </p:nvSpPr>
        <p:spPr>
          <a:xfrm>
            <a:off x="0" y="5813778"/>
            <a:ext cx="12192000" cy="1044222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59A899B-7CCD-5FB1-D665-C49EE14441F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89209" y="72751"/>
            <a:ext cx="2376667" cy="73451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09DAB57-97E0-B418-6B24-0867BBBE5083}"/>
              </a:ext>
            </a:extLst>
          </p:cNvPr>
          <p:cNvSpPr txBox="1"/>
          <p:nvPr/>
        </p:nvSpPr>
        <p:spPr>
          <a:xfrm>
            <a:off x="-672929" y="2251128"/>
            <a:ext cx="3821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kumimoji="1" lang="zh-CN" altLang="en-US" sz="9600" b="1" dirty="0">
              <a:solidFill>
                <a:srgbClr val="0040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4D83C2-49C7-488D-14AF-0D5A1038AA94}"/>
              </a:ext>
            </a:extLst>
          </p:cNvPr>
          <p:cNvSpPr txBox="1"/>
          <p:nvPr/>
        </p:nvSpPr>
        <p:spPr>
          <a:xfrm>
            <a:off x="1237993" y="2251128"/>
            <a:ext cx="6642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7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实习经历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DDF65DE-2E5D-85B7-B243-27D07BCE5BB3}"/>
              </a:ext>
            </a:extLst>
          </p:cNvPr>
          <p:cNvSpPr txBox="1"/>
          <p:nvPr/>
        </p:nvSpPr>
        <p:spPr>
          <a:xfrm>
            <a:off x="1738813" y="3404235"/>
            <a:ext cx="6642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Internship</a:t>
            </a:r>
            <a:r>
              <a:rPr kumimoji="1" lang="zh-CN" altLang="en-US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Experience</a:t>
            </a:r>
            <a:endParaRPr kumimoji="1" lang="zh-CN" altLang="en-US" sz="4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B70BAD2C-D63E-66E2-235C-5CB6F964F85D}"/>
              </a:ext>
            </a:extLst>
          </p:cNvPr>
          <p:cNvCxnSpPr>
            <a:cxnSpLocks/>
          </p:cNvCxnSpPr>
          <p:nvPr/>
        </p:nvCxnSpPr>
        <p:spPr>
          <a:xfrm>
            <a:off x="2188086" y="2557849"/>
            <a:ext cx="0" cy="871151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492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766F-36CF-052D-25ED-3BABD561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4DA4690-0049-440A-87A0-6EC49DDFC211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9DE5FB-8F76-87CB-8007-1552B324F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2C8F42D-F398-79A0-85E2-4191BF4B2D9C}"/>
              </a:ext>
            </a:extLst>
          </p:cNvPr>
          <p:cNvSpPr/>
          <p:nvPr/>
        </p:nvSpPr>
        <p:spPr>
          <a:xfrm>
            <a:off x="2236423" y="6121034"/>
            <a:ext cx="9955575" cy="73696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8BFEDB-2116-3136-C34C-2AB6EDE75D6E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9EE1459-D341-3256-16D8-6F7090175EF9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BBF10A4-67C3-5564-4751-75B8ABCAB6F5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项目经历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6A8732CC-56E8-4B7E-C2C7-D1FF133034E7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F02FCCF-77F1-E3C7-6171-87C203770798}"/>
              </a:ext>
            </a:extLst>
          </p:cNvPr>
          <p:cNvSpPr txBox="1"/>
          <p:nvPr/>
        </p:nvSpPr>
        <p:spPr>
          <a:xfrm>
            <a:off x="7621609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 b="1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实习经历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E02E57C7-4C92-C19E-B713-CEF21BAEEF5C}"/>
              </a:ext>
            </a:extLst>
          </p:cNvPr>
          <p:cNvCxnSpPr>
            <a:cxnSpLocks/>
          </p:cNvCxnSpPr>
          <p:nvPr/>
        </p:nvCxnSpPr>
        <p:spPr>
          <a:xfrm>
            <a:off x="964348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B01F08C-AF28-8CCD-2521-3413E0F5C0B3}"/>
              </a:ext>
            </a:extLst>
          </p:cNvPr>
          <p:cNvSpPr txBox="1"/>
          <p:nvPr/>
        </p:nvSpPr>
        <p:spPr>
          <a:xfrm>
            <a:off x="9876616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自我评价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E9FAA3B-71D0-C94E-C5AB-013CF7C75276}"/>
              </a:ext>
            </a:extLst>
          </p:cNvPr>
          <p:cNvCxnSpPr>
            <a:cxnSpLocks/>
          </p:cNvCxnSpPr>
          <p:nvPr/>
        </p:nvCxnSpPr>
        <p:spPr>
          <a:xfrm>
            <a:off x="7743701" y="781088"/>
            <a:ext cx="1519415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7516CBB-2F0C-9BB4-57F0-C94FE537326B}"/>
              </a:ext>
            </a:extLst>
          </p:cNvPr>
          <p:cNvSpPr txBox="1"/>
          <p:nvPr/>
        </p:nvSpPr>
        <p:spPr>
          <a:xfrm>
            <a:off x="2731449" y="6197128"/>
            <a:ext cx="9331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zh-CN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全局路线可解释性优化与路线安全性校验优化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A4D2AB-CB38-7945-D3BC-76D06180B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57" y="6239610"/>
            <a:ext cx="1553908" cy="499809"/>
          </a:xfrm>
          <a:prstGeom prst="rect">
            <a:avLst/>
          </a:prstGeom>
        </p:spPr>
      </p:pic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90A3251-9FF8-AF6B-3B1F-7E05B1418B9E}"/>
              </a:ext>
            </a:extLst>
          </p:cNvPr>
          <p:cNvCxnSpPr>
            <a:cxnSpLocks/>
          </p:cNvCxnSpPr>
          <p:nvPr/>
        </p:nvCxnSpPr>
        <p:spPr>
          <a:xfrm flipH="1">
            <a:off x="0" y="6117391"/>
            <a:ext cx="2236423" cy="0"/>
          </a:xfrm>
          <a:prstGeom prst="line">
            <a:avLst/>
          </a:prstGeom>
          <a:ln w="19050">
            <a:solidFill>
              <a:srgbClr val="004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59C59662-8B68-1A21-7239-568A671EA469}"/>
              </a:ext>
            </a:extLst>
          </p:cNvPr>
          <p:cNvCxnSpPr>
            <a:cxnSpLocks/>
          </p:cNvCxnSpPr>
          <p:nvPr/>
        </p:nvCxnSpPr>
        <p:spPr>
          <a:xfrm flipH="1">
            <a:off x="0" y="6856486"/>
            <a:ext cx="2236423" cy="0"/>
          </a:xfrm>
          <a:prstGeom prst="line">
            <a:avLst/>
          </a:prstGeom>
          <a:ln w="19050">
            <a:solidFill>
              <a:srgbClr val="004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9F15933-E5E0-CC73-CB82-E2C568CA9777}"/>
              </a:ext>
            </a:extLst>
          </p:cNvPr>
          <p:cNvSpPr txBox="1"/>
          <p:nvPr/>
        </p:nvSpPr>
        <p:spPr>
          <a:xfrm>
            <a:off x="269763" y="985255"/>
            <a:ext cx="159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项目简介</a:t>
            </a: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8552EB7C-55FD-6492-368F-BEA70D6770D6}"/>
              </a:ext>
            </a:extLst>
          </p:cNvPr>
          <p:cNvCxnSpPr>
            <a:cxnSpLocks/>
          </p:cNvCxnSpPr>
          <p:nvPr/>
        </p:nvCxnSpPr>
        <p:spPr>
          <a:xfrm>
            <a:off x="485422" y="1508716"/>
            <a:ext cx="580208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3C87FF7-7FCC-6DB5-0EDC-0157D313D5BB}"/>
              </a:ext>
            </a:extLst>
          </p:cNvPr>
          <p:cNvSpPr txBox="1"/>
          <p:nvPr/>
        </p:nvSpPr>
        <p:spPr>
          <a:xfrm>
            <a:off x="269763" y="2249224"/>
            <a:ext cx="159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核心目标</a:t>
            </a:r>
          </a:p>
        </p:txBody>
      </p: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DB33C982-18F1-7D3F-14E5-CDD5586F7963}"/>
              </a:ext>
            </a:extLst>
          </p:cNvPr>
          <p:cNvCxnSpPr>
            <a:cxnSpLocks/>
          </p:cNvCxnSpPr>
          <p:nvPr/>
        </p:nvCxnSpPr>
        <p:spPr>
          <a:xfrm>
            <a:off x="485422" y="2772685"/>
            <a:ext cx="580208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A0BAF57-B08F-1D09-F915-743B837D9C0E}"/>
              </a:ext>
            </a:extLst>
          </p:cNvPr>
          <p:cNvSpPr txBox="1"/>
          <p:nvPr/>
        </p:nvSpPr>
        <p:spPr>
          <a:xfrm>
            <a:off x="312798" y="1583806"/>
            <a:ext cx="113525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滴滴出行 </a:t>
            </a:r>
            <a:r>
              <a:rPr lang="en-US" altLang="zh-CN" dirty="0"/>
              <a:t>Robotaxi</a:t>
            </a:r>
            <a:r>
              <a:rPr lang="zh-CN" altLang="en-US" dirty="0"/>
              <a:t> 运营过程中进行问题反馈，比如换道决策晚、关键路口个数识别出错等，项目组针对每个问题进行排查与算法逻辑修复。</a:t>
            </a:r>
            <a:endParaRPr lang="zh-CN" altLang="zh-CN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55C01B3-29FB-BF52-720D-D62C737BD5FE}"/>
              </a:ext>
            </a:extLst>
          </p:cNvPr>
          <p:cNvSpPr txBox="1"/>
          <p:nvPr/>
        </p:nvSpPr>
        <p:spPr>
          <a:xfrm>
            <a:off x="312798" y="2823099"/>
            <a:ext cx="1155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从项目代码中提取原算法逻辑（例如换道次数获取与传播、实线距离获取等），探究漏洞并重构算法。在仿真平台利用真实运营场景进行复现，最后代码上线并投入使用。</a:t>
            </a:r>
            <a:endParaRPr lang="zh-CN" altLang="zh-CN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3BD6C36-AE32-C912-09DE-22D5BFC5C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94" y="4608112"/>
            <a:ext cx="5121197" cy="13601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4023F3A-7816-AFE0-7C1F-FED81F3AB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727" y="4621067"/>
            <a:ext cx="5121197" cy="13472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951CAD65-DECC-38B4-C6DC-FE5A7ECBAB46}"/>
              </a:ext>
            </a:extLst>
          </p:cNvPr>
          <p:cNvSpPr txBox="1"/>
          <p:nvPr/>
        </p:nvSpPr>
        <p:spPr>
          <a:xfrm>
            <a:off x="269763" y="3523464"/>
            <a:ext cx="159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典型场景</a:t>
            </a:r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31296D08-81BF-F692-20C4-ACC62A6717C9}"/>
              </a:ext>
            </a:extLst>
          </p:cNvPr>
          <p:cNvCxnSpPr>
            <a:cxnSpLocks/>
          </p:cNvCxnSpPr>
          <p:nvPr/>
        </p:nvCxnSpPr>
        <p:spPr>
          <a:xfrm>
            <a:off x="485422" y="4046925"/>
            <a:ext cx="580208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E080FEDB-1989-9C0B-8151-6BA347D0A2FD}"/>
              </a:ext>
            </a:extLst>
          </p:cNvPr>
          <p:cNvSpPr txBox="1"/>
          <p:nvPr/>
        </p:nvSpPr>
        <p:spPr>
          <a:xfrm>
            <a:off x="312798" y="4117452"/>
            <a:ext cx="1155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在</a:t>
            </a:r>
            <a:r>
              <a:rPr lang="en-US" altLang="zh-CN" dirty="0"/>
              <a:t> fork lane </a:t>
            </a:r>
            <a:r>
              <a:rPr lang="zh-CN" altLang="en-US" dirty="0"/>
              <a:t>场景，车辆运行过程中获取到下一个</a:t>
            </a:r>
            <a:r>
              <a:rPr lang="en-US" altLang="zh-CN" dirty="0"/>
              <a:t> key section </a:t>
            </a:r>
            <a:r>
              <a:rPr lang="zh-CN" altLang="en-US" dirty="0"/>
              <a:t>的换道次数出现问题。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0671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124CD-8992-9EEE-1F5D-B834BA9C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64C52C97-BD82-0BAA-F90B-95ECE9EF0235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11DC3C-2430-7B55-AF69-42B26C821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940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6F633B-3757-1ADC-C527-708AADE1EFB7}"/>
              </a:ext>
            </a:extLst>
          </p:cNvPr>
          <p:cNvSpPr/>
          <p:nvPr/>
        </p:nvSpPr>
        <p:spPr>
          <a:xfrm>
            <a:off x="0" y="5813778"/>
            <a:ext cx="12192000" cy="1044222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057365E-92F6-AC24-B262-2B39E3BBDCE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89209" y="72751"/>
            <a:ext cx="2376667" cy="73451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F7DD5BBE-DBCB-DC01-12CE-E899D875F004}"/>
              </a:ext>
            </a:extLst>
          </p:cNvPr>
          <p:cNvSpPr txBox="1"/>
          <p:nvPr/>
        </p:nvSpPr>
        <p:spPr>
          <a:xfrm>
            <a:off x="-672929" y="2251128"/>
            <a:ext cx="3821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kumimoji="1" lang="zh-CN" altLang="en-US" sz="9600" b="1" dirty="0">
              <a:solidFill>
                <a:srgbClr val="0040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8B5AEC3-E040-FA73-2AC9-E1332E46A455}"/>
              </a:ext>
            </a:extLst>
          </p:cNvPr>
          <p:cNvSpPr txBox="1"/>
          <p:nvPr/>
        </p:nvSpPr>
        <p:spPr>
          <a:xfrm>
            <a:off x="1237993" y="2251128"/>
            <a:ext cx="6642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7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自我评价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CFE0563-31EB-CBC1-9CC7-173F93679114}"/>
              </a:ext>
            </a:extLst>
          </p:cNvPr>
          <p:cNvSpPr txBox="1"/>
          <p:nvPr/>
        </p:nvSpPr>
        <p:spPr>
          <a:xfrm>
            <a:off x="1145689" y="3404235"/>
            <a:ext cx="6642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Self</a:t>
            </a:r>
            <a:r>
              <a:rPr kumimoji="1" lang="zh-CN" altLang="en-US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4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Evaluation</a:t>
            </a:r>
            <a:endParaRPr kumimoji="1" lang="zh-CN" altLang="en-US" sz="4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403E762E-DF06-125F-87CB-97648C9A4C7C}"/>
              </a:ext>
            </a:extLst>
          </p:cNvPr>
          <p:cNvCxnSpPr>
            <a:cxnSpLocks/>
          </p:cNvCxnSpPr>
          <p:nvPr/>
        </p:nvCxnSpPr>
        <p:spPr>
          <a:xfrm>
            <a:off x="2188086" y="2557849"/>
            <a:ext cx="0" cy="871151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74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62D7-179E-DC84-BCFA-0D261325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圆角矩形 37">
            <a:extLst>
              <a:ext uri="{FF2B5EF4-FFF2-40B4-BE49-F238E27FC236}">
                <a16:creationId xmlns:a16="http://schemas.microsoft.com/office/drawing/2014/main" id="{9EA9D7E3-2FCB-34AC-3B85-0AAD773E6746}"/>
              </a:ext>
            </a:extLst>
          </p:cNvPr>
          <p:cNvSpPr/>
          <p:nvPr/>
        </p:nvSpPr>
        <p:spPr>
          <a:xfrm>
            <a:off x="4504480" y="3292954"/>
            <a:ext cx="3183038" cy="2640002"/>
          </a:xfrm>
          <a:prstGeom prst="roundRect">
            <a:avLst>
              <a:gd name="adj" fmla="val 6871"/>
            </a:avLst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4099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120CA256-EDC9-4EB4-C1C4-43F3D053D820}"/>
              </a:ext>
            </a:extLst>
          </p:cNvPr>
          <p:cNvSpPr/>
          <p:nvPr/>
        </p:nvSpPr>
        <p:spPr>
          <a:xfrm>
            <a:off x="8082986" y="3292954"/>
            <a:ext cx="3831780" cy="2640002"/>
          </a:xfrm>
          <a:prstGeom prst="roundRect">
            <a:avLst>
              <a:gd name="adj" fmla="val 6871"/>
            </a:avLst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4099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F7B67E9F-8F17-5C71-052A-1E016CEB7426}"/>
              </a:ext>
            </a:extLst>
          </p:cNvPr>
          <p:cNvSpPr/>
          <p:nvPr/>
        </p:nvSpPr>
        <p:spPr>
          <a:xfrm>
            <a:off x="336719" y="3292954"/>
            <a:ext cx="3772293" cy="2640002"/>
          </a:xfrm>
          <a:prstGeom prst="roundRect">
            <a:avLst>
              <a:gd name="adj" fmla="val 6871"/>
            </a:avLst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4099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61A702-B065-8494-F8E1-4CF329DDB269}"/>
              </a:ext>
            </a:extLst>
          </p:cNvPr>
          <p:cNvSpPr/>
          <p:nvPr/>
        </p:nvSpPr>
        <p:spPr>
          <a:xfrm>
            <a:off x="3047531" y="1265309"/>
            <a:ext cx="6096936" cy="736965"/>
          </a:xfrm>
          <a:prstGeom prst="rect">
            <a:avLst/>
          </a:prstGeom>
          <a:noFill/>
          <a:ln w="190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2000">
                  <a:srgbClr val="004099"/>
                </a:gs>
                <a:gs pos="46000">
                  <a:srgbClr val="004099"/>
                </a:gs>
                <a:gs pos="100000">
                  <a:schemeClr val="bg1"/>
                </a:gs>
              </a:gsLst>
              <a:lin ang="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BC4A0B-D599-8B9C-8559-2A50EECE446E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788895-E0B2-5F68-6636-56DD9BA4D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" y="78059"/>
            <a:ext cx="2679700" cy="7239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9CAB41E-78BD-CD25-C613-738D24DAF8F7}"/>
              </a:ext>
            </a:extLst>
          </p:cNvPr>
          <p:cNvSpPr txBox="1"/>
          <p:nvPr/>
        </p:nvSpPr>
        <p:spPr>
          <a:xfrm>
            <a:off x="3351788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1B8B4412-5F5C-103F-C04D-FC92CFC7C7EA}"/>
              </a:ext>
            </a:extLst>
          </p:cNvPr>
          <p:cNvCxnSpPr>
            <a:cxnSpLocks/>
          </p:cNvCxnSpPr>
          <p:nvPr/>
        </p:nvCxnSpPr>
        <p:spPr>
          <a:xfrm>
            <a:off x="5285970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F56DA06-A872-12CB-C928-FA18FCB663F7}"/>
              </a:ext>
            </a:extLst>
          </p:cNvPr>
          <p:cNvSpPr txBox="1"/>
          <p:nvPr/>
        </p:nvSpPr>
        <p:spPr>
          <a:xfrm>
            <a:off x="5462810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项目经历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BD0B6E68-3BDA-2917-CC94-6B99D6C5B28A}"/>
              </a:ext>
            </a:extLst>
          </p:cNvPr>
          <p:cNvCxnSpPr>
            <a:cxnSpLocks/>
          </p:cNvCxnSpPr>
          <p:nvPr/>
        </p:nvCxnSpPr>
        <p:spPr>
          <a:xfrm>
            <a:off x="739699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6178F5C-7306-5F43-103A-B38DF519E60D}"/>
              </a:ext>
            </a:extLst>
          </p:cNvPr>
          <p:cNvSpPr txBox="1"/>
          <p:nvPr/>
        </p:nvSpPr>
        <p:spPr>
          <a:xfrm>
            <a:off x="7621609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实习经历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BFC8649-A1A8-FA0F-CCE2-B9CDCC592F23}"/>
              </a:ext>
            </a:extLst>
          </p:cNvPr>
          <p:cNvCxnSpPr>
            <a:cxnSpLocks/>
          </p:cNvCxnSpPr>
          <p:nvPr/>
        </p:nvCxnSpPr>
        <p:spPr>
          <a:xfrm>
            <a:off x="9643482" y="181340"/>
            <a:ext cx="0" cy="520278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5814780-0C5D-9DB6-7429-061F36FA5B7B}"/>
              </a:ext>
            </a:extLst>
          </p:cNvPr>
          <p:cNvSpPr txBox="1"/>
          <p:nvPr/>
        </p:nvSpPr>
        <p:spPr>
          <a:xfrm>
            <a:off x="9876616" y="178398"/>
            <a:ext cx="1788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 b="1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自我评价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1ABD9A95-FE80-8A09-34EE-F8575FFD94DA}"/>
              </a:ext>
            </a:extLst>
          </p:cNvPr>
          <p:cNvCxnSpPr>
            <a:cxnSpLocks/>
          </p:cNvCxnSpPr>
          <p:nvPr/>
        </p:nvCxnSpPr>
        <p:spPr>
          <a:xfrm>
            <a:off x="10001834" y="781088"/>
            <a:ext cx="1519415" cy="0"/>
          </a:xfrm>
          <a:prstGeom prst="line">
            <a:avLst/>
          </a:prstGeom>
          <a:ln w="31750">
            <a:solidFill>
              <a:srgbClr val="0040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78C9745-260B-69B1-0C04-064520A2ED9C}"/>
              </a:ext>
            </a:extLst>
          </p:cNvPr>
          <p:cNvSpPr txBox="1"/>
          <p:nvPr/>
        </p:nvSpPr>
        <p:spPr>
          <a:xfrm>
            <a:off x="4310774" y="1372182"/>
            <a:ext cx="357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我的优势与待提升点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7AF2C0-CD8F-B9A6-2A7A-751227E6E026}"/>
              </a:ext>
            </a:extLst>
          </p:cNvPr>
          <p:cNvSpPr txBox="1"/>
          <p:nvPr/>
        </p:nvSpPr>
        <p:spPr>
          <a:xfrm>
            <a:off x="2625987" y="2366284"/>
            <a:ext cx="69400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</a:rPr>
              <a:t>基础扎实、善于协作、主动学习新知识与拓展广度</a:t>
            </a:r>
            <a:endParaRPr lang="zh-CN" altLang="zh-CN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63530B-CD4D-356B-2653-6F092DDA50F8}"/>
              </a:ext>
            </a:extLst>
          </p:cNvPr>
          <p:cNvSpPr/>
          <p:nvPr/>
        </p:nvSpPr>
        <p:spPr>
          <a:xfrm>
            <a:off x="588627" y="3039959"/>
            <a:ext cx="3141672" cy="47372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6C5AE5-8E9B-A5D5-DE7D-D6295084A3D4}"/>
              </a:ext>
            </a:extLst>
          </p:cNvPr>
          <p:cNvSpPr txBox="1"/>
          <p:nvPr/>
        </p:nvSpPr>
        <p:spPr>
          <a:xfrm>
            <a:off x="1407932" y="3061377"/>
            <a:ext cx="16270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我的优势</a:t>
            </a:r>
            <a:endParaRPr lang="zh-CN" altLang="zh-CN" sz="2200" dirty="0">
              <a:solidFill>
                <a:schemeClr val="bg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63CA71-3590-2D0F-4517-39C6421043C6}"/>
              </a:ext>
            </a:extLst>
          </p:cNvPr>
          <p:cNvSpPr/>
          <p:nvPr/>
        </p:nvSpPr>
        <p:spPr>
          <a:xfrm>
            <a:off x="4800281" y="3039959"/>
            <a:ext cx="2650924" cy="47372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E3E7682-A31C-104D-425B-491B995976D7}"/>
              </a:ext>
            </a:extLst>
          </p:cNvPr>
          <p:cNvSpPr txBox="1"/>
          <p:nvPr/>
        </p:nvSpPr>
        <p:spPr>
          <a:xfrm>
            <a:off x="5312235" y="3061377"/>
            <a:ext cx="16270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待提升点</a:t>
            </a:r>
            <a:endParaRPr lang="zh-CN" altLang="zh-CN" sz="2200" dirty="0">
              <a:solidFill>
                <a:schemeClr val="bg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0A603B-5922-8202-2EFD-330F44AAE0CD}"/>
              </a:ext>
            </a:extLst>
          </p:cNvPr>
          <p:cNvSpPr/>
          <p:nvPr/>
        </p:nvSpPr>
        <p:spPr>
          <a:xfrm>
            <a:off x="8457494" y="3039959"/>
            <a:ext cx="3191215" cy="473725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37B8EC8-5C29-53E1-CD6A-98210647682A}"/>
              </a:ext>
            </a:extLst>
          </p:cNvPr>
          <p:cNvSpPr txBox="1"/>
          <p:nvPr/>
        </p:nvSpPr>
        <p:spPr>
          <a:xfrm>
            <a:off x="9045434" y="3061376"/>
            <a:ext cx="20153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algn="ctr"/>
            <a:r>
              <a:rPr lang="zh-CN" altLang="en-US" sz="2200" dirty="0">
                <a:solidFill>
                  <a:schemeClr val="bg1"/>
                </a:solidFill>
              </a:rPr>
              <a:t>岗位能力要求</a:t>
            </a:r>
            <a:endParaRPr lang="zh-CN" altLang="zh-CN" sz="2200" dirty="0">
              <a:solidFill>
                <a:schemeClr val="bg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56018BD-CD60-C85D-884D-83098E49F83D}"/>
              </a:ext>
            </a:extLst>
          </p:cNvPr>
          <p:cNvSpPr txBox="1"/>
          <p:nvPr/>
        </p:nvSpPr>
        <p:spPr>
          <a:xfrm>
            <a:off x="417983" y="3723841"/>
            <a:ext cx="3639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b="1" dirty="0">
                <a:solidFill>
                  <a:srgbClr val="004099"/>
                </a:solidFill>
              </a:rPr>
              <a:t>* 扎实基础：</a:t>
            </a:r>
            <a:r>
              <a:rPr lang="zh-CN" altLang="en-US" sz="1600" dirty="0"/>
              <a:t>深入理解自动驾驶相关知识，具备极强的学习能力与技术悟性。</a:t>
            </a:r>
            <a:endParaRPr lang="zh-CN" altLang="zh-CN" sz="16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F36A577-C1B0-8BA3-3B66-DCF410BC33E1}"/>
              </a:ext>
            </a:extLst>
          </p:cNvPr>
          <p:cNvSpPr txBox="1"/>
          <p:nvPr/>
        </p:nvSpPr>
        <p:spPr>
          <a:xfrm>
            <a:off x="417983" y="4447115"/>
            <a:ext cx="3639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b="1" dirty="0">
                <a:solidFill>
                  <a:srgbClr val="004099"/>
                </a:solidFill>
              </a:rPr>
              <a:t>* 问题解决：</a:t>
            </a:r>
            <a:r>
              <a:rPr lang="zh-CN" altLang="en-US" sz="1600" dirty="0"/>
              <a:t>面对复杂</a:t>
            </a:r>
            <a:r>
              <a:rPr lang="en-US" altLang="zh-CN" sz="1600" dirty="0"/>
              <a:t>Bug</a:t>
            </a:r>
            <a:r>
              <a:rPr lang="zh-CN" altLang="en-US" sz="1600" dirty="0"/>
              <a:t>，能迅速梳理代码体系并进行定位和攻克。</a:t>
            </a:r>
            <a:endParaRPr lang="zh-CN" altLang="zh-CN" sz="16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8054898-0F05-71BE-4E47-3ED44052E9A6}"/>
              </a:ext>
            </a:extLst>
          </p:cNvPr>
          <p:cNvSpPr txBox="1"/>
          <p:nvPr/>
        </p:nvSpPr>
        <p:spPr>
          <a:xfrm>
            <a:off x="417983" y="5151275"/>
            <a:ext cx="3639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b="1" dirty="0">
                <a:solidFill>
                  <a:srgbClr val="004099"/>
                </a:solidFill>
              </a:rPr>
              <a:t>* 团队协作：</a:t>
            </a:r>
            <a:r>
              <a:rPr lang="zh-CN" altLang="en-US" sz="1600" dirty="0"/>
              <a:t>善于沟通与知识分享，能快速融入团队，并和同事协同工作。</a:t>
            </a:r>
            <a:endParaRPr lang="zh-CN" altLang="zh-CN" sz="16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87195E6-8EBF-0907-418C-EDD7DED15E58}"/>
              </a:ext>
            </a:extLst>
          </p:cNvPr>
          <p:cNvCxnSpPr/>
          <p:nvPr/>
        </p:nvCxnSpPr>
        <p:spPr>
          <a:xfrm>
            <a:off x="417983" y="4389240"/>
            <a:ext cx="3517409" cy="0"/>
          </a:xfrm>
          <a:prstGeom prst="line">
            <a:avLst/>
          </a:prstGeom>
          <a:ln w="19050">
            <a:solidFill>
              <a:srgbClr val="004099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2A25B7E7-CAA3-2FCB-C05D-0F150A1B811D}"/>
              </a:ext>
            </a:extLst>
          </p:cNvPr>
          <p:cNvCxnSpPr/>
          <p:nvPr/>
        </p:nvCxnSpPr>
        <p:spPr>
          <a:xfrm>
            <a:off x="417983" y="5080623"/>
            <a:ext cx="3517409" cy="0"/>
          </a:xfrm>
          <a:prstGeom prst="line">
            <a:avLst/>
          </a:prstGeom>
          <a:ln w="19050">
            <a:solidFill>
              <a:srgbClr val="004099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E4BAF7D-8066-1791-F023-2CB9F3AF5DC1}"/>
              </a:ext>
            </a:extLst>
          </p:cNvPr>
          <p:cNvSpPr txBox="1"/>
          <p:nvPr/>
        </p:nvSpPr>
        <p:spPr>
          <a:xfrm>
            <a:off x="4608018" y="3723841"/>
            <a:ext cx="30795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b="1" dirty="0">
                <a:solidFill>
                  <a:srgbClr val="004099"/>
                </a:solidFill>
              </a:rPr>
              <a:t>* 技术广度：</a:t>
            </a:r>
            <a:r>
              <a:rPr lang="zh-CN" altLang="en-US" sz="1600" dirty="0"/>
              <a:t>对预测、决策、规划模块了解较多，接触感知、控制较少。要做好整体自动驾驶落地，需要对各模块都有所了解。</a:t>
            </a:r>
            <a:endParaRPr lang="zh-CN" altLang="zh-CN" sz="16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8899281-9F3C-FD80-B44D-15131EBE5413}"/>
              </a:ext>
            </a:extLst>
          </p:cNvPr>
          <p:cNvSpPr txBox="1"/>
          <p:nvPr/>
        </p:nvSpPr>
        <p:spPr>
          <a:xfrm>
            <a:off x="4608018" y="4939558"/>
            <a:ext cx="3079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b="1" dirty="0">
                <a:solidFill>
                  <a:srgbClr val="004099"/>
                </a:solidFill>
              </a:rPr>
              <a:t>* 管理经验：</a:t>
            </a:r>
            <a:r>
              <a:rPr lang="zh-CN" altLang="en-US" sz="1600" dirty="0"/>
              <a:t>缺乏大型复杂项目的统筹规划与管理经验。</a:t>
            </a:r>
            <a:endParaRPr lang="zh-CN" altLang="zh-CN" sz="1600" dirty="0"/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EAC1B315-7D2B-AE10-AFDC-18F26DD60207}"/>
              </a:ext>
            </a:extLst>
          </p:cNvPr>
          <p:cNvCxnSpPr>
            <a:cxnSpLocks/>
          </p:cNvCxnSpPr>
          <p:nvPr/>
        </p:nvCxnSpPr>
        <p:spPr>
          <a:xfrm>
            <a:off x="4608018" y="4881683"/>
            <a:ext cx="2843187" cy="0"/>
          </a:xfrm>
          <a:prstGeom prst="line">
            <a:avLst/>
          </a:prstGeom>
          <a:ln w="19050">
            <a:solidFill>
              <a:srgbClr val="004099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3F8EDCA3-C63B-4BCB-A407-1698D928A33F}"/>
              </a:ext>
            </a:extLst>
          </p:cNvPr>
          <p:cNvSpPr txBox="1"/>
          <p:nvPr/>
        </p:nvSpPr>
        <p:spPr>
          <a:xfrm>
            <a:off x="8181904" y="3723841"/>
            <a:ext cx="3639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b="1" dirty="0">
                <a:solidFill>
                  <a:srgbClr val="004099"/>
                </a:solidFill>
              </a:rPr>
              <a:t>* 对未知问题的探索：</a:t>
            </a:r>
            <a:r>
              <a:rPr lang="zh-CN" altLang="en-US" sz="1600" dirty="0"/>
              <a:t>在工作过程中应该能够发现自动驾驶的新问题并尝试解决方法。</a:t>
            </a:r>
            <a:endParaRPr lang="zh-CN" altLang="zh-CN" sz="16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69D85C2-3899-FF65-6031-71621AF61C3A}"/>
              </a:ext>
            </a:extLst>
          </p:cNvPr>
          <p:cNvSpPr txBox="1"/>
          <p:nvPr/>
        </p:nvSpPr>
        <p:spPr>
          <a:xfrm>
            <a:off x="8181904" y="4858887"/>
            <a:ext cx="3639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kern="1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b="1" dirty="0">
                <a:solidFill>
                  <a:srgbClr val="004099"/>
                </a:solidFill>
              </a:rPr>
              <a:t>* 方法落地的能力：</a:t>
            </a:r>
            <a:r>
              <a:rPr lang="zh-CN" altLang="en-US" sz="1600" dirty="0"/>
              <a:t>除了理论研究，更要有实车部署并落地执行的能力。</a:t>
            </a:r>
            <a:endParaRPr lang="zh-CN" altLang="zh-CN" sz="1600" dirty="0"/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8012B7BB-297B-94AD-B8C9-7C430B64DA5A}"/>
              </a:ext>
            </a:extLst>
          </p:cNvPr>
          <p:cNvCxnSpPr/>
          <p:nvPr/>
        </p:nvCxnSpPr>
        <p:spPr>
          <a:xfrm>
            <a:off x="8181904" y="4670109"/>
            <a:ext cx="3517409" cy="0"/>
          </a:xfrm>
          <a:prstGeom prst="line">
            <a:avLst/>
          </a:prstGeom>
          <a:ln w="19050">
            <a:solidFill>
              <a:srgbClr val="004099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D4C52636-E15A-782B-46B9-EF6506B5D329}"/>
              </a:ext>
            </a:extLst>
          </p:cNvPr>
          <p:cNvSpPr/>
          <p:nvPr/>
        </p:nvSpPr>
        <p:spPr>
          <a:xfrm>
            <a:off x="383978" y="5845216"/>
            <a:ext cx="1023956" cy="687701"/>
          </a:xfrm>
          <a:prstGeom prst="rect">
            <a:avLst/>
          </a:prstGeom>
          <a:noFill/>
          <a:ln>
            <a:solidFill>
              <a:srgbClr val="004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682B4AF-9FF0-86A1-2DFF-AAE28585E05E}"/>
              </a:ext>
            </a:extLst>
          </p:cNvPr>
          <p:cNvSpPr txBox="1"/>
          <p:nvPr/>
        </p:nvSpPr>
        <p:spPr>
          <a:xfrm>
            <a:off x="383976" y="5862785"/>
            <a:ext cx="1023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扎实基础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A573933-47EF-3CE9-F7A9-EF93E774C433}"/>
              </a:ext>
            </a:extLst>
          </p:cNvPr>
          <p:cNvSpPr/>
          <p:nvPr/>
        </p:nvSpPr>
        <p:spPr>
          <a:xfrm>
            <a:off x="1708930" y="5845216"/>
            <a:ext cx="1023956" cy="687701"/>
          </a:xfrm>
          <a:prstGeom prst="rect">
            <a:avLst/>
          </a:prstGeom>
          <a:noFill/>
          <a:ln>
            <a:solidFill>
              <a:srgbClr val="004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F65CA82-2F0B-7FC6-2D40-7C4F8EF9904F}"/>
              </a:ext>
            </a:extLst>
          </p:cNvPr>
          <p:cNvSpPr txBox="1"/>
          <p:nvPr/>
        </p:nvSpPr>
        <p:spPr>
          <a:xfrm>
            <a:off x="1708928" y="5862785"/>
            <a:ext cx="1023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问题解决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A971F2F-83FF-8FF2-EAF5-C4D5C87393EC}"/>
              </a:ext>
            </a:extLst>
          </p:cNvPr>
          <p:cNvSpPr/>
          <p:nvPr/>
        </p:nvSpPr>
        <p:spPr>
          <a:xfrm>
            <a:off x="3033887" y="5845216"/>
            <a:ext cx="1023956" cy="687701"/>
          </a:xfrm>
          <a:prstGeom prst="rect">
            <a:avLst/>
          </a:prstGeom>
          <a:noFill/>
          <a:ln>
            <a:solidFill>
              <a:srgbClr val="004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B40ED6C-0FD4-65E7-E846-00EB01BB3EEA}"/>
              </a:ext>
            </a:extLst>
          </p:cNvPr>
          <p:cNvSpPr txBox="1"/>
          <p:nvPr/>
        </p:nvSpPr>
        <p:spPr>
          <a:xfrm>
            <a:off x="3033885" y="5862785"/>
            <a:ext cx="1023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团队协作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FDAA5CE-4E9D-1309-73DD-293768E9624B}"/>
              </a:ext>
            </a:extLst>
          </p:cNvPr>
          <p:cNvSpPr/>
          <p:nvPr/>
        </p:nvSpPr>
        <p:spPr>
          <a:xfrm>
            <a:off x="4902644" y="5845216"/>
            <a:ext cx="1023956" cy="687701"/>
          </a:xfrm>
          <a:prstGeom prst="rect">
            <a:avLst/>
          </a:prstGeom>
          <a:noFill/>
          <a:ln>
            <a:solidFill>
              <a:srgbClr val="004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52B5F1F-79CE-5FFE-2EE3-C0D571D78852}"/>
              </a:ext>
            </a:extLst>
          </p:cNvPr>
          <p:cNvSpPr txBox="1"/>
          <p:nvPr/>
        </p:nvSpPr>
        <p:spPr>
          <a:xfrm>
            <a:off x="4902642" y="5862785"/>
            <a:ext cx="1023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技术广度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CE2BF59-4ECF-7412-34AD-939B7F4D545A}"/>
              </a:ext>
            </a:extLst>
          </p:cNvPr>
          <p:cNvSpPr/>
          <p:nvPr/>
        </p:nvSpPr>
        <p:spPr>
          <a:xfrm>
            <a:off x="6227596" y="5845216"/>
            <a:ext cx="1023956" cy="687701"/>
          </a:xfrm>
          <a:prstGeom prst="rect">
            <a:avLst/>
          </a:prstGeom>
          <a:noFill/>
          <a:ln>
            <a:solidFill>
              <a:srgbClr val="004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668918B-92B2-D910-1323-5A1E52537865}"/>
              </a:ext>
            </a:extLst>
          </p:cNvPr>
          <p:cNvSpPr txBox="1"/>
          <p:nvPr/>
        </p:nvSpPr>
        <p:spPr>
          <a:xfrm>
            <a:off x="6227594" y="5862785"/>
            <a:ext cx="1023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管理经验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07D8F75-2EA2-4B15-5292-E9525566BF64}"/>
              </a:ext>
            </a:extLst>
          </p:cNvPr>
          <p:cNvSpPr/>
          <p:nvPr/>
        </p:nvSpPr>
        <p:spPr>
          <a:xfrm>
            <a:off x="8768588" y="5845216"/>
            <a:ext cx="1023956" cy="687701"/>
          </a:xfrm>
          <a:prstGeom prst="rect">
            <a:avLst/>
          </a:prstGeom>
          <a:noFill/>
          <a:ln>
            <a:solidFill>
              <a:srgbClr val="004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123F662-0840-7DF5-03A8-561624E60310}"/>
              </a:ext>
            </a:extLst>
          </p:cNvPr>
          <p:cNvSpPr txBox="1"/>
          <p:nvPr/>
        </p:nvSpPr>
        <p:spPr>
          <a:xfrm>
            <a:off x="8768586" y="5862785"/>
            <a:ext cx="1023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问题探索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DAAF3AD-BB25-495C-AC5F-87421E07EC7A}"/>
              </a:ext>
            </a:extLst>
          </p:cNvPr>
          <p:cNvSpPr/>
          <p:nvPr/>
        </p:nvSpPr>
        <p:spPr>
          <a:xfrm>
            <a:off x="10093540" y="5845216"/>
            <a:ext cx="1023956" cy="687701"/>
          </a:xfrm>
          <a:prstGeom prst="rect">
            <a:avLst/>
          </a:prstGeom>
          <a:noFill/>
          <a:ln>
            <a:solidFill>
              <a:srgbClr val="004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68F89EE-9D37-1126-C417-FF7914AC9F10}"/>
              </a:ext>
            </a:extLst>
          </p:cNvPr>
          <p:cNvSpPr txBox="1"/>
          <p:nvPr/>
        </p:nvSpPr>
        <p:spPr>
          <a:xfrm>
            <a:off x="10093538" y="5862785"/>
            <a:ext cx="1023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方法落地</a:t>
            </a:r>
          </a:p>
        </p:txBody>
      </p:sp>
    </p:spTree>
    <p:extLst>
      <p:ext uri="{BB962C8B-B14F-4D97-AF65-F5344CB8AC3E}">
        <p14:creationId xmlns:p14="http://schemas.microsoft.com/office/powerpoint/2010/main" val="2350538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6A7D6-23F4-8F71-4932-17D0FC548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1001E75-4D60-FD81-3DE1-495FEDCF4273}"/>
              </a:ext>
            </a:extLst>
          </p:cNvPr>
          <p:cNvSpPr/>
          <p:nvPr/>
        </p:nvSpPr>
        <p:spPr>
          <a:xfrm>
            <a:off x="0" y="16262"/>
            <a:ext cx="12192000" cy="84749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3E46ED-7FC6-D46E-75BB-11563CCE9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940" y="78059"/>
            <a:ext cx="2679700" cy="7239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C3B7547-AC78-EB43-2075-86DA83AB503A}"/>
              </a:ext>
            </a:extLst>
          </p:cNvPr>
          <p:cNvSpPr/>
          <p:nvPr/>
        </p:nvSpPr>
        <p:spPr>
          <a:xfrm>
            <a:off x="0" y="863755"/>
            <a:ext cx="12192000" cy="5102147"/>
          </a:xfrm>
          <a:prstGeom prst="rect">
            <a:avLst/>
          </a:prstGeom>
          <a:solidFill>
            <a:srgbClr val="004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2F09B0-0C58-9894-EDEC-447939399DE6}"/>
              </a:ext>
            </a:extLst>
          </p:cNvPr>
          <p:cNvSpPr txBox="1"/>
          <p:nvPr/>
        </p:nvSpPr>
        <p:spPr>
          <a:xfrm>
            <a:off x="2241393" y="2205916"/>
            <a:ext cx="77092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谢谢！恳请批评指正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364AD3-A563-5EB0-EEB5-41538E509480}"/>
              </a:ext>
            </a:extLst>
          </p:cNvPr>
          <p:cNvSpPr txBox="1"/>
          <p:nvPr/>
        </p:nvSpPr>
        <p:spPr>
          <a:xfrm>
            <a:off x="2241394" y="3137494"/>
            <a:ext cx="7709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5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期待加入贵公司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7A82C8-59AD-B57E-62C6-2E9E15AEC991}"/>
              </a:ext>
            </a:extLst>
          </p:cNvPr>
          <p:cNvSpPr txBox="1"/>
          <p:nvPr/>
        </p:nvSpPr>
        <p:spPr>
          <a:xfrm>
            <a:off x="312233" y="4877329"/>
            <a:ext cx="2966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应聘人：宋宇杰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533999-9E1D-8BE2-1ABF-53155618E033}"/>
              </a:ext>
            </a:extLst>
          </p:cNvPr>
          <p:cNvSpPr txBox="1"/>
          <p:nvPr/>
        </p:nvSpPr>
        <p:spPr>
          <a:xfrm>
            <a:off x="3401121" y="4877329"/>
            <a:ext cx="4739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应聘岗位：自动驾驶算法工程师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C9B7580-3129-3525-4240-DF52C2DEEA04}"/>
              </a:ext>
            </a:extLst>
          </p:cNvPr>
          <p:cNvSpPr txBox="1"/>
          <p:nvPr/>
        </p:nvSpPr>
        <p:spPr>
          <a:xfrm>
            <a:off x="8263054" y="4877329"/>
            <a:ext cx="310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毕业院校：中山大学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C6CCAC-60A7-6858-4E7C-9DE1B52C39C6}"/>
              </a:ext>
            </a:extLst>
          </p:cNvPr>
          <p:cNvSpPr txBox="1"/>
          <p:nvPr/>
        </p:nvSpPr>
        <p:spPr>
          <a:xfrm>
            <a:off x="89209" y="965007"/>
            <a:ext cx="250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bg1">
                    <a:alpha val="34135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Campus-2027</a:t>
            </a:r>
            <a:endParaRPr kumimoji="1" lang="zh-CN" altLang="en-US" sz="2400" dirty="0">
              <a:solidFill>
                <a:schemeClr val="bg1">
                  <a:alpha val="34135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3EA11D-A0D8-C37A-029E-A109DA525D82}"/>
              </a:ext>
            </a:extLst>
          </p:cNvPr>
          <p:cNvSpPr txBox="1"/>
          <p:nvPr/>
        </p:nvSpPr>
        <p:spPr>
          <a:xfrm>
            <a:off x="8511789" y="965007"/>
            <a:ext cx="3591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bg1">
                    <a:alpha val="34135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Personal</a:t>
            </a:r>
            <a:r>
              <a:rPr kumimoji="1" lang="zh-CN" altLang="en-US" sz="2400" dirty="0">
                <a:solidFill>
                  <a:schemeClr val="bg1">
                    <a:alpha val="34135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400" dirty="0">
                <a:solidFill>
                  <a:schemeClr val="bg1">
                    <a:alpha val="34135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Introduction</a:t>
            </a:r>
            <a:endParaRPr kumimoji="1" lang="zh-CN" altLang="en-US" sz="2400" dirty="0">
              <a:solidFill>
                <a:schemeClr val="bg1">
                  <a:alpha val="34135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1EC066F-FEC1-5258-42C4-E608F4AAC7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6" b="8830"/>
          <a:stretch>
            <a:fillRect/>
          </a:stretch>
        </p:blipFill>
        <p:spPr>
          <a:xfrm>
            <a:off x="89209" y="72751"/>
            <a:ext cx="2376667" cy="73451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B75A208-DE0A-86D2-F194-0EE32E51E76D}"/>
              </a:ext>
            </a:extLst>
          </p:cNvPr>
          <p:cNvSpPr txBox="1"/>
          <p:nvPr/>
        </p:nvSpPr>
        <p:spPr>
          <a:xfrm>
            <a:off x="3726363" y="6210571"/>
            <a:ext cx="4739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面试日期：</a:t>
            </a:r>
            <a:r>
              <a:rPr kumimoji="1" lang="en-US" altLang="zh-CN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kumimoji="1" lang="zh-CN" altLang="en-US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kumimoji="1" lang="en-US" altLang="zh-CN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kumimoji="1" lang="zh-CN" altLang="en-US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kumimoji="1" lang="en-US" altLang="zh-CN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kumimoji="1" lang="zh-CN" altLang="en-US" sz="2400" dirty="0">
                <a:solidFill>
                  <a:srgbClr val="0040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9455451A-E5D2-32A9-3354-A70764E9B84A}"/>
              </a:ext>
            </a:extLst>
          </p:cNvPr>
          <p:cNvCxnSpPr>
            <a:cxnSpLocks/>
          </p:cNvCxnSpPr>
          <p:nvPr/>
        </p:nvCxnSpPr>
        <p:spPr>
          <a:xfrm>
            <a:off x="3231393" y="4956881"/>
            <a:ext cx="0" cy="302559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B273175-182A-C17A-A302-03128771CEA3}"/>
              </a:ext>
            </a:extLst>
          </p:cNvPr>
          <p:cNvCxnSpPr>
            <a:cxnSpLocks/>
          </p:cNvCxnSpPr>
          <p:nvPr/>
        </p:nvCxnSpPr>
        <p:spPr>
          <a:xfrm>
            <a:off x="8151212" y="4956881"/>
            <a:ext cx="0" cy="302559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029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932</Words>
  <Application>Microsoft Macintosh PowerPoint</Application>
  <PresentationFormat>宽屏</PresentationFormat>
  <Paragraphs>149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黑体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didi</dc:creator>
  <cp:lastModifiedBy>didi</cp:lastModifiedBy>
  <cp:revision>10</cp:revision>
  <dcterms:created xsi:type="dcterms:W3CDTF">2026-08-19T13:21:17Z</dcterms:created>
  <dcterms:modified xsi:type="dcterms:W3CDTF">2026-08-20T05:57:47Z</dcterms:modified>
</cp:coreProperties>
</file>